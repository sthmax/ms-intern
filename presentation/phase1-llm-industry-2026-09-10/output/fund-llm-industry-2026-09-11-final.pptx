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d2ea04c559403b" /><Relationship Type="http://schemas.openxmlformats.org/officeDocument/2006/relationships/extended-properties" Target="/docProps/app.xml" Id="R11a0c26864b54c49" /><Relationship Type="http://schemas.openxmlformats.org/officeDocument/2006/relationships/officeDocument" Target="/ppt/presentation.xml" Id="R83e6dae833284536" /></Relationships>
</file>

<file path=ppt/presentation.xml><?xml version="1.0" encoding="utf-8"?>
<p:presentation xmlns:p="http://schemas.openxmlformats.org/presentationml/2006/main">
  <p:sldMasterIdLst>
    <p:sldMasterId xmlns:r="http://schemas.openxmlformats.org/officeDocument/2006/relationships" id="2147483648" r:id="R84d2b608b9c441f1"/>
  </p:sldMasterIdLst>
  <p:notesMasterIdLst>
    <p:notesMasterId xmlns:r="http://schemas.openxmlformats.org/officeDocument/2006/relationships" r:id="Rd64f342f377c4973"/>
  </p:notesMasterIdLst>
  <p:sldIdLst>
    <p:sldId xmlns:r="http://schemas.openxmlformats.org/officeDocument/2006/relationships" id="256" r:id="Re3cf9f243ec54fd4"/>
    <p:sldId xmlns:r="http://schemas.openxmlformats.org/officeDocument/2006/relationships" id="257" r:id="R7e8fc19170e94526"/>
    <p:sldId xmlns:r="http://schemas.openxmlformats.org/officeDocument/2006/relationships" id="258" r:id="R106d3005fec34977"/>
    <p:sldId xmlns:r="http://schemas.openxmlformats.org/officeDocument/2006/relationships" id="259" r:id="R594eec5ed33644a8"/>
    <p:sldId xmlns:r="http://schemas.openxmlformats.org/officeDocument/2006/relationships" id="260" r:id="R554640a29bc24920"/>
    <p:sldId xmlns:r="http://schemas.openxmlformats.org/officeDocument/2006/relationships" id="261" r:id="Rfa305572c8484fef"/>
    <p:sldId xmlns:r="http://schemas.openxmlformats.org/officeDocument/2006/relationships" id="262" r:id="R4ccae3868bfb4571"/>
    <p:sldId xmlns:r="http://schemas.openxmlformats.org/officeDocument/2006/relationships" id="263" r:id="R2fa5cb5b95934c6a"/>
    <p:sldId xmlns:r="http://schemas.openxmlformats.org/officeDocument/2006/relationships" id="264" r:id="R57266921a48d4f22"/>
    <p:sldId xmlns:r="http://schemas.openxmlformats.org/officeDocument/2006/relationships" id="265" r:id="Re77f8ae0de834561"/>
    <p:sldId xmlns:r="http://schemas.openxmlformats.org/officeDocument/2006/relationships" id="266" r:id="R158b9c3fd49541b8"/>
    <p:sldId xmlns:r="http://schemas.openxmlformats.org/officeDocument/2006/relationships" id="267" r:id="Rdbb20b645d47482a"/>
    <p:sldId xmlns:r="http://schemas.openxmlformats.org/officeDocument/2006/relationships" id="268" r:id="Rb799ebe201244c9b"/>
    <p:sldId xmlns:r="http://schemas.openxmlformats.org/officeDocument/2006/relationships" id="269" r:id="R6165b795cdcb459f"/>
    <p:sldId xmlns:r="http://schemas.openxmlformats.org/officeDocument/2006/relationships" id="270" r:id="R60d17e93d38f436c"/>
    <p:sldId xmlns:r="http://schemas.openxmlformats.org/officeDocument/2006/relationships" id="271" r:id="Rb31ebe88f637428e"/>
    <p:sldId xmlns:r="http://schemas.openxmlformats.org/officeDocument/2006/relationships" id="272" r:id="Rf993cf6d67d240c0"/>
    <p:sldId xmlns:r="http://schemas.openxmlformats.org/officeDocument/2006/relationships" id="273" r:id="Ra14980e9228b41bf"/>
    <p:sldId xmlns:r="http://schemas.openxmlformats.org/officeDocument/2006/relationships" id="274" r:id="Rf84a1a9c74c04cad"/>
    <p:sldId xmlns:r="http://schemas.openxmlformats.org/officeDocument/2006/relationships" id="275" r:id="Raea6e3624ed741e1"/>
    <p:sldId xmlns:r="http://schemas.openxmlformats.org/officeDocument/2006/relationships" id="276" r:id="Rce0b6adcf48c43a5"/>
    <p:sldId xmlns:r="http://schemas.openxmlformats.org/officeDocument/2006/relationships" id="277" r:id="R744cb23841874999"/>
    <p:sldId xmlns:r="http://schemas.openxmlformats.org/officeDocument/2006/relationships" id="278" r:id="R3fcb62ee037a4a42"/>
    <p:sldId xmlns:r="http://schemas.openxmlformats.org/officeDocument/2006/relationships" id="279" r:id="Rf352259cc05f46a1"/>
    <p:sldId xmlns:r="http://schemas.openxmlformats.org/officeDocument/2006/relationships" id="280" r:id="Recea77408e67430c"/>
    <p:sldId xmlns:r="http://schemas.openxmlformats.org/officeDocument/2006/relationships" id="281" r:id="Rc0f5876ea5b24384"/>
    <p:sldId xmlns:r="http://schemas.openxmlformats.org/officeDocument/2006/relationships" id="282" r:id="Rb1d573fc95854e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7dcd487a07487e" /><Relationship Type="http://schemas.openxmlformats.org/officeDocument/2006/relationships/slideMaster" Target="/ppt/slideMasters/slideMaster1.xml" Id="R84d2b608b9c441f1" /><Relationship Type="http://schemas.openxmlformats.org/officeDocument/2006/relationships/notesMaster" Target="/ppt/notesMasters/notesMaster1.xml" Id="Rd64f342f377c4973" /><Relationship Type="http://schemas.openxmlformats.org/officeDocument/2006/relationships/presProps" Target="/ppt/presProps.xml" Id="Rcfc702427d934dd2" /><Relationship Type="http://schemas.openxmlformats.org/officeDocument/2006/relationships/tableStyles" Target="/ppt/tableStyles.xml" Id="Rdf27b04df89b419a" /><Relationship Type="http://schemas.openxmlformats.org/officeDocument/2006/relationships/slide" Target="/ppt/slides/slide1.xml" Id="Re3cf9f243ec54fd4" /><Relationship Type="http://schemas.openxmlformats.org/officeDocument/2006/relationships/slide" Target="/ppt/slides/slide2.xml" Id="R7e8fc19170e94526" /><Relationship Type="http://schemas.openxmlformats.org/officeDocument/2006/relationships/slide" Target="/ppt/slides/slide3.xml" Id="R106d3005fec34977" /><Relationship Type="http://schemas.openxmlformats.org/officeDocument/2006/relationships/slide" Target="/ppt/slides/slide4.xml" Id="R594eec5ed33644a8" /><Relationship Type="http://schemas.openxmlformats.org/officeDocument/2006/relationships/slide" Target="/ppt/slides/slide5.xml" Id="R554640a29bc24920" /><Relationship Type="http://schemas.openxmlformats.org/officeDocument/2006/relationships/slide" Target="/ppt/slides/slide6.xml" Id="Rfa305572c8484fef" /><Relationship Type="http://schemas.openxmlformats.org/officeDocument/2006/relationships/slide" Target="/ppt/slides/slide7.xml" Id="R4ccae3868bfb4571" /><Relationship Type="http://schemas.openxmlformats.org/officeDocument/2006/relationships/slide" Target="/ppt/slides/slide8.xml" Id="R2fa5cb5b95934c6a" /><Relationship Type="http://schemas.openxmlformats.org/officeDocument/2006/relationships/slide" Target="/ppt/slides/slide9.xml" Id="R57266921a48d4f22" /><Relationship Type="http://schemas.openxmlformats.org/officeDocument/2006/relationships/slide" Target="/ppt/slides/slide10.xml" Id="Re77f8ae0de834561" /><Relationship Type="http://schemas.openxmlformats.org/officeDocument/2006/relationships/slide" Target="/ppt/slides/slide11.xml" Id="R158b9c3fd49541b8" /><Relationship Type="http://schemas.openxmlformats.org/officeDocument/2006/relationships/slide" Target="/ppt/slides/slide12.xml" Id="Rdbb20b645d47482a" /><Relationship Type="http://schemas.openxmlformats.org/officeDocument/2006/relationships/slide" Target="/ppt/slides/slide13.xml" Id="Rb799ebe201244c9b" /><Relationship Type="http://schemas.openxmlformats.org/officeDocument/2006/relationships/slide" Target="/ppt/slides/slide14.xml" Id="R6165b795cdcb459f" /><Relationship Type="http://schemas.openxmlformats.org/officeDocument/2006/relationships/slide" Target="/ppt/slides/slide15.xml" Id="R60d17e93d38f436c" /><Relationship Type="http://schemas.openxmlformats.org/officeDocument/2006/relationships/slide" Target="/ppt/slides/slide16.xml" Id="Rb31ebe88f637428e" /><Relationship Type="http://schemas.openxmlformats.org/officeDocument/2006/relationships/slide" Target="/ppt/slides/slide17.xml" Id="Rf993cf6d67d240c0" /><Relationship Type="http://schemas.openxmlformats.org/officeDocument/2006/relationships/slide" Target="/ppt/slides/slide18.xml" Id="Ra14980e9228b41bf" /><Relationship Type="http://schemas.openxmlformats.org/officeDocument/2006/relationships/slide" Target="/ppt/slides/slide19.xml" Id="Rf84a1a9c74c04cad" /><Relationship Type="http://schemas.openxmlformats.org/officeDocument/2006/relationships/slide" Target="/ppt/slides/slide20.xml" Id="Raea6e3624ed741e1" /><Relationship Type="http://schemas.openxmlformats.org/officeDocument/2006/relationships/slide" Target="/ppt/slides/slide21.xml" Id="Rce0b6adcf48c43a5" /><Relationship Type="http://schemas.openxmlformats.org/officeDocument/2006/relationships/slide" Target="/ppt/slides/slide22.xml" Id="R744cb23841874999" /><Relationship Type="http://schemas.openxmlformats.org/officeDocument/2006/relationships/slide" Target="/ppt/slides/slide23.xml" Id="R3fcb62ee037a4a42" /><Relationship Type="http://schemas.openxmlformats.org/officeDocument/2006/relationships/slide" Target="/ppt/slides/slide24.xml" Id="Rf352259cc05f46a1" /><Relationship Type="http://schemas.openxmlformats.org/officeDocument/2006/relationships/slide" Target="/ppt/slides/slide25.xml" Id="Recea77408e67430c" /><Relationship Type="http://schemas.openxmlformats.org/officeDocument/2006/relationships/slide" Target="/ppt/slides/slide26.xml" Id="Rc0f5876ea5b24384" /><Relationship Type="http://schemas.openxmlformats.org/officeDocument/2006/relationships/slide" Target="/ppt/slides/slide27.xml" Id="Rb1d573fc95854e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8cc08c751c4d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2a3938f78249b5" /><Relationship Type="http://schemas.openxmlformats.org/officeDocument/2006/relationships/notesMaster" Target="/ppt/notesMasters/notesMaster1.xml" Id="R12ebaf92104146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616f8c763b43ff" /><Relationship Type="http://schemas.openxmlformats.org/officeDocument/2006/relationships/notesMaster" Target="/ppt/notesMasters/notesMaster1.xml" Id="R8be5db4f292b43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7da4da807b42c1" /><Relationship Type="http://schemas.openxmlformats.org/officeDocument/2006/relationships/notesMaster" Target="/ppt/notesMasters/notesMaster1.xml" Id="R70b8de726e3c49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50402bdd0542e3" /><Relationship Type="http://schemas.openxmlformats.org/officeDocument/2006/relationships/notesMaster" Target="/ppt/notesMasters/notesMaster1.xml" Id="R9bef5c8efc2d4a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98278604034e09" /><Relationship Type="http://schemas.openxmlformats.org/officeDocument/2006/relationships/notesMaster" Target="/ppt/notesMasters/notesMaster1.xml" Id="Rbb01e9b2d1ce42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d81a1ea24e4e60" /><Relationship Type="http://schemas.openxmlformats.org/officeDocument/2006/relationships/notesMaster" Target="/ppt/notesMasters/notesMaster1.xml" Id="R79ec79a6a14c45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74f71221c24ece" /><Relationship Type="http://schemas.openxmlformats.org/officeDocument/2006/relationships/notesMaster" Target="/ppt/notesMasters/notesMaster1.xml" Id="R07db9e9d6b86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1ae070121246e9" /><Relationship Type="http://schemas.openxmlformats.org/officeDocument/2006/relationships/notesMaster" Target="/ppt/notesMasters/notesMaster1.xml" Id="Raf3a3454d3ba44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0549216a14438a" /><Relationship Type="http://schemas.openxmlformats.org/officeDocument/2006/relationships/notesMaster" Target="/ppt/notesMasters/notesMaster1.xml" Id="Rfd2701f4120748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e825f490dd4c1f" /><Relationship Type="http://schemas.openxmlformats.org/officeDocument/2006/relationships/notesMaster" Target="/ppt/notesMasters/notesMaster1.xml" Id="Rf0c271d2d45547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5752cc50bf44ea" /><Relationship Type="http://schemas.openxmlformats.org/officeDocument/2006/relationships/notesMaster" Target="/ppt/notesMasters/notesMaster1.xml" Id="Rd2f355eecd234b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ceed799af84325" /><Relationship Type="http://schemas.openxmlformats.org/officeDocument/2006/relationships/notesMaster" Target="/ppt/notesMasters/notesMaster1.xml" Id="R63cfe4fcc1ab4e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3e2c7742f94e83" /><Relationship Type="http://schemas.openxmlformats.org/officeDocument/2006/relationships/notesMaster" Target="/ppt/notesMasters/notesMaster1.xml" Id="Rffaadfc05a8441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52ba0a006e49e8" /><Relationship Type="http://schemas.openxmlformats.org/officeDocument/2006/relationships/notesMaster" Target="/ppt/notesMasters/notesMaster1.xml" Id="R870213c7b63040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6d4c2a902a496b" /><Relationship Type="http://schemas.openxmlformats.org/officeDocument/2006/relationships/notesMaster" Target="/ppt/notesMasters/notesMaster1.xml" Id="R7df03bfe52374c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e8684ee89e4caf" /><Relationship Type="http://schemas.openxmlformats.org/officeDocument/2006/relationships/notesMaster" Target="/ppt/notesMasters/notesMaster1.xml" Id="Rbd6afa3792df4f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c7277ac12145dd" /><Relationship Type="http://schemas.openxmlformats.org/officeDocument/2006/relationships/notesMaster" Target="/ppt/notesMasters/notesMaster1.xml" Id="Rd2ad77fb081d4a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b8f3a51a2f44f9" /><Relationship Type="http://schemas.openxmlformats.org/officeDocument/2006/relationships/notesMaster" Target="/ppt/notesMasters/notesMaster1.xml" Id="R501acc8c66fc49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fc518ae1f84a2b" /><Relationship Type="http://schemas.openxmlformats.org/officeDocument/2006/relationships/notesMaster" Target="/ppt/notesMasters/notesMaster1.xml" Id="R8a1f5fe721654a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8c067c3082f460a" /><Relationship Type="http://schemas.openxmlformats.org/officeDocument/2006/relationships/notesMaster" Target="/ppt/notesMasters/notesMaster1.xml" Id="R42a9449817514a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4568c364d64632" /><Relationship Type="http://schemas.openxmlformats.org/officeDocument/2006/relationships/notesMaster" Target="/ppt/notesMasters/notesMaster1.xml" Id="R06b86cd3b31b41d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ba43e64cec45df" /><Relationship Type="http://schemas.openxmlformats.org/officeDocument/2006/relationships/notesMaster" Target="/ppt/notesMasters/notesMaster1.xml" Id="R1793c78c02fd47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1ad9a97e9f945c0" /><Relationship Type="http://schemas.openxmlformats.org/officeDocument/2006/relationships/notesMaster" Target="/ppt/notesMasters/notesMaster1.xml" Id="Rc85fe4e08dbc4c3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99878ca2e034d61" /><Relationship Type="http://schemas.openxmlformats.org/officeDocument/2006/relationships/notesMaster" Target="/ppt/notesMasters/notesMaster1.xml" Id="R4824933ca4b94f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75553abe9734a47" /><Relationship Type="http://schemas.openxmlformats.org/officeDocument/2006/relationships/notesMaster" Target="/ppt/notesMasters/notesMaster1.xml" Id="R2f05a58631c442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88edb5bbf6d4ecd" /><Relationship Type="http://schemas.openxmlformats.org/officeDocument/2006/relationships/notesMaster" Target="/ppt/notesMasters/notesMaster1.xml" Id="R21921006548c40b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ffa06791884799" /><Relationship Type="http://schemas.openxmlformats.org/officeDocument/2006/relationships/notesMaster" Target="/ppt/notesMasters/notesMaster1.xml" Id="R1a20c287c4ac47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当前，内地基金公司已将大语言模型用于投研分析、数据查询、知识问答和合规审核，并在量化研究中开展文本因子提取、研究方案生成和工具调用。</a:t>
            </a:r>
          </a:p>
          <a:p xmlns:a="http://schemas.openxmlformats.org/drawingml/2006/main">
            <a:r>
              <a:t/>
            </a:r>
          </a:p>
          <a:p xmlns:a="http://schemas.openxmlformats.org/drawingml/2006/main">
            <a:r>
              <a:t>本次介绍围绕这四个方向展开，重点说明LLM在业务中承担什么工作、产生什么结果，以及这些经验如何用于本地部署与量化应用开发。</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a:p xmlns:a="http://schemas.openxmlformats.org/drawingml/2006/main">
            <a:r>
              <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调研以2026年二季度末非货公募规模前20家公司为主要样本，规模剔除ETF联接基金。样本约为3,448亿元至1.70万亿元，完整公司信息保留在附录。</a:t>
            </a:r>
          </a:p>
          <a:p xmlns:a="http://schemas.openxmlformats.org/drawingml/2006/main">
            <a:r>
              <a:t/>
            </a:r>
          </a:p>
          <a:p xmlns:a="http://schemas.openxmlformats.org/drawingml/2006/main">
            <a:r>
              <a:t>已披露的应用分布在多个业务环节。富国基金生成研报小结和市场观点，天弘基金开展财务归因，南方基金生成SQL并处理业务查询。鹏华基金和汇添富基金将模型接入知识与合规流程，量化研究则进一步使用模型提取文本信号、生成并迭代研究方案。</a:t>
            </a:r>
          </a:p>
          <a:p xmlns:a="http://schemas.openxmlformats.org/drawingml/2006/main">
            <a:r>
              <a:t/>
            </a:r>
          </a:p>
          <a:p xmlns:a="http://schemas.openxmlformats.org/drawingml/2006/main">
            <a:r>
              <a:t>这些案例提供了明确的应用方向。本项目应推进本地部署，将模型服务与数据和研究工具连接起来。</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a:p xmlns:a="http://schemas.openxmlformats.org/drawingml/2006/main">
            <a:r>
              <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a:p xmlns:a="http://schemas.openxmlformats.org/drawingml/2006/main">
            <a:r>
              <a:t/>
            </a:r>
          </a:p>
          <a:p xmlns:a="http://schemas.openxmlformats.org/drawingml/2006/main">
            <a:r>
              <a:t>『基金行业金融科技获奖成果宣传活动』汇添富基金：智汇投资风险管理平台</a:t>
            </a:r>
          </a:p>
          <a:p xmlns:a="http://schemas.openxmlformats.org/drawingml/2006/main">
            <a:r>
              <a:t>2026-01-27协会目录；PDF未注明修订日期</a:t>
            </a:r>
          </a:p>
          <a:p xmlns:a="http://schemas.openxmlformats.org/drawingml/2006/main">
            <a:r>
              <a:t>PDF第5–11页；风险邮件提取、条款问答与规则平台</a:t>
            </a:r>
          </a:p>
          <a:p xmlns:a="http://schemas.openxmlformats.org/drawingml/2006/main">
            <a:r>
              <a:t>https://www.amac.org.cn/xwfb/hydt/202601/P020260202337837900594.pdf</a:t>
            </a:r>
          </a:p>
          <a:p xmlns:a="http://schemas.openxmlformats.org/drawingml/2006/main">
            <a:r>
              <a:t/>
            </a:r>
          </a:p>
          <a:p xmlns:a="http://schemas.openxmlformats.org/drawingml/2006/main">
            <a:r>
              <a:t>AI筑牢邮件安全防线 永赢基金以大模型守护金融数字资产</a:t>
            </a:r>
          </a:p>
          <a:p xmlns:a="http://schemas.openxmlformats.org/drawingml/2006/main">
            <a:r>
              <a:t>2026-07-01协会目录；PDF未注明日期</a:t>
            </a:r>
          </a:p>
          <a:p xmlns:a="http://schemas.openxmlformats.org/drawingml/2006/main">
            <a:r>
              <a:t>永赢安全GPT邮件反钓鱼应用</a:t>
            </a:r>
          </a:p>
          <a:p xmlns:a="http://schemas.openxmlformats.org/drawingml/2006/main">
            <a:r>
              <a:t>https://www.amac.org.cn/xwfb/hydt/202607/P020260701319545695145.pdf</a:t>
            </a:r>
          </a:p>
          <a:p xmlns:a="http://schemas.openxmlformats.org/drawingml/2006/main">
            <a:r>
              <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富国基金的市场观点流程使用本地LLM、提示词和研究数据服务。研究员指定投资标的与分析方向后，流程先对研报与标的的相关程度评分，筛选符合阈值的材料。LLM首先形成研报知识小结，之后按指定方向归纳，再综合小结生成市场观点。</a:t>
            </a:r>
          </a:p>
          <a:p xmlns:a="http://schemas.openxmlformats.org/drawingml/2006/main">
            <a:r>
              <a:t/>
            </a:r>
          </a:p>
          <a:p xmlns:a="http://schemas.openxmlformats.org/drawingml/2006/main">
            <a:r>
              <a:t>例如分析行业需求时，模型提炼各报告对需求变化的判断，形成分项小结和综合观点。富国基金也通过RAG提供知识问答，检索研报、行情和内部点评的相关片段，由模型生成答案并标记来源。</a:t>
            </a:r>
          </a:p>
          <a:p xmlns:a="http://schemas.openxmlformats.org/drawingml/2006/main">
            <a:r>
              <a:t/>
            </a:r>
          </a:p>
          <a:p xmlns:a="http://schemas.openxmlformats.org/drawingml/2006/main">
            <a:r>
              <a:t>公司报告，研究系统包含约30万份研报，相关流程上线后，原来一周以上的工作可缩短至3小时以内。该案例展示了本地LLM减少重复整理工作、支持研究观点生成的实际用途。</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天弘基金的FinAgent将LLM、金融工具和业务智能体连接。系统接收复杂研究任务后，先拆解子任务，再调用金融数据接口或计算工具，最后综合结果。LLM负责理解研究要求、组织分析步骤和形成解释。</a:t>
            </a:r>
          </a:p>
          <a:p xmlns:a="http://schemas.openxmlformats.org/drawingml/2006/main">
            <a:r>
              <a:t/>
            </a:r>
          </a:p>
          <a:p xmlns:a="http://schemas.openxmlformats.org/drawingml/2006/main">
            <a:r>
              <a:t>盈利归因案例中，FinAgent把净利润问题展开为收入、成本和费用，再进一步分析销量、单价、原材料与渠道。模型将这些信息组织为结构化归因框架和解释文本，支持增长质量与持续性的判断。</a:t>
            </a:r>
          </a:p>
          <a:p xmlns:a="http://schemas.openxmlformats.org/drawingml/2006/main">
            <a:r>
              <a:t/>
            </a:r>
          </a:p>
          <a:p xmlns:a="http://schemas.openxmlformats.org/drawingml/2006/main">
            <a:r>
              <a:t>据天弘基金介绍，这一过程将原先需要数日的手工整理与计算缩短至分钟级，使研究员更快进入盈利驱动因素的分析。</a:t>
            </a:r>
          </a:p>
          <a:p xmlns:a="http://schemas.openxmlformats.org/drawingml/2006/main">
            <a:r>
              <a:t/>
            </a:r>
          </a:p>
          <a:p xmlns:a="http://schemas.openxmlformats.org/drawingml/2006/main">
            <a:r>
              <a:t>参考资料</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MENTOR围绕事件预测和行业排序建立多次LLM调用流程。模型先生成预测，再根据实际结果形成反馈，并将改进意见用于后续预测。各次调用通过文本与列表交换信息。</a:t>
            </a:r>
          </a:p>
          <a:p xmlns:a="http://schemas.openxmlformats.org/drawingml/2006/main">
            <a:r>
              <a:t/>
            </a:r>
          </a:p>
          <a:p xmlns:a="http://schemas.openxmlformats.org/drawingml/2006/main">
            <a:r>
              <a:t>事件预测读取上周热点和改进指导，生成下一周按市场影响排序的10条事件。行业排序读取事件、历史表现和策略，返回行业名称的有序列表。周期结束后，反馈调用比较预测与实际结果，生成新的指导文字。该机制更新提示词中的策略文本，模型权重保持不变。</a:t>
            </a:r>
          </a:p>
          <a:p xmlns:a="http://schemas.openxmlformats.org/drawingml/2006/main">
            <a:r>
              <a:t/>
            </a:r>
          </a:p>
          <a:p xmlns:a="http://schemas.openxmlformats.org/drawingml/2006/main">
            <a:r>
              <a:t>论文实验中，MENTOR在美股与A股的行业排序相关性均超过所列动量和SEP基线。这个方法把预测、评价和修订连接起来，让每轮结果成为下一轮判断的输入。实验数据见附录。</a:t>
            </a:r>
          </a:p>
          <a:p xmlns:a="http://schemas.openxmlformats.org/drawingml/2006/main">
            <a:r>
              <a:t/>
            </a:r>
          </a:p>
          <a:p xmlns:a="http://schemas.openxmlformats.org/drawingml/2006/main">
            <a:r>
              <a:t>参考资料</a:t>
            </a:r>
          </a:p>
          <a:p xmlns:a="http://schemas.openxmlformats.org/drawingml/2006/main">
            <a:r>
              <a:t>MENTOR: a multi-agent framework for event and narrative trend prediction with optimized reasoning</a:t>
            </a:r>
          </a:p>
          <a:p xmlns:a="http://schemas.openxmlformats.org/drawingml/2006/main">
            <a:r>
              <a:t>2025，26(10):1847–1861</a:t>
            </a:r>
          </a:p>
          <a:p xmlns:a="http://schemas.openxmlformats.org/drawingml/2006/main">
            <a:r>
              <a:t>PDF第8–11页及表3；方法与行业排序结果</a:t>
            </a:r>
          </a:p>
          <a:p xmlns:a="http://schemas.openxmlformats.org/drawingml/2006/main">
            <a:r>
              <a:t>https://doi.org/10.1631/FITEE.2500608</a:t>
            </a:r>
          </a:p>
          <a:p xmlns:a="http://schemas.openxmlformats.org/drawingml/2006/main">
            <a:r>
              <a:t/>
            </a:r>
          </a:p>
          <a:p xmlns:a="http://schemas.openxmlformats.org/drawingml/2006/main">
            <a:r>
              <a:t>MENTOR supplementary materials</a:t>
            </a:r>
          </a:p>
          <a:p xmlns:a="http://schemas.openxmlformats.org/drawingml/2006/main">
            <a:r>
              <a:t>2025；MENTOR官方补充材料</a:t>
            </a:r>
          </a:p>
          <a:p xmlns:a="http://schemas.openxmlformats.org/drawingml/2006/main">
            <a:r>
              <a:t>PDF第1–5页，尤其第2–3页Prompt</a:t>
            </a:r>
          </a:p>
          <a:p xmlns:a="http://schemas.openxmlformats.org/drawingml/2006/main">
            <a:r>
              <a:t>https://jzus.zju.edu.cn/downloadesm.php?filepath=.%2Fdownload%2FESM%2FFITEE%2FESM2500608.pdf&amp;filetype=pdf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南方基金使用微调大模型识别业务意图、解析参数并编排工作流，再由调度引擎调用API、SQL、知识检索或Python解释器。</a:t>
            </a:r>
          </a:p>
          <a:p xmlns:a="http://schemas.openxmlformats.org/drawingml/2006/main">
            <a:r>
              <a:t/>
            </a:r>
          </a:p>
          <a:p xmlns:a="http://schemas.openxmlformats.org/drawingml/2006/main">
            <a:r>
              <a:t>SQL流程中，表格选择智能体读取问题和元数据，选出相关表。SQL撰写智能体根据表结构和模板生成语句，数据库执行后，回复智能体结合结果和原问题生成答复。例如按行业汇总指定评级和期限债券余额，模型需要识别统计日、评级、期限与分组要求，再形成相应查询。</a:t>
            </a:r>
          </a:p>
          <a:p xmlns:a="http://schemas.openxmlformats.org/drawingml/2006/main">
            <a:r>
              <a:t/>
            </a:r>
          </a:p>
          <a:p xmlns:a="http://schemas.openxmlformats.org/drawingml/2006/main">
            <a:r>
              <a:t>南方基金报告，整合5个以上系统和20个以上流程后，日均操作耗时下降约40%。LLM把需求理解、工具调用和结果解释连接起来，减少了跨系统切换与重复操作。</a:t>
            </a:r>
          </a:p>
          <a:p xmlns:a="http://schemas.openxmlformats.org/drawingml/2006/main">
            <a:r>
              <a:t/>
            </a:r>
          </a:p>
          <a:p xmlns:a="http://schemas.openxmlformats.org/drawingml/2006/main">
            <a:r>
              <a:t>参考资料</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Index-Hub通过预定义接口提供指数查询能力。模型先识别查询对象，再根据目录选择功能和参数，通过客户端取得数据，最后组织比较与解释。</a:t>
            </a:r>
          </a:p>
          <a:p xmlns:a="http://schemas.openxmlformats.org/drawingml/2006/main">
            <a:r>
              <a:t/>
            </a:r>
          </a:p>
          <a:p xmlns:a="http://schemas.openxmlformats.org/drawingml/2006/main">
            <a:r>
              <a:t>以查询沪深300前十大成分股为例，模型识别指数和代码000300，选择成分股接口，取得成分股及权重后形成带日期的说明。这个基于公开任务说明的例子展示了接口目录如何把数据能力提供给模型。</a:t>
            </a:r>
          </a:p>
          <a:p xmlns:a="http://schemas.openxmlformats.org/drawingml/2006/main">
            <a:r>
              <a:t/>
            </a:r>
          </a:p>
          <a:p xmlns:a="http://schemas.openxmlformats.org/drawingml/2006/main">
            <a:r>
              <a:t>南方基金的方案根据数据表结构生成SQL，Index-Hub通过固定接口提供查询。两者都把LLM接入既有数据服务。本项目可以把已有数据库和研究接口整理成模型能够理解的工具目录。</a:t>
            </a:r>
          </a:p>
          <a:p xmlns:a="http://schemas.openxmlformats.org/drawingml/2006/main">
            <a:r>
              <a:t/>
            </a:r>
          </a:p>
          <a:p xmlns:a="http://schemas.openxmlformats.org/drawingml/2006/main">
            <a:r>
              <a:t>参考资料</a:t>
            </a:r>
          </a:p>
          <a:p xmlns:a="http://schemas.openxmlformats.org/drawingml/2006/main">
            <a:r>
              <a:t>指数直通车 Index-Hub Skills：官方查询客户端与接口文档</a:t>
            </a:r>
          </a:p>
          <a:p xmlns:a="http://schemas.openxmlformats.org/drawingml/2006/main">
            <a:r>
              <a:t>代码快照，版本见提交号</a:t>
            </a:r>
          </a:p>
          <a:p xmlns:a="http://schemas.openxmlformats.org/drawingml/2006/main">
            <a:r>
              <a:t>固定提交1058e1b；查询客户端与接口文档</a:t>
            </a:r>
          </a:p>
          <a:p xmlns:a="http://schemas.openxmlformats.org/drawingml/2006/main">
            <a:r>
              <a:t>https://github.com/EFundAI/index-hub-skills/tree/1058e1bfdaaf3dc1ee025ba2d2e19ea000657fd4</a:t>
            </a:r>
          </a:p>
          <a:p xmlns:a="http://schemas.openxmlformats.org/drawingml/2006/main">
            <a:r>
              <a:t/>
            </a:r>
          </a:p>
          <a:p xmlns:a="http://schemas.openxmlformats.org/drawingml/2006/main">
            <a:r>
              <a:t>指数直通车 AI Skills 帮助文档</a:t>
            </a:r>
          </a:p>
          <a:p xmlns:a="http://schemas.openxmlformats.org/drawingml/2006/main">
            <a:r>
              <a:t>无日期帮助文档；2026-09-09归档</a:t>
            </a:r>
          </a:p>
          <a:p xmlns:a="http://schemas.openxmlformats.org/drawingml/2006/main">
            <a:r>
              <a:t>PDF第8–10页查询示例与接口使用说明</a:t>
            </a:r>
          </a:p>
          <a:p xmlns:a="http://schemas.openxmlformats.org/drawingml/2006/main">
            <a:r>
              <a:t>https://cdn.efunds.com.cn/eda/h5/itcenter/pd/ai-skills-doc/help.pdf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鹏华基金通过RAG把内部知识资料提供给LLM。知识系统先解析、清洗和切分文档，并生成向量入库。使用者提出问题后，检索组件选取相关片段，连同原问题交给LLM，模型理解上下文并生成答案。</a:t>
            </a:r>
          </a:p>
          <a:p xmlns:a="http://schemas.openxmlformats.org/drawingml/2006/main">
            <a:r>
              <a:t/>
            </a:r>
          </a:p>
          <a:p xmlns:a="http://schemas.openxmlformats.org/drawingml/2006/main">
            <a:r>
              <a:t>投研资讯助手则读取公告、新闻和券商研报，提取信息并生成可定制标签，再整理个股舆情要点与摘要。标签支持筛选，摘要支持快速阅读。</a:t>
            </a:r>
          </a:p>
          <a:p xmlns:a="http://schemas.openxmlformats.org/drawingml/2006/main">
            <a:r>
              <a:t/>
            </a:r>
          </a:p>
          <a:p xmlns:a="http://schemas.openxmlformats.org/drawingml/2006/main">
            <a:r>
              <a:t>两类应用使用相近的模型能力，知识问答围绕问题组织答案，资讯整理围绕公司或事件组织信息，共同减少逐篇浏览和归纳材料的工作。</a:t>
            </a:r>
          </a:p>
          <a:p xmlns:a="http://schemas.openxmlformats.org/drawingml/2006/main">
            <a:r>
              <a:t/>
            </a:r>
          </a:p>
          <a:p xmlns:a="http://schemas.openxmlformats.org/drawingml/2006/main">
            <a:r>
              <a:t>参考资料</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鹏华基金的营销审核系统结合7类、71项规则检查风险提示、基金信息、业绩宣传和禁止性表达。LLM理解文案、识别疑点并提出修改意见，合规人员据此完成复核和发布审批。公司报告累计审核1,266篇文件，执行近6万项信息审核，产生989条有效修改建议，最新采纳率91%。</a:t>
            </a:r>
          </a:p>
          <a:p xmlns:a="http://schemas.openxmlformats.org/drawingml/2006/main">
            <a:r>
              <a:t/>
            </a:r>
          </a:p>
          <a:p xmlns:a="http://schemas.openxmlformats.org/drawingml/2006/main">
            <a:r>
              <a:t>汇添富基金使用LLM提取托管行风控邮件信息，并结合风控规则与法规、内控或合同原文的对应关系解释拦截依据。既有风控引擎执行规则计算，LLM补充材料理解和条款解释能力。</a:t>
            </a:r>
          </a:p>
          <a:p xmlns:a="http://schemas.openxmlformats.org/drawingml/2006/main">
            <a:r>
              <a:t/>
            </a:r>
          </a:p>
          <a:p xmlns:a="http://schemas.openxmlformats.org/drawingml/2006/main">
            <a:r>
              <a:t>这些应用把大量文本阅读与初步意见整理交给模型，使人工处理集中于规则适用和最终决定。</a:t>
            </a:r>
          </a:p>
          <a:p xmlns:a="http://schemas.openxmlformats.org/drawingml/2006/main">
            <a:r>
              <a:t/>
            </a:r>
          </a:p>
          <a:p xmlns:a="http://schemas.openxmlformats.org/drawingml/2006/main">
            <a:r>
              <a:t>参考资料</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a:p xmlns:a="http://schemas.openxmlformats.org/drawingml/2006/main">
            <a:r>
              <a:t/>
            </a:r>
          </a:p>
          <a:p xmlns:a="http://schemas.openxmlformats.org/drawingml/2006/main">
            <a:r>
              <a:t>『基金行业金融科技获奖成果宣传活动』汇添富基金：智汇投资风险管理平台</a:t>
            </a:r>
          </a:p>
          <a:p xmlns:a="http://schemas.openxmlformats.org/drawingml/2006/main">
            <a:r>
              <a:t>2026-01-27协会目录；PDF未注明修订日期</a:t>
            </a:r>
          </a:p>
          <a:p xmlns:a="http://schemas.openxmlformats.org/drawingml/2006/main">
            <a:r>
              <a:t>PDF第5–11页；风险邮件提取、条款问答与规则平台</a:t>
            </a:r>
          </a:p>
          <a:p xmlns:a="http://schemas.openxmlformats.org/drawingml/2006/main">
            <a:r>
              <a:t>https://www.amac.org.cn/xwfb/hydt/202601/P020260202337837900594.pdf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LLM辅助量化主要沿两条路径展开。第一条从公告、研报、新闻和舆情中提取信息，把非结构化文本转为事件与因子。第二条由模型生成研究方案，通过数据、代码和回测工具执行，再依据结果筛选与迭代。</a:t>
            </a:r>
          </a:p>
          <a:p xmlns:a="http://schemas.openxmlformats.org/drawingml/2006/main">
            <a:r>
              <a:t/>
            </a:r>
          </a:p>
          <a:p xmlns:a="http://schemas.openxmlformats.org/drawingml/2006/main">
            <a:r>
              <a:t>富国基金已使用LLM提取政策敏感度因子，并根据因子绩效数据形成评价意见。广发基金介绍了从非结构化数据挖掘另类因子，华泰柏瑞基金将公告、纪要和舆情结构化后与量化信号结合。</a:t>
            </a:r>
          </a:p>
          <a:p xmlns:a="http://schemas.openxmlformats.org/drawingml/2006/main">
            <a:r>
              <a:t/>
            </a:r>
          </a:p>
          <a:p xmlns:a="http://schemas.openxmlformats.org/drawingml/2006/main">
            <a:r>
              <a:t>文本理解是国内基金引入LLM的重要入口。开源框架QuantaAlpha和Man的AlphaTrend进一步展示了研究方案生成与执行的组织方式。</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华泰柏瑞量化团队：“人机协同”迈入深水区，AI投研构筑长期护城河</a:t>
            </a:r>
          </a:p>
          <a:p xmlns:a="http://schemas.openxmlformats.org/drawingml/2006/main">
            <a:r>
              <a:t>2026-09-03</a:t>
            </a:r>
          </a:p>
          <a:p xmlns:a="http://schemas.openxmlformats.org/drawingml/2006/main">
            <a:r>
              <a:t>中国证券报原刊；文本处理与量化研究发展方向</a:t>
            </a:r>
          </a:p>
          <a:p xmlns:a="http://schemas.openxmlformats.org/drawingml/2006/main">
            <a:r>
              <a:t>https://mp.weixin.qq.com/s?__biz=MjM5MzMwNjM0MA%3D%3D&amp;idx=2&amp;mid=2651361688&amp;sn=465ee3d543763b18d8ee971802cc5fcb</a:t>
            </a:r>
          </a:p>
          <a:p xmlns:a="http://schemas.openxmlformats.org/drawingml/2006/main">
            <a:r>
              <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A Trend Following Deep Dive: AlphaTrend and Agentic Research Workflows</a:t>
            </a:r>
          </a:p>
          <a:p xmlns:a="http://schemas.openxmlformats.org/drawingml/2006/main">
            <a:r>
              <a:t>2026-02-11</a:t>
            </a:r>
          </a:p>
          <a:p xmlns:a="http://schemas.openxmlformats.org/drawingml/2006/main">
            <a:r>
              <a:t>Man AHL；原文流程图与三组研究想法实验</a:t>
            </a:r>
          </a:p>
          <a:p xmlns:a="http://schemas.openxmlformats.org/drawingml/2006/main">
            <a:r>
              <a:t>https://www.man.com/insights/alphatrend-agentic-research-workflows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以扩产公告为例，LLM识别事件、数量、单位和投产安排，并保留“计划”“待审批”等决定事件含义的状态。模型的产物是统一字段的事件记录。</a:t>
            </a:r>
          </a:p>
          <a:p xmlns:a="http://schemas.openxmlformats.org/drawingml/2006/main">
            <a:r>
              <a:t/>
            </a:r>
          </a:p>
          <a:p xmlns:a="http://schemas.openxmlformats.org/drawingml/2006/main">
            <a:r>
              <a:t>系统随后可以计算50%的计划增幅，匹配证券、去重并记录首次可得时间，将事件接入研究数据集。量化团队在这些记录上定义事件变量、构造因子并开展回测。</a:t>
            </a:r>
          </a:p>
          <a:p xmlns:a="http://schemas.openxmlformats.org/drawingml/2006/main">
            <a:r>
              <a:t/>
            </a:r>
          </a:p>
          <a:p xmlns:a="http://schemas.openxmlformats.org/drawingml/2006/main">
            <a:r>
              <a:t>这一方法把分散在文本中的经营信息变成能够跨公司、跨时期比较的数据，利用模型的语言理解能力扩展研究材料。该公告是解释输出形式的示例。</a:t>
            </a:r>
          </a:p>
          <a:p xmlns:a="http://schemas.openxmlformats.org/drawingml/2006/main">
            <a:r>
              <a:t/>
            </a:r>
          </a:p>
          <a:p xmlns:a="http://schemas.openxmlformats.org/drawingml/2006/main">
            <a:r>
              <a:t>参考资料</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华泰柏瑞量化团队：“人机协同”迈入深水区，AI投研构筑长期护城河</a:t>
            </a:r>
          </a:p>
          <a:p xmlns:a="http://schemas.openxmlformats.org/drawingml/2006/main">
            <a:r>
              <a:t>2026-09-03</a:t>
            </a:r>
          </a:p>
          <a:p xmlns:a="http://schemas.openxmlformats.org/drawingml/2006/main">
            <a:r>
              <a:t>中国证券报原刊；文本处理与量化研究发展方向</a:t>
            </a:r>
          </a:p>
          <a:p xmlns:a="http://schemas.openxmlformats.org/drawingml/2006/main">
            <a:r>
              <a:t>https://mp.weixin.qq.com/s?__biz=MjM5MzMwNjM0MA%3D%3D&amp;idx=2&amp;mid=2651361688&amp;sn=465ee3d543763b18d8ee971802cc5fcb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QuantaAlpha把LLM接入研究方向规划、因子构造、语义核对和反馈迭代。规划调用接收初始方向与数量要求，返回包含directions数组的JSON，框架据此建立研究分支。</a:t>
            </a:r>
          </a:p>
          <a:p xmlns:a="http://schemas.openxmlformats.org/drawingml/2006/main">
            <a:r>
              <a:t/>
            </a:r>
          </a:p>
          <a:p xmlns:a="http://schemas.openxmlformats.org/drawingml/2006/main">
            <a:r>
              <a:t>随后，模型根据市场观察、金融知识和既有记录提出假设，再转换为因子说明、数学定义和符号表达式。表达式进入代码实现和历史数据计算。实现失败时，模型读取错误信息并提出修正。</a:t>
            </a:r>
          </a:p>
          <a:p xmlns:a="http://schemas.openxmlformats.org/drawingml/2006/main">
            <a:r>
              <a:t/>
            </a:r>
          </a:p>
          <a:p xmlns:a="http://schemas.openxmlformats.org/drawingml/2006/main">
            <a:r>
              <a:t>一致性调用同时读取假设、说明、公式和表达式，返回is_consistent、severity、overall_feedback与corrected_expression等字段。模型提供语义判断，程序组织检验与重试。最后，模型根据回测结果分析下一步需要改变什么，生成新的假设或融合方案。</a:t>
            </a:r>
          </a:p>
          <a:p xmlns:a="http://schemas.openxmlformats.org/drawingml/2006/main">
            <a:r>
              <a:t/>
            </a:r>
          </a:p>
          <a:p xmlns:a="http://schemas.openxmlformats.org/drawingml/2006/main">
            <a:r>
              <a:t>参考资料</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这条记录希望组合持续动量与脆弱动量，并按市场波动状态调整权重。生成的子因子使用20日价格与成交量变动的相关性，乘以5日日内收益均值，再进行横截面排名。</a:t>
            </a:r>
          </a:p>
          <a:p xmlns:a="http://schemas.openxmlformats.org/drawingml/2006/main">
            <a:r>
              <a:t/>
            </a:r>
          </a:p>
          <a:p xmlns:a="http://schemas.openxmlformats.org/drawingml/2006/main">
            <a:r>
              <a:t>回测显示，子因子的Rank IC为0.0311，高于父记录的0.0216与0.0246。但相对于案例基准，信息比率由0.973降至0.963，超额收益最大回撤由约7.30%扩大至11.37%。模型综合结果，提出暂不采用并补充波动状态。</a:t>
            </a:r>
          </a:p>
          <a:p xmlns:a="http://schemas.openxmlformats.org/drawingml/2006/main">
            <a:r>
              <a:t/>
            </a:r>
          </a:p>
          <a:p xmlns:a="http://schemas.openxmlformats.org/drawingml/2006/main">
            <a:r>
              <a:t>LLM在这里将检验反馈转化为新的研究任务。表达式尚未完整体现假设中的状态调整机制，后续研究需要收紧经济解释与计算之间的对应关系。该次修改的后续结果未在论文中报告，案例与总体实验分别理解。</a:t>
            </a:r>
          </a:p>
          <a:p xmlns:a="http://schemas.openxmlformats.org/drawingml/2006/main">
            <a:r>
              <a:t/>
            </a:r>
          </a:p>
          <a:p xmlns:a="http://schemas.openxmlformats.org/drawingml/2006/main">
            <a:r>
              <a:t>参考资料</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 AHL的AlphaTrend专门面向趋势信号研究，把方案生成、实现、回测、分析和综合结论组织为预定义流程。LLM在不同节点处理明确任务，后续调用读取前面步骤的输出，多个独立调用能够并行探索同一命题的不同实现。</a:t>
            </a:r>
          </a:p>
          <a:p xmlns:a="http://schemas.openxmlformats.org/drawingml/2006/main">
            <a:r>
              <a:t/>
            </a:r>
          </a:p>
          <a:p xmlns:a="http://schemas.openxmlformats.org/drawingml/2006/main">
            <a:r>
              <a:t>研究员提供命题与约束后，模型生成候选信号和参数变体，进入代码实现与回测。取得结果后，模型结合基准、相关性和其他分析，解释方案差异并判断后续研究价值。</a:t>
            </a:r>
          </a:p>
          <a:p xmlns:a="http://schemas.openxmlformats.org/drawingml/2006/main">
            <a:r>
              <a:t/>
            </a:r>
          </a:p>
          <a:p xmlns:a="http://schemas.openxmlformats.org/drawingml/2006/main">
            <a:r>
              <a:t>作者用已知有效、预期较差和开放性命题检验该流程。AlphaTrend识别出已知改进机会，给出负面判断，并指出不同时期的表现差异。其价值在于批量实施、筛选方向，帮助研究员排除无效尝试并确定重点。</a:t>
            </a:r>
          </a:p>
          <a:p xmlns:a="http://schemas.openxmlformats.org/drawingml/2006/main">
            <a:r>
              <a:t/>
            </a:r>
          </a:p>
          <a:p xmlns:a="http://schemas.openxmlformats.org/drawingml/2006/main">
            <a:r>
              <a:t>参考资料</a:t>
            </a:r>
          </a:p>
          <a:p xmlns:a="http://schemas.openxmlformats.org/drawingml/2006/main">
            <a:r>
              <a:t>A Trend Following Deep Dive: AlphaTrend and Agentic Research Workflows</a:t>
            </a:r>
          </a:p>
          <a:p xmlns:a="http://schemas.openxmlformats.org/drawingml/2006/main">
            <a:r>
              <a:t>2026-02-11</a:t>
            </a:r>
          </a:p>
          <a:p xmlns:a="http://schemas.openxmlformats.org/drawingml/2006/main">
            <a:r>
              <a:t>Man AHL；原文流程图与三组研究想法实验</a:t>
            </a:r>
          </a:p>
          <a:p xmlns:a="http://schemas.openxmlformats.org/drawingml/2006/main">
            <a:r>
              <a:t>https://www.man.com/insights/alphatrend-agentic-research-workflows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博时BSBox和中欧基金展示了向模型提供数据访问、研究工具与Skills的实践。博时介绍了分用户运行环境和审计，中欧介绍了用于数据获取、财务建模和报告写作的100余项Skills。共同思路是把常用研究能力整理为可重复调用的工具。</a:t>
            </a:r>
          </a:p>
          <a:p xmlns:a="http://schemas.openxmlformats.org/drawingml/2006/main">
            <a:r>
              <a:t/>
            </a:r>
          </a:p>
          <a:p xmlns:a="http://schemas.openxmlformats.org/drawingml/2006/main">
            <a:r>
              <a:t>易方达基金参与的NLPCC 2026投资Agent任务则提供公开研究基线。模型根据新闻、行情和任务约束形成投资决策，回测服务执行模拟并返回结果。</a:t>
            </a:r>
          </a:p>
          <a:p xmlns:a="http://schemas.openxmlformats.org/drawingml/2006/main">
            <a:r>
              <a:t/>
            </a:r>
          </a:p>
          <a:p xmlns:a="http://schemas.openxmlformats.org/drawingml/2006/main">
            <a:r>
              <a:t>AlphaQT-Bench把代码生成设为独立任务。模型读取要求并返回Python实现，测试程序运行代码，与专家实现比较，检查时序和计算结构。量化团队可以沿这一方式把模型代码生成接入已有研发流程。</a:t>
            </a:r>
          </a:p>
          <a:p xmlns:a="http://schemas.openxmlformats.org/drawingml/2006/main">
            <a:r>
              <a:t/>
            </a:r>
          </a:p>
          <a:p xmlns:a="http://schemas.openxmlformats.org/drawingml/2006/main">
            <a:r>
              <a:t>参考资料</a:t>
            </a:r>
          </a:p>
          <a:p xmlns:a="http://schemas.openxmlformats.org/drawingml/2006/main">
            <a:r>
              <a:t>智启金融新范式，博时前瞻布局企业级“龙虾”生态，赋能资管全链条</a:t>
            </a:r>
          </a:p>
          <a:p xmlns:a="http://schemas.openxmlformats.org/drawingml/2006/main">
            <a:r>
              <a:t>2026-04-30</a:t>
            </a:r>
          </a:p>
          <a:p xmlns:a="http://schemas.openxmlformats.org/drawingml/2006/main">
            <a:r>
              <a:t>博时BSBox报道；工具与运行环境</a:t>
            </a:r>
          </a:p>
          <a:p xmlns:a="http://schemas.openxmlformats.org/drawingml/2006/main">
            <a:r>
              <a:t>https://finance.sina.com.cn/money/fund/jjh/2026-04-30/doc-inhwfyep1330822.shtml</a:t>
            </a:r>
          </a:p>
          <a:p xmlns:a="http://schemas.openxmlformats.org/drawingml/2006/main">
            <a:r>
              <a:t/>
            </a:r>
          </a:p>
          <a:p xmlns:a="http://schemas.openxmlformats.org/drawingml/2006/main">
            <a:r>
              <a:t>中欧基金窦玉明：AI赋能时代，「三化」协同夯实长期业绩根基</a:t>
            </a:r>
          </a:p>
          <a:p xmlns:a="http://schemas.openxmlformats.org/drawingml/2006/main">
            <a:r>
              <a:t>2026-06-01</a:t>
            </a:r>
          </a:p>
          <a:p xmlns:a="http://schemas.openxmlformats.org/drawingml/2006/main">
            <a:r>
              <a:t>中欧公众号转载中国基金报；Skills与投研协作</a:t>
            </a:r>
          </a:p>
          <a:p xmlns:a="http://schemas.openxmlformats.org/drawingml/2006/main">
            <a:r>
              <a:t>https://mp.weixin.qq.com/s/rgMRw8HbZUhiu9PkUBM7vA</a:t>
            </a:r>
          </a:p>
          <a:p xmlns:a="http://schemas.openxmlformats.org/drawingml/2006/main">
            <a:r>
              <a:t/>
            </a:r>
          </a:p>
          <a:p xmlns:a="http://schemas.openxmlformats.org/drawingml/2006/main">
            <a:r>
              <a:t>NLPCC 2026 Shared Task 4: Investment Agent Starter</a:t>
            </a:r>
          </a:p>
          <a:p xmlns:a="http://schemas.openxmlformats.org/drawingml/2006/main">
            <a:r>
              <a:t>NLPCC 2026共享任务；仓库快照</a:t>
            </a:r>
          </a:p>
          <a:p xmlns:a="http://schemas.openxmlformats.org/drawingml/2006/main">
            <a:r>
              <a:t>固定提交4744a77；研究基线、Prompt、数据及回测客户端</a:t>
            </a:r>
          </a:p>
          <a:p xmlns:a="http://schemas.openxmlformats.org/drawingml/2006/main">
            <a:r>
              <a:t>https://github.com/splash-li/NLPCC2026-Shared-Task-4/tree/4744a772fda59ef886c525cf3d4b4ac3c992710f</a:t>
            </a:r>
          </a:p>
          <a:p xmlns:a="http://schemas.openxmlformats.org/drawingml/2006/main">
            <a:r>
              <a:t/>
            </a:r>
          </a:p>
          <a:p xmlns:a="http://schemas.openxmlformats.org/drawingml/2006/main">
            <a:r>
              <a:t>AlphaQT-Bench：量化因子代码评价基准</a:t>
            </a:r>
          </a:p>
          <a:p xmlns:a="http://schemas.openxmlformats.org/drawingml/2006/main">
            <a:r>
              <a:t>ACL 2026 Findings</a:t>
            </a:r>
          </a:p>
          <a:p xmlns:a="http://schemas.openxmlformats.org/drawingml/2006/main">
            <a:r>
              <a:t>16页论文；第16页Prompt及执行、因果、语义、结构评价</a:t>
            </a:r>
          </a:p>
          <a:p xmlns:a="http://schemas.openxmlformats.org/drawingml/2006/main">
            <a:r>
              <a:t>https://aclanthology.org/2026.findings-acl.138/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QuantaAlpha通过独立的APIBackend调用LLM，计算与回测在另外的环境中执行。这种分工使框架围绕稳定的任务和工具接口组织研究，模型的部署位置能够单独配置。</a:t>
            </a:r>
          </a:p>
          <a:p xmlns:a="http://schemas.openxmlformats.org/drawingml/2006/main">
            <a:r>
              <a:t/>
            </a:r>
          </a:p>
          <a:p xmlns:a="http://schemas.openxmlformats.org/drawingml/2006/main">
            <a:r>
              <a:t>本项目应沿这一结构建设。模型服务负责推理，研究框架负责任务编排与记录，数据、代码和回测工具完成具体操作。首先固定金融文本与因子研究任务，比较不同模型完成任务的质量，再结合延迟、资源和数据要求决定本地部署与API的使用方式。</a:t>
            </a:r>
          </a:p>
          <a:p xmlns:a="http://schemas.openxmlformats.org/drawingml/2006/main">
            <a:r>
              <a:t/>
            </a:r>
          </a:p>
          <a:p xmlns:a="http://schemas.openxmlformats.org/drawingml/2006/main">
            <a:r>
              <a:t>模型选型与量化应用开发因此能够分别推进，并通过一致的输入输出接口衔接。</a:t>
            </a:r>
          </a:p>
          <a:p xmlns:a="http://schemas.openxmlformats.org/drawingml/2006/main">
            <a:r>
              <a:t/>
            </a:r>
          </a:p>
          <a:p xmlns:a="http://schemas.openxmlformats.org/drawingml/2006/main">
            <a:r>
              <a:t>参考资料</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应用涉及资料输入、内容生成、工具执行和业务使用。本地部署需要把数据与模型管理落实到各个环节。个人信息保护法要求确定处理依据，数据安全法覆盖相应数据分类与保护。检索与工具执行应实际实施权限控制，答案和返回结果遵守同样的访问范围。</a:t>
            </a:r>
          </a:p>
          <a:p xmlns:a="http://schemas.openxmlformats.org/drawingml/2006/main">
            <a:r>
              <a:t/>
            </a:r>
          </a:p>
          <a:p xmlns:a="http://schemas.openxmlformats.org/drawingml/2006/main">
            <a:r>
              <a:t>模型管理覆盖用途、评测、权限、变更与结果使用。AMAC大模型技术应用规范提供行业参考，属于团体标准，具体采用依据按法律和机构制度确定。</a:t>
            </a:r>
          </a:p>
          <a:p xmlns:a="http://schemas.openxmlformats.org/drawingml/2006/main">
            <a:r>
              <a:t/>
            </a:r>
          </a:p>
          <a:p xmlns:a="http://schemas.openxmlformats.org/drawingml/2006/main">
            <a:r>
              <a:t>项目实施应由内部合规、MRM与IT明确适用制度和COD接入条件，安排部署、评测与审批。SR 26-2面向所述美国银行机构，定义不涵盖生成式和Agentic AI，在本项目中作为比较材料。</a:t>
            </a:r>
          </a:p>
          <a:p xmlns:a="http://schemas.openxmlformats.org/drawingml/2006/main">
            <a:r>
              <a:t/>
            </a:r>
          </a:p>
          <a:p xmlns:a="http://schemas.openxmlformats.org/drawingml/2006/main">
            <a:r>
              <a:t>参考资料</a:t>
            </a:r>
          </a:p>
          <a:p xmlns:a="http://schemas.openxmlformats.org/drawingml/2006/main">
            <a:r>
              <a:t>中华人民共和国个人信息保护法</a:t>
            </a:r>
          </a:p>
          <a:p xmlns:a="http://schemas.openxmlformats.org/drawingml/2006/main">
            <a:r>
              <a:t>2021-08-20</a:t>
            </a:r>
          </a:p>
          <a:p xmlns:a="http://schemas.openxmlformats.org/drawingml/2006/main">
            <a:r>
              <a:t>适用条件与精确条款见附录B</a:t>
            </a:r>
          </a:p>
          <a:p xmlns:a="http://schemas.openxmlformats.org/drawingml/2006/main">
            <a:r>
              <a:t>https://www.cac.gov.cn/2021-08/20/c_1631050028355286.htm</a:t>
            </a:r>
          </a:p>
          <a:p xmlns:a="http://schemas.openxmlformats.org/drawingml/2006/main">
            <a:r>
              <a:t/>
            </a:r>
          </a:p>
          <a:p xmlns:a="http://schemas.openxmlformats.org/drawingml/2006/main">
            <a:r>
              <a:t>中华人民共和国数据安全法</a:t>
            </a:r>
          </a:p>
          <a:p xmlns:a="http://schemas.openxmlformats.org/drawingml/2006/main">
            <a:r>
              <a:t>2021-06-10</a:t>
            </a:r>
          </a:p>
          <a:p xmlns:a="http://schemas.openxmlformats.org/drawingml/2006/main">
            <a:r>
              <a:t>适用条件与精确条款见附录B</a:t>
            </a:r>
          </a:p>
          <a:p xmlns:a="http://schemas.openxmlformats.org/drawingml/2006/main">
            <a:r>
              <a:t>https://www.cac.gov.cn/2021-06/11/c_1624994566919140.htm</a:t>
            </a:r>
          </a:p>
          <a:p xmlns:a="http://schemas.openxmlformats.org/drawingml/2006/main">
            <a:r>
              <a:t/>
            </a:r>
          </a:p>
          <a:p xmlns:a="http://schemas.openxmlformats.org/drawingml/2006/main">
            <a:r>
              <a:t>关于发布《基金经营机构大模型技术应用规范》团体标准的公告</a:t>
            </a:r>
          </a:p>
          <a:p xmlns:a="http://schemas.openxmlformats.org/drawingml/2006/main">
            <a:r>
              <a:t>2026-04-03</a:t>
            </a:r>
          </a:p>
          <a:p xmlns:a="http://schemas.openxmlformats.org/drawingml/2006/main">
            <a:r>
              <a:t>适用条件与精确条款见附录B</a:t>
            </a:r>
          </a:p>
          <a:p xmlns:a="http://schemas.openxmlformats.org/drawingml/2006/main">
            <a:r>
              <a:t>https://www.amac.org.cn/xwfb/xhyw/202604/t20260403_27458.html</a:t>
            </a:r>
          </a:p>
          <a:p xmlns:a="http://schemas.openxmlformats.org/drawingml/2006/main">
            <a:r>
              <a:t/>
            </a:r>
          </a:p>
          <a:p xmlns:a="http://schemas.openxmlformats.org/drawingml/2006/main">
            <a:r>
              <a:t>基金经营机构大模型技术应用规范 — T/AMAC 0004-2026</a:t>
            </a:r>
          </a:p>
          <a:p xmlns:a="http://schemas.openxmlformats.org/drawingml/2006/main">
            <a:r>
              <a:t>2026-04-03</a:t>
            </a:r>
          </a:p>
          <a:p xmlns:a="http://schemas.openxmlformats.org/drawingml/2006/main">
            <a:r>
              <a:t>适用条件与精确条款见附录B</a:t>
            </a:r>
          </a:p>
          <a:p xmlns:a="http://schemas.openxmlformats.org/drawingml/2006/main">
            <a:r>
              <a:t>https://www.amac.org.cn/xwfb/xhyw/202604/P020260429638714694502.pdf</a:t>
            </a:r>
          </a:p>
          <a:p xmlns:a="http://schemas.openxmlformats.org/drawingml/2006/main">
            <a:r>
              <a:t/>
            </a:r>
          </a:p>
          <a:p xmlns:a="http://schemas.openxmlformats.org/drawingml/2006/main">
            <a:r>
              <a:t>中华人民共和国标准化法（2017年修订）</a:t>
            </a:r>
          </a:p>
          <a:p xmlns:a="http://schemas.openxmlformats.org/drawingml/2006/main">
            <a:r>
              <a:t>修订 2017-11-04； 国家知识产权局转载 2019-07-29</a:t>
            </a:r>
          </a:p>
          <a:p xmlns:a="http://schemas.openxmlformats.org/drawingml/2006/main">
            <a:r>
              <a:t>适用条件与精确条款见附录B</a:t>
            </a:r>
          </a:p>
          <a:p xmlns:a="http://schemas.openxmlformats.org/drawingml/2006/main">
            <a:r>
              <a:t>https://www.cnipa.gov.cn/art/2019/7/29/art_104_67809.html</a:t>
            </a:r>
          </a:p>
          <a:p xmlns:a="http://schemas.openxmlformats.org/drawingml/2006/main">
            <a:r>
              <a:t/>
            </a:r>
          </a:p>
          <a:p xmlns:a="http://schemas.openxmlformats.org/drawingml/2006/main">
            <a:r>
              <a:t>SR 26-2: Revised Guidance on Model Risk Management</a:t>
            </a:r>
          </a:p>
          <a:p xmlns:a="http://schemas.openxmlformats.org/drawingml/2006/main">
            <a:r>
              <a:t>2026-04-17</a:t>
            </a:r>
          </a:p>
          <a:p xmlns:a="http://schemas.openxmlformats.org/drawingml/2006/main">
            <a:r>
              <a:t>适用条件与精确条款见附录B</a:t>
            </a:r>
          </a:p>
          <a:p xmlns:a="http://schemas.openxmlformats.org/drawingml/2006/main">
            <a:r>
              <a:t>https://www.federalreserve.gov/supervisionreg/srletters/SR2602.htm</a:t>
            </a:r>
          </a:p>
          <a:p xmlns:a="http://schemas.openxmlformats.org/drawingml/2006/main">
            <a:r>
              <a:t/>
            </a:r>
          </a:p>
          <a:p xmlns:a="http://schemas.openxmlformats.org/drawingml/2006/main">
            <a:r>
              <a:t>Supervisory Guidance on Model Risk Management</a:t>
            </a:r>
          </a:p>
          <a:p xmlns:a="http://schemas.openxmlformats.org/drawingml/2006/main">
            <a:r>
              <a:t>2026-04-17</a:t>
            </a:r>
          </a:p>
          <a:p xmlns:a="http://schemas.openxmlformats.org/drawingml/2006/main">
            <a:r>
              <a:t>适用条件与精确条款见附录B</a:t>
            </a:r>
          </a:p>
          <a:p xmlns:a="http://schemas.openxmlformats.org/drawingml/2006/main">
            <a:r>
              <a:t>https://www.federalreserve.gov/frrs/guidance/supervisory-guidance-on-model-risk-management.htm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式人工智能服务管理暂行办法第2条以向境内公众提供服务为适用条件，并排除未向公众提供此类服务的组织研发和应用。本项目以内部研究工具为起点，扩展到客户问答或对外发布时，重新确定公众服务与内容责任。</a:t>
            </a:r>
          </a:p>
          <a:p xmlns:a="http://schemas.openxmlformats.org/drawingml/2006/main">
            <a:r>
              <a:t/>
            </a:r>
          </a:p>
          <a:p xmlns:a="http://schemas.openxmlformats.org/drawingml/2006/main">
            <a:r>
              <a:t>外部OCR、嵌入服务、模型API、日志和远程运维都需要纳入流程梳理。按实际处理位置、供应商角色、数据类型和数量判断委托处理与出境要求，在原型接入服务时完成确认。</a:t>
            </a:r>
          </a:p>
          <a:p xmlns:a="http://schemas.openxmlformats.org/drawingml/2006/main">
            <a:r>
              <a:t/>
            </a:r>
          </a:p>
          <a:p xmlns:a="http://schemas.openxmlformats.org/drawingml/2006/main">
            <a:r>
              <a:t>证券基金信息技术管理办法第43条要求保留机构自身责任和重要系统控制，限制外部独立实施重要系统运维和日常安全管理，证监会另有规定的除外。第44至45条涉及审查、相应报送、协议和替换安排。</a:t>
            </a:r>
          </a:p>
          <a:p xmlns:a="http://schemas.openxmlformats.org/drawingml/2006/main">
            <a:r>
              <a:t/>
            </a:r>
          </a:p>
          <a:p xmlns:a="http://schemas.openxmlformats.org/drawingml/2006/main">
            <a:r>
              <a:t>参考资料</a:t>
            </a:r>
          </a:p>
          <a:p xmlns:a="http://schemas.openxmlformats.org/drawingml/2006/main">
            <a:r>
              <a:t>生成式人工智能服务管理暂行办法</a:t>
            </a:r>
          </a:p>
          <a:p xmlns:a="http://schemas.openxmlformats.org/drawingml/2006/main">
            <a:r>
              <a:t>2023-07-13； 签署 2023-07-10</a:t>
            </a:r>
          </a:p>
          <a:p xmlns:a="http://schemas.openxmlformats.org/drawingml/2006/main">
            <a:r>
              <a:t>适用条件与精确条款见附录B</a:t>
            </a:r>
          </a:p>
          <a:p xmlns:a="http://schemas.openxmlformats.org/drawingml/2006/main">
            <a:r>
              <a:t>https://www.cac.gov.cn/2023-07/13/c_1690898327029107.htm</a:t>
            </a:r>
          </a:p>
          <a:p xmlns:a="http://schemas.openxmlformats.org/drawingml/2006/main">
            <a:r>
              <a:t/>
            </a:r>
          </a:p>
          <a:p xmlns:a="http://schemas.openxmlformats.org/drawingml/2006/main">
            <a:r>
              <a:t>证券基金经营机构信息技术管理办法</a:t>
            </a:r>
          </a:p>
          <a:p xmlns:a="http://schemas.openxmlformats.org/drawingml/2006/main">
            <a:r>
              <a:t>2018-12-19； 修订 2021-01-15</a:t>
            </a:r>
          </a:p>
          <a:p xmlns:a="http://schemas.openxmlformats.org/drawingml/2006/main">
            <a:r>
              <a:t>适用条件与精确条款见附录B</a:t>
            </a:r>
          </a:p>
          <a:p xmlns:a="http://schemas.openxmlformats.org/drawingml/2006/main">
            <a:r>
              <a:t>https://www.csrc.gov.cn/csrc/c106256/c1653896/content.shtml</a:t>
            </a:r>
          </a:p>
          <a:p xmlns:a="http://schemas.openxmlformats.org/drawingml/2006/main">
            <a:r>
              <a:t/>
            </a:r>
          </a:p>
          <a:p xmlns:a="http://schemas.openxmlformats.org/drawingml/2006/main">
            <a:r>
              <a:t>网络数据安全管理条例</a:t>
            </a:r>
          </a:p>
          <a:p xmlns:a="http://schemas.openxmlformats.org/drawingml/2006/main">
            <a:r>
              <a:t>令文日期 2024-09-24； 网信办发布 2024-09-30</a:t>
            </a:r>
          </a:p>
          <a:p xmlns:a="http://schemas.openxmlformats.org/drawingml/2006/main">
            <a:r>
              <a:t>适用条件与精确条款见附录B</a:t>
            </a:r>
          </a:p>
          <a:p xmlns:a="http://schemas.openxmlformats.org/drawingml/2006/main">
            <a:r>
              <a:t>https://www.cac.gov.cn/2024-09/30/c_1729384452307680.htm</a:t>
            </a:r>
          </a:p>
          <a:p xmlns:a="http://schemas.openxmlformats.org/drawingml/2006/main">
            <a:r>
              <a:t/>
            </a:r>
          </a:p>
          <a:p xmlns:a="http://schemas.openxmlformats.org/drawingml/2006/main">
            <a:r>
              <a:t>证券期货业网络和信息安全管理办法</a:t>
            </a:r>
          </a:p>
          <a:p xmlns:a="http://schemas.openxmlformats.org/drawingml/2006/main">
            <a:r>
              <a:t>令文日期 2023-02-27； 发布 2023-03-03</a:t>
            </a:r>
          </a:p>
          <a:p xmlns:a="http://schemas.openxmlformats.org/drawingml/2006/main">
            <a:r>
              <a:t>适用条件与精确条款见附录B</a:t>
            </a:r>
          </a:p>
          <a:p xmlns:a="http://schemas.openxmlformats.org/drawingml/2006/main">
            <a:r>
              <a:t>https://www.csrc.gov.cn/csrc/c101953/c7202800/7202800/files/%E9%99%84%E4%BB%B61%EF%BC%9A%E8%AF%81%E5%88%B8%E6%9C%9F%E8%B4%A7%E4%B8%9A%E7%BD%91%E7%BB%9C%E5%92%8C%E4%BF%A1%E6%81%AF%E5%AE%89%E5%85%A8%E7%AE%A1%E7%90%86%E5%8A%9E%E6%B3%95.pdf</a:t>
            </a:r>
          </a:p>
          <a:p xmlns:a="http://schemas.openxmlformats.org/drawingml/2006/main">
            <a:r>
              <a:t/>
            </a:r>
          </a:p>
          <a:p xmlns:a="http://schemas.openxmlformats.org/drawingml/2006/main">
            <a:r>
              <a:t>促进和规范数据跨境流动规定</a:t>
            </a:r>
          </a:p>
          <a:p xmlns:a="http://schemas.openxmlformats.org/drawingml/2006/main">
            <a:r>
              <a:t>2024-03-22</a:t>
            </a:r>
          </a:p>
          <a:p xmlns:a="http://schemas.openxmlformats.org/drawingml/2006/main">
            <a:r>
              <a:t>适用条件与精确条款见附录B</a:t>
            </a:r>
          </a:p>
          <a:p xmlns:a="http://schemas.openxmlformats.org/drawingml/2006/main">
            <a:r>
              <a:t>https://www.cac.gov.cn/2024-03/22/c_1712776611775634.htm</a:t>
            </a:r>
          </a:p>
          <a:p xmlns:a="http://schemas.openxmlformats.org/drawingml/2006/main">
            <a:r>
              <a:t/>
            </a:r>
          </a:p>
          <a:p xmlns:a="http://schemas.openxmlformats.org/drawingml/2006/main">
            <a:r>
              <a:t>人工智能生成合成内容标识办法</a:t>
            </a:r>
          </a:p>
          <a:p xmlns:a="http://schemas.openxmlformats.org/drawingml/2006/main">
            <a:r>
              <a:t>2025-03-07</a:t>
            </a:r>
          </a:p>
          <a:p xmlns:a="http://schemas.openxmlformats.org/drawingml/2006/main">
            <a:r>
              <a:t>适用条件与精确条款见附录B</a:t>
            </a:r>
          </a:p>
          <a:p xmlns:a="http://schemas.openxmlformats.org/drawingml/2006/main">
            <a:r>
              <a:t>https://www.cac.gov.cn/2025-03/14/c_1743654684782215.htm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同业案例已提供明确的应用方向和技术流程。本项目应推进本地部署，以金融文本处理验证模型，并重点开发LLM辅助量化应用。</a:t>
            </a:r>
          </a:p>
          <a:p xmlns:a="http://schemas.openxmlformats.org/drawingml/2006/main">
            <a:r>
              <a:t/>
            </a:r>
          </a:p>
          <a:p xmlns:a="http://schemas.openxmlformats.org/drawingml/2006/main">
            <a:r>
              <a:t>建议首先开发公告事件提取原型，由模型整理事件、状态、数量和原文依据，接入研究数据集。这项任务能够直接连接语言理解能力与量化团队的数据需求。</a:t>
            </a:r>
          </a:p>
          <a:p xmlns:a="http://schemas.openxmlformats.org/drawingml/2006/main">
            <a:r>
              <a:t/>
            </a:r>
          </a:p>
          <a:p xmlns:a="http://schemas.openxmlformats.org/drawingml/2006/main">
            <a:r>
              <a:t>在此基础上增加因子表达式和代码生成，通过现有计算与回测工具检验方案，形成能够根据结果修订假设的研究Agent。只读查询和资料问答可以复用相同的模型服务与工具接口。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按项目计划，下一阶段比较5至8个开放模型，并在本地GPU上部署一个模型完成金融文本任务。通过统一接口提供相同输入与工具，比较本地与API模型的准确率、延迟、资源占用和人工修订时间。</a:t>
            </a:r>
          </a:p>
          <a:p xmlns:a="http://schemas.openxmlformats.org/drawingml/2006/main">
            <a:r>
              <a:t/>
            </a:r>
          </a:p>
          <a:p xmlns:a="http://schemas.openxmlformats.org/drawingml/2006/main">
            <a:r>
              <a:t>阶段交付包括模型比较结果、可运行的本地原型、工具接口设计与评测记录。后续三年TCO分析据此核算设备、API、接入、运维与人工成本。</a:t>
            </a:r>
          </a:p>
          <a:p xmlns:a="http://schemas.openxmlformats.org/drawingml/2006/main">
            <a:r>
              <a:t/>
            </a:r>
          </a:p>
          <a:p xmlns:a="http://schemas.openxmlformats.org/drawingml/2006/main">
            <a:r>
              <a:t>以具体任务推进实施，将本次行业调研转化为量化部门可使用的研究能力。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易方达：指数查询与联合研究。主要产物为接口参数、数据答复、事件清单与行业排序。技术与合作信息为Index-Hub查询客户端、高校联合MENTOR研究。</a:t>
            </a:r>
          </a:p>
          <a:p xmlns:a="http://schemas.openxmlformats.org/drawingml/2006/main">
            <a:r>
              <a:t/>
            </a:r>
          </a:p>
          <a:p xmlns:a="http://schemas.openxmlformats.org/drawingml/2006/main">
            <a:r>
              <a:t>华夏：大模型安全网关。主要产物为2025年采购结果。技术与合作信息为北京世纪东凌中标。</a:t>
            </a:r>
          </a:p>
          <a:p xmlns:a="http://schemas.openxmlformats.org/drawingml/2006/main">
            <a:r>
              <a:t/>
            </a:r>
          </a:p>
          <a:p xmlns:a="http://schemas.openxmlformats.org/drawingml/2006/main">
            <a:r>
              <a:t>广发：理财问答与文本因子。主要产物为理财答复、另类因子研究。技术与合作信息为DeepSeek、Qwen、2026年媒体调研。</a:t>
            </a:r>
          </a:p>
          <a:p xmlns:a="http://schemas.openxmlformats.org/drawingml/2006/main">
            <a:r>
              <a:t/>
            </a:r>
          </a:p>
          <a:p xmlns:a="http://schemas.openxmlformats.org/drawingml/2006/main">
            <a:r>
              <a:t>富国：研报归纳与因子评价。主要产物为市场观点、知识答案、政策因子与评价意见。技术与合作信息为本地LLM与RAG、Ray、ClickHouse。</a:t>
            </a:r>
          </a:p>
          <a:p xmlns:a="http://schemas.openxmlformats.org/drawingml/2006/main">
            <a:r>
              <a:t/>
            </a:r>
          </a:p>
          <a:p xmlns:a="http://schemas.openxmlformats.org/drawingml/2006/main">
            <a:r>
              <a:t>南方：需求解析与查询编排。主要产物为工作流、SQL、业务答复。技术与合作信息为智能体、API、Python、系统权限控制。</a:t>
            </a:r>
          </a:p>
          <a:p xmlns:a="http://schemas.openxmlformats.org/drawingml/2006/main">
            <a:r>
              <a:t/>
            </a:r>
          </a:p>
          <a:p xmlns:a="http://schemas.openxmlformats.org/drawingml/2006/main">
            <a:r>
              <a:t>汇添富：风险邮件与条款问答。主要产物为风险信息、条款答复、拦截依据。技术与合作信息为DeepSeek-R1、QianWen、与规则平台配合。</a:t>
            </a:r>
          </a:p>
          <a:p xmlns:a="http://schemas.openxmlformats.org/drawingml/2006/main">
            <a:r>
              <a:t/>
            </a:r>
          </a:p>
          <a:p xmlns:a="http://schemas.openxmlformats.org/drawingml/2006/main">
            <a:r>
              <a:t>景顺长城：文档处理与资料检索。主要产物为文档与知识应用。技术与合作信息为本地模型、文字识别、向量与检索重排。</a:t>
            </a:r>
          </a:p>
          <a:p xmlns:a="http://schemas.openxmlformats.org/drawingml/2006/main">
            <a:r>
              <a:t/>
            </a:r>
          </a:p>
          <a:p xmlns:a="http://schemas.openxmlformats.org/drawingml/2006/main">
            <a:r>
              <a:t>公司规模采用同一季度末非货公募口径，剔除ETF联接基金。历史采购、2025年案例与联合研究已分别注明。</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『基金行业金融科技获奖成果宣传活动』易方达基金：基于数智赋能的指数业务一体化平台</a:t>
            </a:r>
          </a:p>
          <a:p xmlns:a="http://schemas.openxmlformats.org/drawingml/2006/main">
            <a:r>
              <a:t>2026年1月协会案例；PDF未注明修订日期</a:t>
            </a:r>
          </a:p>
          <a:p xmlns:a="http://schemas.openxmlformats.org/drawingml/2006/main">
            <a:r>
              <a:t>指数业务一体化平台与模型应用</a:t>
            </a:r>
          </a:p>
          <a:p xmlns:a="http://schemas.openxmlformats.org/drawingml/2006/main">
            <a:r>
              <a:t>https://www.amac.org.cn/xwfb/hydt/202601/P020260202337819827722.pdf</a:t>
            </a:r>
          </a:p>
          <a:p xmlns:a="http://schemas.openxmlformats.org/drawingml/2006/main">
            <a:r>
              <a:t/>
            </a:r>
          </a:p>
          <a:p xmlns:a="http://schemas.openxmlformats.org/drawingml/2006/main">
            <a:r>
              <a:t>指数直通车 Index-Hub Skills：官方查询客户端与接口文档</a:t>
            </a:r>
          </a:p>
          <a:p xmlns:a="http://schemas.openxmlformats.org/drawingml/2006/main">
            <a:r>
              <a:t>代码快照，版本见提交号</a:t>
            </a:r>
          </a:p>
          <a:p xmlns:a="http://schemas.openxmlformats.org/drawingml/2006/main">
            <a:r>
              <a:t>固定提交1058e1b；查询客户端与接口文档</a:t>
            </a:r>
          </a:p>
          <a:p xmlns:a="http://schemas.openxmlformats.org/drawingml/2006/main">
            <a:r>
              <a:t>https://github.com/EFundAI/index-hub-skills/tree/1058e1bfdaaf3dc1ee025ba2d2e19ea000657fd4</a:t>
            </a:r>
          </a:p>
          <a:p xmlns:a="http://schemas.openxmlformats.org/drawingml/2006/main">
            <a:r>
              <a:t/>
            </a:r>
          </a:p>
          <a:p xmlns:a="http://schemas.openxmlformats.org/drawingml/2006/main">
            <a:r>
              <a:t>MENTOR: a multi-agent framework for event and narrative trend prediction with optimized reasoning</a:t>
            </a:r>
          </a:p>
          <a:p xmlns:a="http://schemas.openxmlformats.org/drawingml/2006/main">
            <a:r>
              <a:t>2025，26(10):1847–1861</a:t>
            </a:r>
          </a:p>
          <a:p xmlns:a="http://schemas.openxmlformats.org/drawingml/2006/main">
            <a:r>
              <a:t>PDF第8–11页及表3；方法与行业排序结果</a:t>
            </a:r>
          </a:p>
          <a:p xmlns:a="http://schemas.openxmlformats.org/drawingml/2006/main">
            <a:r>
              <a:t>https://doi.org/10.1631/FITEE.2500608</a:t>
            </a:r>
          </a:p>
          <a:p xmlns:a="http://schemas.openxmlformats.org/drawingml/2006/main">
            <a:r>
              <a:t/>
            </a:r>
          </a:p>
          <a:p xmlns:a="http://schemas.openxmlformats.org/drawingml/2006/main">
            <a:r>
              <a:t>关于华夏基金管理有限公司采购结果的公告</a:t>
            </a:r>
          </a:p>
          <a:p xmlns:a="http://schemas.openxmlformats.org/drawingml/2006/main">
            <a:r>
              <a:t>2025-12-31；历史采购证据</a:t>
            </a:r>
          </a:p>
          <a:p xmlns:a="http://schemas.openxmlformats.org/drawingml/2006/main">
            <a:r>
              <a:t>大模型安全网关采购结果公告</a:t>
            </a:r>
          </a:p>
          <a:p xmlns:a="http://schemas.openxmlformats.org/drawingml/2006/main">
            <a:r>
              <a:t>https://www.chinaamc.com/upload/resources/file/2025/12/31/442744.pdf</a:t>
            </a:r>
          </a:p>
          <a:p xmlns:a="http://schemas.openxmlformats.org/drawingml/2006/main">
            <a:r>
              <a:t/>
            </a:r>
          </a:p>
          <a:p xmlns:a="http://schemas.openxmlformats.org/drawingml/2006/main">
            <a:r>
              <a:t>广发基金智能理财助理服务协议</a:t>
            </a:r>
          </a:p>
          <a:p xmlns:a="http://schemas.openxmlformats.org/drawingml/2006/main">
            <a:r>
              <a:t>协议未注明发布日期</a:t>
            </a:r>
          </a:p>
          <a:p xmlns:a="http://schemas.openxmlformats.org/drawingml/2006/main">
            <a:r>
              <a:t>智能理财助理服务协议与所用模型</a:t>
            </a:r>
          </a:p>
          <a:p xmlns:a="http://schemas.openxmlformats.org/drawingml/2006/main">
            <a:r>
              <a:t>https://cdnwww.gffunds.com.cn/gfjjnew/jjgg/lsgg/202603/W020260327646002876113.pdf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『基金行业金融科技发展奖』富国基金：指数基金智能投资决策系统</a:t>
            </a:r>
          </a:p>
          <a:p xmlns:a="http://schemas.openxmlformats.org/drawingml/2006/main">
            <a:r>
              <a:t>2026-01-19协会目录；PDF未注明日期</a:t>
            </a:r>
          </a:p>
          <a:p xmlns:a="http://schemas.openxmlformats.org/drawingml/2006/main">
            <a:r>
              <a:t>PDF第8–9页；本地RAG、市场观点与因子辅助评价</a:t>
            </a:r>
          </a:p>
          <a:p xmlns:a="http://schemas.openxmlformats.org/drawingml/2006/main">
            <a:r>
              <a:t>https://www.amac.org.cn/xwfb/hydt/202601/P020260202337808067241.pdf</a:t>
            </a:r>
          </a:p>
          <a:p xmlns:a="http://schemas.openxmlformats.org/drawingml/2006/main">
            <a:r>
              <a:t/>
            </a:r>
          </a:p>
          <a:p xmlns:a="http://schemas.openxmlformats.org/drawingml/2006/main">
            <a:r>
              <a:t>『基金行业金融科技获奖成果宣传活动』南方基金：基于多智能体协同的交易助理</a:t>
            </a:r>
          </a:p>
          <a:p xmlns:a="http://schemas.openxmlformats.org/drawingml/2006/main">
            <a:r>
              <a:t>2026-01-23协会目录；PDF未注明修订日期</a:t>
            </a:r>
          </a:p>
          <a:p xmlns:a="http://schemas.openxmlformats.org/drawingml/2006/main">
            <a:r>
              <a:t>PDF第4–8页，尤其第5–6页NL2SQL及权限检查</a:t>
            </a:r>
          </a:p>
          <a:p xmlns:a="http://schemas.openxmlformats.org/drawingml/2006/main">
            <a:r>
              <a:t>https://www.amac.org.cn/xwfb/hydt/202601/P020260202337849876845.pdf</a:t>
            </a:r>
          </a:p>
          <a:p xmlns:a="http://schemas.openxmlformats.org/drawingml/2006/main">
            <a:r>
              <a:t/>
            </a:r>
          </a:p>
          <a:p xmlns:a="http://schemas.openxmlformats.org/drawingml/2006/main">
            <a:r>
              <a:t>『基金行业金融科技获奖成果宣传活动』汇添富基金：智汇投资风险管理平台</a:t>
            </a:r>
          </a:p>
          <a:p xmlns:a="http://schemas.openxmlformats.org/drawingml/2006/main">
            <a:r>
              <a:t>2026-01-27协会目录；PDF未注明修订日期</a:t>
            </a:r>
          </a:p>
          <a:p xmlns:a="http://schemas.openxmlformats.org/drawingml/2006/main">
            <a:r>
              <a:t>PDF第5–11页；风险邮件提取、条款问答与规则平台</a:t>
            </a:r>
          </a:p>
          <a:p xmlns:a="http://schemas.openxmlformats.org/drawingml/2006/main">
            <a:r>
              <a:t>https://www.amac.org.cn/xwfb/hydt/202601/P020260202337837900594.pdf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嘉实：ESG数据与研究。主要产物为ESG数据支持。技术与合作信息为可持续投资报告、LLM与其他AI未细分。</a:t>
            </a:r>
          </a:p>
          <a:p xmlns:a="http://schemas.openxmlformats.org/drawingml/2006/main">
            <a:r>
              <a:t/>
            </a:r>
          </a:p>
          <a:p xmlns:a="http://schemas.openxmlformats.org/drawingml/2006/main">
            <a:r>
              <a:t>博时：BSBox研究工具调用。主要产物为可复用任务与工具结果。技术与合作信息为内部模型、独立环境、研究协作与审计。</a:t>
            </a:r>
          </a:p>
          <a:p xmlns:a="http://schemas.openxmlformats.org/drawingml/2006/main">
            <a:r>
              <a:t/>
            </a:r>
          </a:p>
          <a:p xmlns:a="http://schemas.openxmlformats.org/drawingml/2006/main">
            <a:r>
              <a:t>鹏华：知识整理与材料审核。主要产物为标签、摘要、知识答案、修改建议。技术与合作信息为私有模型、RAG、7类71项审核规则。</a:t>
            </a:r>
          </a:p>
          <a:p xmlns:a="http://schemas.openxmlformats.org/drawingml/2006/main">
            <a:r>
              <a:t/>
            </a:r>
          </a:p>
          <a:p xmlns:a="http://schemas.openxmlformats.org/drawingml/2006/main">
            <a:r>
              <a:t>招商：个股分析与财报点评。主要产物为分析和信息提取结果。技术与合作信息为多个业务工作流、信息提取模型。</a:t>
            </a:r>
          </a:p>
          <a:p xmlns:a="http://schemas.openxmlformats.org/drawingml/2006/main">
            <a:r>
              <a:t/>
            </a:r>
          </a:p>
          <a:p xmlns:a="http://schemas.openxmlformats.org/drawingml/2006/main">
            <a:r>
              <a:t>国泰：组合平台资料查询。主要产物为资料查询与知识答复。技术与合作信息为Atlas 910B、DeepSeek、另有BERT文本模块。</a:t>
            </a:r>
          </a:p>
          <a:p xmlns:a="http://schemas.openxmlformats.org/drawingml/2006/main">
            <a:r>
              <a:t/>
            </a:r>
          </a:p>
          <a:p xmlns:a="http://schemas.openxmlformats.org/drawingml/2006/main">
            <a:r>
              <a:t>永赢：安全GPT反钓鱼。主要产物为邮件安全识别结果。技术与合作信息为2026年公司案例。</a:t>
            </a:r>
          </a:p>
          <a:p xmlns:a="http://schemas.openxmlformats.org/drawingml/2006/main">
            <a:r>
              <a:t/>
            </a:r>
          </a:p>
          <a:p xmlns:a="http://schemas.openxmlformats.org/drawingml/2006/main">
            <a:r>
              <a:t>工银瑞信：养老金运营、历史FundGPT服务。主要产物为运营平台与研究服务。技术与合作信息为历史合作：恒生聚源、工银科技、智谱AI。</a:t>
            </a:r>
          </a:p>
          <a:p xmlns:a="http://schemas.openxmlformats.org/drawingml/2006/main">
            <a:r>
              <a:t/>
            </a:r>
          </a:p>
          <a:p xmlns:a="http://schemas.openxmlformats.org/drawingml/2006/main">
            <a:r>
              <a:t>公司规模采用同一季度末非货公募口径，剔除ETF联接基金。历史采购、2025年案例与联合研究已分别注明。</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嘉实基金2025可持续投资报告</a:t>
            </a:r>
          </a:p>
          <a:p xmlns:a="http://schemas.openxmlformats.org/drawingml/2006/main">
            <a:r>
              <a:t>2025报告期；发布日期未独立确认</a:t>
            </a:r>
          </a:p>
          <a:p xmlns:a="http://schemas.openxmlformats.org/drawingml/2006/main">
            <a:r>
              <a:t>嘉实可持续投资报告；ESG数据与AI/NLP应用</a:t>
            </a:r>
          </a:p>
          <a:p xmlns:a="http://schemas.openxmlformats.org/drawingml/2006/main">
            <a:r>
              <a:t>https://www.jsfund.cn/ueditor/jsp/upload/file/20260331/1774939300245008932.pdf</a:t>
            </a:r>
          </a:p>
          <a:p xmlns:a="http://schemas.openxmlformats.org/drawingml/2006/main">
            <a:r>
              <a:t/>
            </a:r>
          </a:p>
          <a:p xmlns:a="http://schemas.openxmlformats.org/drawingml/2006/main">
            <a:r>
              <a:t>智启金融新范式，博时前瞻布局企业级“龙虾”生态，赋能资管全链条</a:t>
            </a:r>
          </a:p>
          <a:p xmlns:a="http://schemas.openxmlformats.org/drawingml/2006/main">
            <a:r>
              <a:t>2026-04-30</a:t>
            </a:r>
          </a:p>
          <a:p xmlns:a="http://schemas.openxmlformats.org/drawingml/2006/main">
            <a:r>
              <a:t>博时BSBox报道；工具与运行环境</a:t>
            </a:r>
          </a:p>
          <a:p xmlns:a="http://schemas.openxmlformats.org/drawingml/2006/main">
            <a:r>
              <a:t>https://finance.sina.com.cn/money/fund/jjh/2026-04-30/doc-inhwfyep1330822.shtml</a:t>
            </a:r>
          </a:p>
          <a:p xmlns:a="http://schemas.openxmlformats.org/drawingml/2006/main">
            <a:r>
              <a:t/>
            </a:r>
          </a:p>
          <a:p xmlns:a="http://schemas.openxmlformats.org/drawingml/2006/main">
            <a:r>
              <a:t>『基金行业金融科技获奖成果宣传活动』鹏华基金：基于动态思维链的资管业务智能体建设</a:t>
            </a:r>
          </a:p>
          <a:p xmlns:a="http://schemas.openxmlformats.org/drawingml/2006/main">
            <a:r>
              <a:t>2026-01-27协会目录；PDF未注明日期</a:t>
            </a:r>
          </a:p>
          <a:p xmlns:a="http://schemas.openxmlformats.org/drawingml/2006/main">
            <a:r>
              <a:t>PDF第3–6页；Prompt治理、RAG与营销材料审核</a:t>
            </a:r>
          </a:p>
          <a:p xmlns:a="http://schemas.openxmlformats.org/drawingml/2006/main">
            <a:r>
              <a:t>https://www.amac.org.cn/xwfb/hydt/202601/P020260202337850951100.pdf</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『基金行业金融科技获奖成果宣传活动』国泰基金：基金组合管理平台建设</a:t>
            </a:r>
          </a:p>
          <a:p xmlns:a="http://schemas.openxmlformats.org/drawingml/2006/main">
            <a:r>
              <a:t>2026年1月协会案例；PDF未注明日期</a:t>
            </a:r>
          </a:p>
          <a:p xmlns:a="http://schemas.openxmlformats.org/drawingml/2006/main">
            <a:r>
              <a:t>国泰组合平台；DeepSeek与文本处理模块</a:t>
            </a:r>
          </a:p>
          <a:p xmlns:a="http://schemas.openxmlformats.org/drawingml/2006/main">
            <a:r>
              <a:t>https://www.amac.org.cn/xwfb/hydt/202601/P020260202337808791393.pdf</a:t>
            </a:r>
          </a:p>
          <a:p xmlns:a="http://schemas.openxmlformats.org/drawingml/2006/main">
            <a:r>
              <a:t/>
            </a:r>
          </a:p>
          <a:p xmlns:a="http://schemas.openxmlformats.org/drawingml/2006/main">
            <a:r>
              <a:t>AI筑牢邮件安全防线 永赢基金以大模型守护金融数字资产</a:t>
            </a:r>
          </a:p>
          <a:p xmlns:a="http://schemas.openxmlformats.org/drawingml/2006/main">
            <a:r>
              <a:t>2026-07-01协会目录；PDF未注明日期</a:t>
            </a:r>
          </a:p>
          <a:p xmlns:a="http://schemas.openxmlformats.org/drawingml/2006/main">
            <a:r>
              <a:t>永赢安全GPT邮件反钓鱼应用</a:t>
            </a:r>
          </a:p>
          <a:p xmlns:a="http://schemas.openxmlformats.org/drawingml/2006/main">
            <a:r>
              <a:t>https://www.amac.org.cn/xwfb/hydt/202607/P020260701319545695145.pdf</a:t>
            </a:r>
          </a:p>
          <a:p xmlns:a="http://schemas.openxmlformats.org/drawingml/2006/main">
            <a:r>
              <a:t/>
            </a:r>
          </a:p>
          <a:p xmlns:a="http://schemas.openxmlformats.org/drawingml/2006/main">
            <a:r>
              <a:t>『基金行业金融科技获奖成果宣传活动』工银瑞信基金：基于人工智能的一站式养老金投资运营管理平台</a:t>
            </a:r>
          </a:p>
          <a:p xmlns:a="http://schemas.openxmlformats.org/drawingml/2006/main">
            <a:r>
              <a:t>2026-01-21协会目录；PDF未注明日期</a:t>
            </a:r>
          </a:p>
          <a:p xmlns:a="http://schemas.openxmlformats.org/drawingml/2006/main">
            <a:r>
              <a:t>工银瑞信养老金运营管理平台</a:t>
            </a:r>
          </a:p>
          <a:p xmlns:a="http://schemas.openxmlformats.org/drawingml/2006/main">
            <a:r>
              <a:t>https://www.amac.org.cn/xwfb/hydt/202601/P020260202337848496316.pdf</a:t>
            </a:r>
          </a:p>
          <a:p xmlns:a="http://schemas.openxmlformats.org/drawingml/2006/main">
            <a:r>
              <a:t/>
            </a:r>
          </a:p>
          <a:p xmlns:a="http://schemas.openxmlformats.org/drawingml/2006/main">
            <a:r>
              <a:t>恒生电子2023可持续发展报告</a:t>
            </a:r>
          </a:p>
          <a:p xmlns:a="http://schemas.openxmlformats.org/drawingml/2006/main">
            <a:r>
              <a:t>2023报告期；历史合作证据</a:t>
            </a:r>
          </a:p>
          <a:p xmlns:a="http://schemas.openxmlformats.org/drawingml/2006/main">
            <a:r>
              <a:t>恒生电子可持续发展报告；FundGPT相关合作方</a:t>
            </a:r>
          </a:p>
          <a:p xmlns:a="http://schemas.openxmlformats.org/drawingml/2006/main">
            <a:r>
              <a:t>https://static.cninfo.com.cn/finalpage/2024-03-25/1219392176.PDF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天弘：研究任务与财务分析。主要产物为归因框架与研究答复。技术与合作信息为FinAgent、Wind、同花顺等工具。</a:t>
            </a:r>
          </a:p>
          <a:p xmlns:a="http://schemas.openxmlformats.org/drawingml/2006/main">
            <a:r>
              <a:t/>
            </a:r>
          </a:p>
          <a:p xmlns:a="http://schemas.openxmlformats.org/drawingml/2006/main">
            <a:r>
              <a:t>中欧：研究Skills协作。主要产物为数据、建模与报告。技术与合作信息为100余项Skills、2026年报道。</a:t>
            </a:r>
          </a:p>
          <a:p xmlns:a="http://schemas.openxmlformats.org/drawingml/2006/main">
            <a:r>
              <a:t/>
            </a:r>
          </a:p>
          <a:p xmlns:a="http://schemas.openxmlformats.org/drawingml/2006/main">
            <a:r>
              <a:t>华安：灵思资料与知识应用。主要产物为资料处理与知识应用。技术与合作信息为2025年本地与API方案、Qwen、DeepSeek-R1。</a:t>
            </a:r>
          </a:p>
          <a:p xmlns:a="http://schemas.openxmlformats.org/drawingml/2006/main">
            <a:r>
              <a:t/>
            </a:r>
          </a:p>
          <a:p xmlns:a="http://schemas.openxmlformats.org/drawingml/2006/main">
            <a:r>
              <a:t>华泰柏瑞：文本与量化信号结合。主要产物为结构化信息与研究支持。技术与合作信息为全链路投研系统、自主回测Agent为展望。</a:t>
            </a:r>
          </a:p>
          <a:p xmlns:a="http://schemas.openxmlformats.org/drawingml/2006/main">
            <a:r>
              <a:t/>
            </a:r>
          </a:p>
          <a:p xmlns:a="http://schemas.openxmlformats.org/drawingml/2006/main">
            <a:r>
              <a:t>兴证全球：固收交易信息处理。主要产物为交易文本提取结果。技术与合作信息为QTrade、iDeal、具体LLM模块未明确。</a:t>
            </a:r>
          </a:p>
          <a:p xmlns:a="http://schemas.openxmlformats.org/drawingml/2006/main">
            <a:r>
              <a:t/>
            </a:r>
          </a:p>
          <a:p xmlns:a="http://schemas.openxmlformats.org/drawingml/2006/main">
            <a:r>
              <a:t>平安：AI青蚨资料整理。主要产物为可追溯的研究内容。技术与合作信息为检索与可追溯输出、2026年报道。</a:t>
            </a:r>
          </a:p>
          <a:p xmlns:a="http://schemas.openxmlformats.org/drawingml/2006/main">
            <a:r>
              <a:t/>
            </a:r>
          </a:p>
          <a:p xmlns:a="http://schemas.openxmlformats.org/drawingml/2006/main">
            <a:r>
              <a:t>大成：固收交易要素提取。主要产物为供交易系统使用的要素。技术与合作信息为Qwen2.5与固收系统衔接。</a:t>
            </a:r>
          </a:p>
          <a:p xmlns:a="http://schemas.openxmlformats.org/drawingml/2006/main">
            <a:r>
              <a:t/>
            </a:r>
          </a:p>
          <a:p xmlns:a="http://schemas.openxmlformats.org/drawingml/2006/main">
            <a:r>
              <a:t>公司规模采用同一季度末非货公募口径，剔除ETF联接基金。历史采购、2025年案例与联合研究已分别注明。</a:t>
            </a:r>
          </a:p>
          <a:p xmlns:a="http://schemas.openxmlformats.org/drawingml/2006/main">
            <a:r>
              <a:t/>
            </a:r>
          </a:p>
          <a:p xmlns:a="http://schemas.openxmlformats.org/drawingml/2006/main">
            <a:r>
              <a:t>参考资料</a:t>
            </a:r>
          </a:p>
          <a:p xmlns:a="http://schemas.openxmlformats.org/drawingml/2006/main">
            <a:r>
              <a:t>公募非货规模最新座次出炉，万亿公募增至3家，中段座次重排</a:t>
            </a:r>
          </a:p>
          <a:p xmlns:a="http://schemas.openxmlformats.org/drawingml/2006/main">
            <a:r>
              <a:t>2026-07-21</a:t>
            </a:r>
          </a:p>
          <a:p xmlns:a="http://schemas.openxmlformats.org/drawingml/2006/main">
            <a:r>
              <a:t>财联社；2026Q2非货公募规模，剔除ETF联接基金</a:t>
            </a:r>
          </a:p>
          <a:p xmlns:a="http://schemas.openxmlformats.org/drawingml/2006/main">
            <a:r>
              <a:t>https://www.cls.cn/detail/2432695</a:t>
            </a:r>
          </a:p>
          <a:p xmlns:a="http://schemas.openxmlformats.org/drawingml/2006/main">
            <a:r>
              <a:t/>
            </a:r>
          </a:p>
          <a:p xmlns:a="http://schemas.openxmlformats.org/drawingml/2006/main">
            <a:r>
              <a:t>『基金行业金融科技发展奖』天弘基金：基于大模型的 FinAgent 金融智能体系统</a:t>
            </a:r>
          </a:p>
          <a:p xmlns:a="http://schemas.openxmlformats.org/drawingml/2006/main">
            <a:r>
              <a:t>2026-01-19协会目录；PDF未注明日期</a:t>
            </a:r>
          </a:p>
          <a:p xmlns:a="http://schemas.openxmlformats.org/drawingml/2006/main">
            <a:r>
              <a:t>PDF第4–7页；FinAgent分层与业务拆解</a:t>
            </a:r>
          </a:p>
          <a:p xmlns:a="http://schemas.openxmlformats.org/drawingml/2006/main">
            <a:r>
              <a:t>https://www.amac.org.cn/xwfb/hydt/202601/P020260202337562370809.pdf</a:t>
            </a:r>
          </a:p>
          <a:p xmlns:a="http://schemas.openxmlformats.org/drawingml/2006/main">
            <a:r>
              <a:t/>
            </a:r>
          </a:p>
          <a:p xmlns:a="http://schemas.openxmlformats.org/drawingml/2006/main">
            <a:r>
              <a:t>中欧基金窦玉明：AI赋能时代，「三化」协同夯实长期业绩根基</a:t>
            </a:r>
          </a:p>
          <a:p xmlns:a="http://schemas.openxmlformats.org/drawingml/2006/main">
            <a:r>
              <a:t>2026-06-01</a:t>
            </a:r>
          </a:p>
          <a:p xmlns:a="http://schemas.openxmlformats.org/drawingml/2006/main">
            <a:r>
              <a:t>中欧公众号转载中国基金报；Skills与投研协作</a:t>
            </a:r>
          </a:p>
          <a:p xmlns:a="http://schemas.openxmlformats.org/drawingml/2006/main">
            <a:r>
              <a:t>https://mp.weixin.qq.com/s/rgMRw8HbZUhiu9PkUBM7vA</a:t>
            </a:r>
          </a:p>
          <a:p xmlns:a="http://schemas.openxmlformats.org/drawingml/2006/main">
            <a:r>
              <a:t/>
            </a:r>
          </a:p>
          <a:p xmlns:a="http://schemas.openxmlformats.org/drawingml/2006/main">
            <a:r>
              <a:t>公募基金AI部署走到哪一步了？20家头部公募AI部署全景调研</a:t>
            </a:r>
          </a:p>
          <a:p xmlns:a="http://schemas.openxmlformats.org/drawingml/2006/main">
            <a:r>
              <a:t>2026-08-20</a:t>
            </a:r>
          </a:p>
          <a:p xmlns:a="http://schemas.openxmlformats.org/drawingml/2006/main">
            <a:r>
              <a:t>中国基金报20家基金公司AI应用调研</a:t>
            </a:r>
          </a:p>
          <a:p xmlns:a="http://schemas.openxmlformats.org/drawingml/2006/main">
            <a:r>
              <a:t>https://www.chnfund.com/article/AR99eb77fa-e926-d40e-abb2-3a232d36f0d0</a:t>
            </a:r>
          </a:p>
          <a:p xmlns:a="http://schemas.openxmlformats.org/drawingml/2006/main">
            <a:r>
              <a:t/>
            </a:r>
          </a:p>
          <a:p xmlns:a="http://schemas.openxmlformats.org/drawingml/2006/main">
            <a:r>
              <a:t>2025 CCF企业数字化发展推荐案例集 — 华安基金管理有限公司——华安“灵思”AI智能创新平台</a:t>
            </a:r>
          </a:p>
          <a:p xmlns:a="http://schemas.openxmlformats.org/drawingml/2006/main">
            <a:r>
              <a:t>2025版案例集；历史补充</a:t>
            </a:r>
          </a:p>
          <a:p xmlns:a="http://schemas.openxmlformats.org/drawingml/2006/main">
            <a:r>
              <a:t>华安“灵思”；本地与API混合平台</a:t>
            </a:r>
          </a:p>
          <a:p xmlns:a="http://schemas.openxmlformats.org/drawingml/2006/main">
            <a:r>
              <a:t>https://edc-book.ccf.org.cn/%E3%80%8A2025CCF%E4%BC%81%E4%B8%9A%E6%95%B0%E5%AD%97%E5%8C%96%E5%8F%91%E5%B1%95%E6%8E%A8%E8%8D%90%E6%A1%88%E4%BE%8B%E9%9B%86%E3%80%8B.pdf</a:t>
            </a:r>
          </a:p>
          <a:p xmlns:a="http://schemas.openxmlformats.org/drawingml/2006/main">
            <a:r>
              <a:t/>
            </a:r>
          </a:p>
          <a:p xmlns:a="http://schemas.openxmlformats.org/drawingml/2006/main">
            <a:r>
              <a:t>华泰柏瑞量化团队：“人机协同”迈入深水区，AI投研构筑长期护城河</a:t>
            </a:r>
          </a:p>
          <a:p xmlns:a="http://schemas.openxmlformats.org/drawingml/2006/main">
            <a:r>
              <a:t>2026-09-03</a:t>
            </a:r>
          </a:p>
          <a:p xmlns:a="http://schemas.openxmlformats.org/drawingml/2006/main">
            <a:r>
              <a:t>中国证券报原刊；文本处理与量化研究发展方向</a:t>
            </a:r>
          </a:p>
          <a:p xmlns:a="http://schemas.openxmlformats.org/drawingml/2006/main">
            <a:r>
              <a:t>https://mp.weixin.qq.com/s?__biz=MjM5MzMwNjM0MA%3D%3D&amp;idx=2&amp;mid=2651361688&amp;sn=465ee3d543763b18d8ee971802cc5fcb</a:t>
            </a:r>
          </a:p>
          <a:p xmlns:a="http://schemas.openxmlformats.org/drawingml/2006/main">
            <a:r>
              <a:t/>
            </a:r>
          </a:p>
          <a:p xmlns:a="http://schemas.openxmlformats.org/drawingml/2006/main">
            <a:r>
              <a:t>『基金行业金融科技获奖成果宣传活动』兴证全球基金：千询固收智能交易平台</a:t>
            </a:r>
          </a:p>
          <a:p xmlns:a="http://schemas.openxmlformats.org/drawingml/2006/main">
            <a:r>
              <a:t>2026年1月协会案例；PDF未注明日期</a:t>
            </a:r>
          </a:p>
          <a:p xmlns:a="http://schemas.openxmlformats.org/drawingml/2006/main">
            <a:r>
              <a:t>千询固收交易平台与文本处理</a:t>
            </a:r>
          </a:p>
          <a:p xmlns:a="http://schemas.openxmlformats.org/drawingml/2006/main">
            <a:r>
              <a:t>https://www.amac.org.cn/xwfb/hydt/202601/P020260202337841539992.pdf</a:t>
            </a:r>
          </a:p>
          <a:p xmlns:a="http://schemas.openxmlformats.org/drawingml/2006/main">
            <a:r>
              <a:t/>
            </a:r>
          </a:p>
          <a:p xmlns:a="http://schemas.openxmlformats.org/drawingml/2006/main">
            <a:r>
              <a:t>平安基金发布“AI青蚨”：破解数据“沉睡”困局 构建智能投研新范式</a:t>
            </a:r>
          </a:p>
          <a:p xmlns:a="http://schemas.openxmlformats.org/drawingml/2006/main">
            <a:r>
              <a:t>2026-02-06</a:t>
            </a:r>
          </a:p>
          <a:p xmlns:a="http://schemas.openxmlformats.org/drawingml/2006/main">
            <a:r>
              <a:t>中国证券报；平安AI青蚨报道</a:t>
            </a:r>
          </a:p>
          <a:p xmlns:a="http://schemas.openxmlformats.org/drawingml/2006/main">
            <a:r>
              <a:t>https://www.cs.com.cn/ssgs/gsxl/202602/t20260206_6537131.html</a:t>
            </a:r>
          </a:p>
          <a:p xmlns:a="http://schemas.openxmlformats.org/drawingml/2006/main">
            <a:r>
              <a:t/>
            </a:r>
          </a:p>
          <a:p xmlns:a="http://schemas.openxmlformats.org/drawingml/2006/main">
            <a:r>
              <a:t>『基金行业金融科技获奖成果宣传活动』大成基金：固收全链路数智一体化平台</a:t>
            </a:r>
          </a:p>
          <a:p xmlns:a="http://schemas.openxmlformats.org/drawingml/2006/main">
            <a:r>
              <a:t>2026年1月协会案例；PDF未注明日期</a:t>
            </a:r>
          </a:p>
          <a:p xmlns:a="http://schemas.openxmlformats.org/drawingml/2006/main">
            <a:r>
              <a:t>固收平台中的Qwen2.5交易要素提取</a:t>
            </a:r>
          </a:p>
          <a:p xmlns:a="http://schemas.openxmlformats.org/drawingml/2006/main">
            <a:r>
              <a:t>https://www.amac.org.cn/xwfb/hydt/202601/P020260202337853082516.pdf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MENTOR的文本输入包括160,190篇中文KOL帖子与72,108篇英文财经新闻，样本覆盖2023至2024年。A股和美股行情分别来自Wind与Bloomberg，排序评价涉及9个和11个行业。</a:t>
            </a:r>
          </a:p>
          <a:p xmlns:a="http://schemas.openxmlformats.org/drawingml/2006/main">
            <a:r>
              <a:t/>
            </a:r>
          </a:p>
          <a:p xmlns:a="http://schemas.openxmlformats.org/drawingml/2006/main">
            <a:r>
              <a:t>表中MENTOR在两市场的行业排序相关性均超过基线。不同模型的目标存在取舍，A股O1版本的前3命中率低于DeepSeek版本与动量。复现需要取得版权数据、统一正文与补充材料的数据描述，并检查预训练数据与样本时段重合。</a:t>
            </a:r>
          </a:p>
          <a:p xmlns:a="http://schemas.openxmlformats.org/drawingml/2006/main">
            <a:r>
              <a:t/>
            </a:r>
          </a:p>
          <a:p xmlns:a="http://schemas.openxmlformats.org/drawingml/2006/main">
            <a:r>
              <a:t>参考资料</a:t>
            </a:r>
          </a:p>
          <a:p xmlns:a="http://schemas.openxmlformats.org/drawingml/2006/main">
            <a:r>
              <a:t>MENTOR: a multi-agent framework for event and narrative trend prediction with optimized reasoning</a:t>
            </a:r>
          </a:p>
          <a:p xmlns:a="http://schemas.openxmlformats.org/drawingml/2006/main">
            <a:r>
              <a:t>2025，26(10):1847–1861</a:t>
            </a:r>
          </a:p>
          <a:p xmlns:a="http://schemas.openxmlformats.org/drawingml/2006/main">
            <a:r>
              <a:t>PDF第8–11页及表3；方法与行业排序结果</a:t>
            </a:r>
          </a:p>
          <a:p xmlns:a="http://schemas.openxmlformats.org/drawingml/2006/main">
            <a:r>
              <a:t>https://doi.org/10.1631/FITEE.2500608</a:t>
            </a:r>
          </a:p>
          <a:p xmlns:a="http://schemas.openxmlformats.org/drawingml/2006/main">
            <a:r>
              <a:t/>
            </a:r>
          </a:p>
          <a:p xmlns:a="http://schemas.openxmlformats.org/drawingml/2006/main">
            <a:r>
              <a:t>MENTOR supplementary materials</a:t>
            </a:r>
          </a:p>
          <a:p xmlns:a="http://schemas.openxmlformats.org/drawingml/2006/main">
            <a:r>
              <a:t>2025；MENTOR官方补充材料</a:t>
            </a:r>
          </a:p>
          <a:p xmlns:a="http://schemas.openxmlformats.org/drawingml/2006/main">
            <a:r>
              <a:t>PDF第1–5页，尤其第2–3页Prompt</a:t>
            </a:r>
          </a:p>
          <a:p xmlns:a="http://schemas.openxmlformats.org/drawingml/2006/main">
            <a:r>
              <a:t>https://jzus.zju.edu.cn/downloadesm.php?filepath=.%2Fdownload%2FESM%2FFITEE%2FESM2500608.pdf&amp;filetype=pdf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这里比较论文表1中使用同一GPT-5.2模型的三个框架，各方法产生约150个因子，再由相同LightGBM模型评价。QuantaAlpha的IC为0.0472，高于RD-Agent的0.0286与AlphaAgent的0.0347。</a:t>
            </a:r>
          </a:p>
          <a:p xmlns:a="http://schemas.openxmlformats.org/drawingml/2006/main">
            <a:r>
              <a:t/>
            </a:r>
          </a:p>
          <a:p xmlns:a="http://schemas.openxmlformats.org/drawingml/2006/main">
            <a:r>
              <a:t>训练期为2016至2020年，验证期2021年，测试期2022年初至2025年12月26日。组合每日选择50只等权股票，每次替换5只，采用次日开盘价，买入费率0.05%，卖出费率0.15%。</a:t>
            </a:r>
          </a:p>
          <a:p xmlns:a="http://schemas.openxmlformats.org/drawingml/2006/main">
            <a:r>
              <a:t/>
            </a:r>
          </a:p>
          <a:p xmlns:a="http://schemas.openxmlformats.org/drawingml/2006/main">
            <a:r>
              <a:t>使用DeepSeek-V3.2的消融实验中，移除修改环节后，IC从0.0461降至0.0382，年化超额收益从4.53%降至3.27%。完整对照中，其他传统或深度方法在部分组合指标上更好。作者报告主要运行约20小时、180万tokens，使用托管模型API和CPU回测。</a:t>
            </a:r>
          </a:p>
          <a:p xmlns:a="http://schemas.openxmlformats.org/drawingml/2006/main">
            <a:r>
              <a:t/>
            </a:r>
          </a:p>
          <a:p xmlns:a="http://schemas.openxmlformats.org/drawingml/2006/main">
            <a:r>
              <a:t>参考资料</a:t>
            </a:r>
          </a:p>
          <a:p xmlns:a="http://schemas.openxmlformats.org/drawingml/2006/main">
            <a:r>
              <a:t>QuantaAlpha: An Evolutionary Framework for LLM-Driven Alpha Mining</a:t>
            </a:r>
          </a:p>
          <a:p xmlns:a="http://schemas.openxmlformats.org/drawingml/2006/main">
            <a:r>
              <a:t>2026；论文封面日期2026-05-19（arXiv v3）</a:t>
            </a:r>
          </a:p>
          <a:p xmlns:a="http://schemas.openxmlformats.org/drawingml/2006/main">
            <a:r>
              <a:t>v3；表1--2、附录A--C及方法；作者团队含高校与研究项目</a:t>
            </a:r>
          </a:p>
          <a:p xmlns:a="http://schemas.openxmlformats.org/drawingml/2006/main">
            <a:r>
              <a:t>https://arxiv.org/abs/2602.07085v3</a:t>
            </a:r>
          </a:p>
          <a:p xmlns:a="http://schemas.openxmlformats.org/drawingml/2006/main">
            <a:r>
              <a:t/>
            </a:r>
          </a:p>
          <a:p xmlns:a="http://schemas.openxmlformats.org/drawingml/2006/main">
            <a:r>
              <a:t>QuantaAlpha官方研究实现（固定版本）</a:t>
            </a:r>
          </a:p>
          <a:p xmlns:a="http://schemas.openxmlformats.org/drawingml/2006/main">
            <a:r>
              <a:t>固定提交 b7ceb27b1001</a:t>
            </a:r>
          </a:p>
          <a:p xmlns:a="http://schemas.openxmlformats.org/drawingml/2006/main">
            <a:r>
              <a:t>规划、演化与一致性提示词及对应调用代码；固定版本，未执行复现</a:t>
            </a:r>
          </a:p>
          <a:p xmlns:a="http://schemas.openxmlformats.org/drawingml/2006/main">
            <a:r>
              <a:t>https://github.com/QuantaAlpha/QuantaAlpha/tree/b7ceb27b1001261d7a95b209a963664ae1f8ab23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作者从既有突破信号中移除了提高反应速度的机制，建立已知改进机会，再检验AlphaTrend的判断。恢复机制的方案Sharpe集中约1.05，简化基准约0.95。局部峰谷信号方案中心约0.80，几乎都低于基准。开放探索方案约为0.70至1.00，中心约0.85。</a:t>
            </a:r>
          </a:p>
          <a:p xmlns:a="http://schemas.openxmlformats.org/drawingml/2006/main">
            <a:r>
              <a:t/>
            </a:r>
          </a:p>
          <a:p xmlns:a="http://schemas.openxmlformats.org/drawingml/2006/main">
            <a:r>
              <a:t>这些实验说明研究流程能够识别改善、给出负面结果，并分析不同条件下的差异。原文图注截至2015年，部分正文涉及2012至2016年，资产池、成本与统计检验没有完整披露。</a:t>
            </a:r>
          </a:p>
          <a:p xmlns:a="http://schemas.openxmlformats.org/drawingml/2006/main">
            <a:r>
              <a:t/>
            </a:r>
          </a:p>
          <a:p xmlns:a="http://schemas.openxmlformats.org/drawingml/2006/main">
            <a:r>
              <a:t>在同一开放命题下，Claude 4.0 Sonnet方案的大部分两两相关性高于0.85，GPT-5约0.75至1.0，显示模型选择会影响候选方案的差异程度。</a:t>
            </a:r>
          </a:p>
          <a:p xmlns:a="http://schemas.openxmlformats.org/drawingml/2006/main">
            <a:r>
              <a:t/>
            </a:r>
          </a:p>
          <a:p xmlns:a="http://schemas.openxmlformats.org/drawingml/2006/main">
            <a:r>
              <a:t>参考资料</a:t>
            </a:r>
          </a:p>
          <a:p xmlns:a="http://schemas.openxmlformats.org/drawingml/2006/main">
            <a:r>
              <a:t>A Trend Following Deep Dive: AlphaTrend and Agentic Research Workflows</a:t>
            </a:r>
          </a:p>
          <a:p xmlns:a="http://schemas.openxmlformats.org/drawingml/2006/main">
            <a:r>
              <a:t>2026-02-11</a:t>
            </a:r>
          </a:p>
          <a:p xmlns:a="http://schemas.openxmlformats.org/drawingml/2006/main">
            <a:r>
              <a:t>Man AHL；原文流程图与三组研究想法实验</a:t>
            </a:r>
          </a:p>
          <a:p xmlns:a="http://schemas.openxmlformats.org/drawingml/2006/main">
            <a:r>
              <a:t>https://www.man.com/insights/alphatrend-agentic-research-workflows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AlphaQT-Bench包含270项任务并测试12个模型。LLM根据量化任务、数据结构和输出要求生成Python代码，程序分别检查运行、时序因果、功能和计算结构。</a:t>
            </a:r>
          </a:p>
          <a:p xmlns:a="http://schemas.openxmlformats.org/drawingml/2006/main">
            <a:r>
              <a:t/>
            </a:r>
          </a:p>
          <a:p xmlns:a="http://schemas.openxmlformats.org/drawingml/2006/main">
            <a:r>
              <a:t>四项同时通过的平均验证正确率，在论文模型样本中最高为93.7%，对应Gemini-2.5-Pro。开放权重模型中最高为81.9%，对应DeepSeek-V3。该指标评价代码对任务要求的实现质量。</a:t>
            </a:r>
          </a:p>
          <a:p xmlns:a="http://schemas.openxmlformats.org/drawingml/2006/main">
            <a:r>
              <a:t/>
            </a:r>
          </a:p>
          <a:p xmlns:a="http://schemas.openxmlformats.org/drawingml/2006/main">
            <a:r>
              <a:t>时间因果检查先用完整数据计算，再截断至较早时点重算，比较同一历史时点的输出。这类测试可以与量化团队现有代码评价结合，用统一标准筛选模型生成的实现。</a:t>
            </a:r>
          </a:p>
          <a:p xmlns:a="http://schemas.openxmlformats.org/drawingml/2006/main">
            <a:r>
              <a:t/>
            </a:r>
          </a:p>
          <a:p xmlns:a="http://schemas.openxmlformats.org/drawingml/2006/main">
            <a:r>
              <a:t>参考资料</a:t>
            </a:r>
          </a:p>
          <a:p xmlns:a="http://schemas.openxmlformats.org/drawingml/2006/main">
            <a:r>
              <a:t>AlphaQT-Bench：量化因子代码评价基准</a:t>
            </a:r>
          </a:p>
          <a:p xmlns:a="http://schemas.openxmlformats.org/drawingml/2006/main">
            <a:r>
              <a:t>ACL 2026 Findings</a:t>
            </a:r>
          </a:p>
          <a:p xmlns:a="http://schemas.openxmlformats.org/drawingml/2006/main">
            <a:r>
              <a:t>16页论文；第16页Prompt及执行、因果、语义、结构评价</a:t>
            </a:r>
          </a:p>
          <a:p xmlns:a="http://schemas.openxmlformats.org/drawingml/2006/main">
            <a:r>
              <a:t>https://aclanthology.org/2026.findings-acl.138/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f961a953e742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1c9ebfc0254950" /><Relationship Type="http://schemas.openxmlformats.org/officeDocument/2006/relationships/slideLayout" Target="/ppt/slideLayouts/slideLayout1.xml" Id="R594e699d384640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4e699d384640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fb14b07e884987" /><Relationship Type="http://schemas.openxmlformats.org/officeDocument/2006/relationships/notesSlide" Target="/ppt/notesSlides/notesSlide1.xml" Id="Rcd32d885f88444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41e41bb959468a" /><Relationship Type="http://schemas.openxmlformats.org/officeDocument/2006/relationships/notesSlide" Target="/ppt/notesSlides/notesSlide2.xml" Id="R1cdb2492305a4f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2dc44328704b2e" /><Relationship Type="http://schemas.openxmlformats.org/officeDocument/2006/relationships/notesSlide" Target="/ppt/notesSlides/notesSlide3.xml" Id="R66bc9944a59549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a94e11f81e447c" /><Relationship Type="http://schemas.openxmlformats.org/officeDocument/2006/relationships/notesSlide" Target="/ppt/notesSlides/notesSlide4.xml" Id="Re862918465b744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38d9a597754c09" /><Relationship Type="http://schemas.openxmlformats.org/officeDocument/2006/relationships/notesSlide" Target="/ppt/notesSlides/notesSlide5.xml" Id="R63523559e96d4c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9c729d93ed404d" /><Relationship Type="http://schemas.openxmlformats.org/officeDocument/2006/relationships/notesSlide" Target="/ppt/notesSlides/notesSlide6.xml" Id="Rd5877141f4d94e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a9f4f6d0b046a7" /><Relationship Type="http://schemas.openxmlformats.org/officeDocument/2006/relationships/notesSlide" Target="/ppt/notesSlides/notesSlide7.xml" Id="R91cacd47d7894d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b77617d8124bc7" /><Relationship Type="http://schemas.openxmlformats.org/officeDocument/2006/relationships/notesSlide" Target="/ppt/notesSlides/notesSlide8.xml" Id="Rbf3ab76569d64a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1fac52908b4313" /><Relationship Type="http://schemas.openxmlformats.org/officeDocument/2006/relationships/notesSlide" Target="/ppt/notesSlides/notesSlide9.xml" Id="R15aa9e329fdd47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b14a622c4a8415d" /><Relationship Type="http://schemas.openxmlformats.org/officeDocument/2006/relationships/notesSlide" Target="/ppt/notesSlides/notesSlide10.xml" Id="R3926f0f760204d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b7688afcb740fd" /><Relationship Type="http://schemas.openxmlformats.org/officeDocument/2006/relationships/notesSlide" Target="/ppt/notesSlides/notesSlide11.xml" Id="Rb13c687387364c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16608ca41a4916" /><Relationship Type="http://schemas.openxmlformats.org/officeDocument/2006/relationships/notesSlide" Target="/ppt/notesSlides/notesSlide12.xml" Id="Rffb663c93d2648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61ea056246a4a61" /><Relationship Type="http://schemas.openxmlformats.org/officeDocument/2006/relationships/notesSlide" Target="/ppt/notesSlides/notesSlide13.xml" Id="R074969c80fc84f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a5d5767553493e" /><Relationship Type="http://schemas.openxmlformats.org/officeDocument/2006/relationships/image" Target="/ppt/media/image.png" Id="Rdb17200d49eb400d" /><Relationship Type="http://schemas.openxmlformats.org/officeDocument/2006/relationships/notesSlide" Target="/ppt/notesSlides/notesSlide14.xml" Id="Rbf5f801007cf41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2681573e7b47e3" /><Relationship Type="http://schemas.openxmlformats.org/officeDocument/2006/relationships/notesSlide" Target="/ppt/notesSlides/notesSlide15.xml" Id="R69c1739f2aaf4c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a3254c96f04bb2" /><Relationship Type="http://schemas.openxmlformats.org/officeDocument/2006/relationships/notesSlide" Target="/ppt/notesSlides/notesSlide16.xml" Id="R7138ab3f2b4346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89385c57dc04617" /><Relationship Type="http://schemas.openxmlformats.org/officeDocument/2006/relationships/notesSlide" Target="/ppt/notesSlides/notesSlide17.xml" Id="R030aead6737a42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78d1b5c7c4b4ae8" /><Relationship Type="http://schemas.openxmlformats.org/officeDocument/2006/relationships/notesSlide" Target="/ppt/notesSlides/notesSlide18.xml" Id="Rf45af185e2b148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c161b357bb64eae" /><Relationship Type="http://schemas.openxmlformats.org/officeDocument/2006/relationships/notesSlide" Target="/ppt/notesSlides/notesSlide19.xml" Id="R98c84018e8a845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c69dab9257c4073" /><Relationship Type="http://schemas.openxmlformats.org/officeDocument/2006/relationships/notesSlide" Target="/ppt/notesSlides/notesSlide20.xml" Id="R6149caea99644f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19728e8536d4335" /><Relationship Type="http://schemas.openxmlformats.org/officeDocument/2006/relationships/notesSlide" Target="/ppt/notesSlides/notesSlide21.xml" Id="Rbfd0f2b0161946d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97438f43a0d4493" /><Relationship Type="http://schemas.openxmlformats.org/officeDocument/2006/relationships/notesSlide" Target="/ppt/notesSlides/notesSlide22.xml" Id="R190f5deccddb44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27f45777eaf44d1" /><Relationship Type="http://schemas.openxmlformats.org/officeDocument/2006/relationships/notesSlide" Target="/ppt/notesSlides/notesSlide23.xml" Id="Ra889c198059342d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d29b581e9394384" /><Relationship Type="http://schemas.openxmlformats.org/officeDocument/2006/relationships/notesSlide" Target="/ppt/notesSlides/notesSlide24.xml" Id="R3f029d52aa684d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1d892b2c9d64cf1" /><Relationship Type="http://schemas.openxmlformats.org/officeDocument/2006/relationships/chart" Target="/ppt/slides/charts/chart1.xml" Id="Rd33af024697249e9" /><Relationship Type="http://schemas.openxmlformats.org/officeDocument/2006/relationships/notesSlide" Target="/ppt/notesSlides/notesSlide25.xml" Id="Rfe7115361c324bb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bd609f9709d4be9" /><Relationship Type="http://schemas.openxmlformats.org/officeDocument/2006/relationships/chart" Target="/ppt/slides/charts/chart2.xml" Id="Rb0eceec540864a16" /><Relationship Type="http://schemas.openxmlformats.org/officeDocument/2006/relationships/notesSlide" Target="/ppt/notesSlides/notesSlide26.xml" Id="Rca0a0353c21844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ef1dddbdd3432d" /><Relationship Type="http://schemas.openxmlformats.org/officeDocument/2006/relationships/notesSlide" Target="/ppt/notesSlides/notesSlide27.xml" Id="Rc12d5e9aa4314231" /></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c:lang val="en-US"/>
  <c:chart>
    <c:plotArea>
      <c:barChart>
        <c:barDir val="col"/>
        <c:grouping val="clustered"/>
        <c:varyColors val="0"/>
        <c:ser>
          <c:idx val="0"/>
          <c:order val="0"/>
          <c:tx>
            <c:v>IC</c:v>
          </c:tx>
          <c:spPr>
            <a:solidFill xmlns:a="http://schemas.openxmlformats.org/drawingml/2006/main">
              <a:srgbClr val="008C83"/>
            </a:solidFill>
          </c:spPr>
          <c:cat>
            <c:strRef>
              <c:f>'Chart Data'!$A$2:$A$4</c:f>
              <c:strCache>
                <c:ptCount val="3"/>
                <c:pt idx="0">
                  <c:v>RD-Agent</c:v>
                </c:pt>
                <c:pt idx="1">
                  <c:v>AlphaAgent</c:v>
                </c:pt>
                <c:pt idx="2">
                  <c:v>QuantaAlpha</c:v>
                </c:pt>
              </c:strCache>
            </c:strRef>
          </c:cat>
          <c:val>
            <c:numRef>
              <c:f>'Chart Data'!$B$2:$B$4</c:f>
              <c:numCache>
                <c:formatCode>0.0000</c:formatCode>
                <c:ptCount val="3"/>
                <c:pt idx="0">
                  <c:v>0.0286</c:v>
                </c:pt>
                <c:pt idx="1">
                  <c:v>0.0347</c:v>
                </c:pt>
                <c:pt idx="2">
                  <c:v>0.0472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53C4A"/>
                  </a:solidFill>
                  <a:latin typeface="Heiti SC"/>
                  <a:ea typeface="Heiti SC"/>
                  <a:cs typeface="Heiti SC"/>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A"/>
            </a:solidFill>
          </a:ln>
        </c:spPr>
        <c:txPr>
          <a:bodyPr xmlns:a="http://schemas.openxmlformats.org/drawingml/2006/main" anchorCtr="1"/>
          <a:lstStyle xmlns:a="http://schemas.openxmlformats.org/drawingml/2006/main"/>
          <a:p xmlns:a="http://schemas.openxmlformats.org/drawingml/2006/main">
            <a:pPr>
              <a:defRPr sz="1725">
                <a:solidFill>
                  <a:srgbClr val="253C4A"/>
                </a:solidFill>
                <a:latin typeface="Heiti SC"/>
                <a:ea typeface="Heiti SC"/>
                <a:cs typeface="Heiti SC"/>
              </a:defRPr>
            </a:pPr>
          </a:p>
        </c:txPr>
        <c:crossAx val="48672768"/>
      </c:catAx>
      <c:valAx>
        <c:axId val="48672768"/>
        <c:scaling>
          <c:orientation val="minMax"/>
          <c:max val="0.055"/>
          <c:min val="0"/>
        </c:scaling>
        <c:delete val="0"/>
        <c:axPos val="l"/>
        <c:majorGridlines>
          <c:spPr>
            <a:ln xmlns:a="http://schemas.openxmlformats.org/drawingml/2006/main" w="9525">
              <a:solidFill>
                <a:srgbClr val="E7ECEF"/>
              </a:solidFill>
            </a:ln>
          </c:spPr>
        </c:majorGridlines>
        <c:title>
          <c:tx>
            <c:rich>
              <a:bodyPr xmlns:a="http://schemas.openxmlformats.org/drawingml/2006/main"/>
              <a:lstStyle xmlns:a="http://schemas.openxmlformats.org/drawingml/2006/main"/>
              <a:p xmlns:a="http://schemas.openxmlformats.org/drawingml/2006/main">
                <a:r>
                  <a:rPr sz="1575">
                    <a:solidFill>
                      <a:srgbClr val="566975"/>
                    </a:solidFill>
                    <a:latin typeface="Heiti SC"/>
                    <a:ea typeface="Heiti SC"/>
                    <a:cs typeface="Heiti SC"/>
                  </a:rPr>
                  <a:t>IC</a:t>
                </a:r>
              </a:p>
            </c:rich>
          </c:tx>
          <c:overlay val="0"/>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title>
        <c:numFmt formatCode="0.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clustered"/>
        <c:varyColors val="0"/>
        <c:ser>
          <c:idx val="0"/>
          <c:order val="0"/>
          <c:tx>
            <c:v>方案集中或中心位置</c:v>
          </c:tx>
          <c:spPr>
            <a:solidFill xmlns:a="http://schemas.openxmlformats.org/drawingml/2006/main">
              <a:srgbClr val="008C83"/>
            </a:solidFill>
          </c:spPr>
          <c:cat>
            <c:strRef>
              <c:f>'Chart Data'!$A$2:$A$4</c:f>
              <c:strCache>
                <c:ptCount val="3"/>
                <c:pt idx="0">
                  <c:v>恢复反应机制</c:v>
                </c:pt>
                <c:pt idx="1">
                  <c:v>局部峰谷信号</c:v>
                </c:pt>
                <c:pt idx="2">
                  <c:v>开放探索</c:v>
                </c:pt>
              </c:strCache>
            </c:strRef>
          </c:cat>
          <c:val>
            <c:numRef>
              <c:f>'Chart Data'!$B$2:$B$4</c:f>
              <c:numCache>
                <c:formatCode>0.00</c:formatCode>
                <c:ptCount val="3"/>
                <c:pt idx="0">
                  <c:v>1.05</c:v>
                </c:pt>
                <c:pt idx="1">
                  <c:v>0.8</c:v>
                </c:pt>
                <c:pt idx="2">
                  <c:v>0.85</c:v>
                </c:pt>
              </c:numCache>
            </c:numRef>
          </c:val>
        </c:ser>
        <c:ser>
          <c:idx val="1"/>
          <c:order val="1"/>
          <c:tx>
            <c:v>简化后的基准</c:v>
          </c:tx>
          <c:spPr>
            <a:solidFill xmlns:a="http://schemas.openxmlformats.org/drawingml/2006/main">
              <a:srgbClr val="B3C0C8"/>
            </a:solidFill>
          </c:spPr>
          <c:cat>
            <c:strRef>
              <c:f>'Chart Data'!$C$2:$C$4</c:f>
              <c:strCache>
                <c:ptCount val="3"/>
                <c:pt idx="0">
                  <c:v>恢复反应机制</c:v>
                </c:pt>
                <c:pt idx="1">
                  <c:v>局部峰谷信号</c:v>
                </c:pt>
                <c:pt idx="2">
                  <c:v>开放探索</c:v>
                </c:pt>
              </c:strCache>
            </c:strRef>
          </c:cat>
          <c:val>
            <c:numRef>
              <c:f>'Chart Data'!$D$2:$D$4</c:f>
              <c:numCache>
                <c:formatCode>0.00</c:formatCode>
                <c:ptCount val="3"/>
                <c:pt idx="0">
                  <c:v>0.95</c:v>
                </c:pt>
                <c:pt idx="1">
                  <c:v>0.95</c:v>
                </c:pt>
                <c:pt idx="2">
                  <c:v>0.95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53C4A"/>
                  </a:solidFill>
                  <a:latin typeface="Heiti SC"/>
                  <a:ea typeface="Heiti SC"/>
                  <a:cs typeface="Heiti SC"/>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A"/>
            </a:solidFill>
          </a:ln>
        </c:spPr>
        <c:txPr>
          <a:bodyPr xmlns:a="http://schemas.openxmlformats.org/drawingml/2006/main" anchorCtr="1"/>
          <a:lstStyle xmlns:a="http://schemas.openxmlformats.org/drawingml/2006/main"/>
          <a:p xmlns:a="http://schemas.openxmlformats.org/drawingml/2006/main">
            <a:pPr>
              <a:defRPr sz="1725">
                <a:solidFill>
                  <a:srgbClr val="253C4A"/>
                </a:solidFill>
                <a:latin typeface="Heiti SC"/>
                <a:ea typeface="Heiti SC"/>
                <a:cs typeface="Heiti SC"/>
              </a:defRPr>
            </a:pPr>
          </a:p>
        </c:txPr>
        <c:crossAx val="48672768"/>
      </c:catAx>
      <c:valAx>
        <c:axId val="48672768"/>
        <c:scaling>
          <c:orientation val="minMax"/>
          <c:max val="1.2"/>
          <c:min val="0"/>
        </c:scaling>
        <c:delete val="0"/>
        <c:axPos val="l"/>
        <c:majorGridlines>
          <c:spPr>
            <a:ln xmlns:a="http://schemas.openxmlformats.org/drawingml/2006/main" w="9525">
              <a:solidFill>
                <a:srgbClr val="E7ECEF"/>
              </a:solidFill>
            </a:ln>
          </c:spPr>
        </c:majorGridlines>
        <c:title>
          <c:tx>
            <c:rich>
              <a:bodyPr xmlns:a="http://schemas.openxmlformats.org/drawingml/2006/main"/>
              <a:lstStyle xmlns:a="http://schemas.openxmlformats.org/drawingml/2006/main"/>
              <a:p xmlns:a="http://schemas.openxmlformats.org/drawingml/2006/main">
                <a:r>
                  <a:rPr sz="1575">
                    <a:solidFill>
                      <a:srgbClr val="566975"/>
                    </a:solidFill>
                    <a:latin typeface="Heiti SC"/>
                    <a:ea typeface="Heiti SC"/>
                    <a:cs typeface="Heiti SC"/>
                  </a:rPr>
                  <a:t>Sharpe</a:t>
                </a:r>
              </a:p>
            </c:rich>
          </c:tx>
          <c:overlay val="0"/>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66975"/>
                </a:solidFill>
                <a:latin typeface="Heiti SC"/>
                <a:ea typeface="Heiti SC"/>
                <a:cs typeface="Heiti SC"/>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253C4A"/>
              </a:solidFill>
              <a:latin typeface="Heiti SC"/>
              <a:ea typeface="Heiti SC"/>
              <a:cs typeface="Heiti SC"/>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9374D"/>
        </a:solidFill>
      </p:bgPr>
    </p:bg>
    <p:spTree>
      <p:nvGrpSpPr>
        <p:cNvPr id="1" name=""/>
        <p:cNvGrpSpPr/>
        <p:nvPr/>
      </p:nvGrpSpPr>
      <p:grpSpPr>
        <a:xfrm xmlns:a="http://schemas.openxmlformats.org/drawingml/2006/main"/>
      </p:grpSpPr>
      <p:sp>
        <p:nvSpPr>
          <p:cNvPr id="5" name="text-4iuov6-基金公司LLM应用调研">
            <a:extLst xmlns:a="http://schemas.openxmlformats.org/drawingml/2006/main">
              <a:ext uri="{FF2B5EF4-FFF2-40B4-BE49-F238E27FC236}">
                <a16:creationId xmlns:a16="http://schemas.microsoft.com/office/drawing/2014/main" id="{B7F14952-238B-416C-8716-C66B32975B3F}"/>
              </a:ext>
            </a:extLst>
          </p:cNvPr>
          <p:cNvSpPr>
            <a:spLocks xmlns:a="http://schemas.openxmlformats.org/drawingml/2006/main" noGrp="1"/>
          </p:cNvSpPr>
          <p:nvPr/>
        </p:nvSpPr>
        <p:spPr>
          <a:xfrm xmlns:a="http://schemas.openxmlformats.org/drawingml/2006/main">
            <a:off x="723900" y="20193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00" b="1">
                <a:solidFill>
                  <a:srgbClr val="FFFFFF"/>
                </a:solidFill>
                <a:latin typeface="Heiti SC"/>
                <a:ea typeface="Heiti SC"/>
                <a:cs typeface="Heiti SC"/>
              </a:defRPr>
            </a:pPr>
            <a:r>
              <a:rPr sz="4800" b="1">
                <a:solidFill>
                  <a:srgbClr val="FFFFFF"/>
                </a:solidFill>
                <a:latin typeface="Heiti SC"/>
                <a:ea typeface="Heiti SC"/>
                <a:cs typeface="Heiti SC"/>
              </a:rPr>
              <a:t>基金公司LLM应用调研</a:t>
            </a:r>
          </a:p>
        </p:txBody>
      </p:sp>
      <p:sp>
        <p:nvSpPr>
          <p:cNvPr id="2" name="text-4iuov6-行业案例与本地部署探索">
            <a:extLst xmlns:a="http://schemas.openxmlformats.org/drawingml/2006/main">
              <a:ext uri="{FF2B5EF4-FFF2-40B4-BE49-F238E27FC236}">
                <a16:creationId xmlns:a16="http://schemas.microsoft.com/office/drawing/2014/main" id="{28CC31AA-5D42-4B69-94FD-4282EDB9F6E3}"/>
              </a:ext>
            </a:extLst>
          </p:cNvPr>
          <p:cNvSpPr>
            <a:spLocks xmlns:a="http://schemas.openxmlformats.org/drawingml/2006/main" noGrp="1"/>
          </p:cNvSpPr>
          <p:nvPr/>
        </p:nvSpPr>
        <p:spPr>
          <a:xfrm xmlns:a="http://schemas.openxmlformats.org/drawingml/2006/main">
            <a:off x="762000" y="33337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B7DDDA"/>
                </a:solidFill>
                <a:latin typeface="Heiti SC"/>
                <a:ea typeface="Heiti SC"/>
                <a:cs typeface="Heiti SC"/>
              </a:defRPr>
            </a:pPr>
            <a:r>
              <a:rPr sz="2550" b="0">
                <a:solidFill>
                  <a:srgbClr val="B7DDDA"/>
                </a:solidFill>
                <a:latin typeface="Heiti SC"/>
                <a:ea typeface="Heiti SC"/>
                <a:cs typeface="Heiti SC"/>
              </a:rPr>
              <a:t>应用实践、技术流程与项目建议</a:t>
            </a:r>
          </a:p>
        </p:txBody>
      </p:sp>
      <p:sp>
        <p:nvSpPr>
          <p:cNvPr id="3" name="text-4iuov6-MSIM China 实习项目">
            <a:extLst xmlns:a="http://schemas.openxmlformats.org/drawingml/2006/main">
              <a:ext uri="{FF2B5EF4-FFF2-40B4-BE49-F238E27FC236}">
                <a16:creationId xmlns:a16="http://schemas.microsoft.com/office/drawing/2014/main" id="{5BFB0230-67C4-4CE3-ABC7-ED3B36216608}"/>
              </a:ext>
            </a:extLst>
          </p:cNvPr>
          <p:cNvSpPr>
            <a:spLocks xmlns:a="http://schemas.openxmlformats.org/drawingml/2006/main" noGrp="1"/>
          </p:cNvSpPr>
          <p:nvPr/>
        </p:nvSpPr>
        <p:spPr>
          <a:xfrm xmlns:a="http://schemas.openxmlformats.org/drawingml/2006/main">
            <a:off x="762000" y="51054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FFFFFF"/>
                </a:solidFill>
                <a:latin typeface="Heiti SC"/>
                <a:ea typeface="Heiti SC"/>
                <a:cs typeface="Heiti SC"/>
              </a:defRPr>
            </a:pPr>
            <a:r>
              <a:rPr sz="1875" b="0">
                <a:solidFill>
                  <a:srgbClr val="FFFFFF"/>
                </a:solidFill>
                <a:latin typeface="Heiti SC"/>
                <a:ea typeface="Heiti SC"/>
                <a:cs typeface="Heiti SC"/>
              </a:rPr>
              <a:t>MSIM China 实习项目</a:t>
            </a:r>
          </a:p>
        </p:txBody>
      </p:sp>
      <p:sp>
        <p:nvSpPr>
          <p:cNvPr id="4" name="text-4iuov6-2026年9月    资料截至2">
            <a:extLst xmlns:a="http://schemas.openxmlformats.org/drawingml/2006/main">
              <a:ext uri="{FF2B5EF4-FFF2-40B4-BE49-F238E27FC236}">
                <a16:creationId xmlns:a16="http://schemas.microsoft.com/office/drawing/2014/main" id="{880A575D-687E-4BA0-9BAE-69E4DF3837A1}"/>
              </a:ext>
            </a:extLst>
          </p:cNvPr>
          <p:cNvSpPr>
            <a:spLocks xmlns:a="http://schemas.openxmlformats.org/drawingml/2006/main" noGrp="1"/>
          </p:cNvSpPr>
          <p:nvPr/>
        </p:nvSpPr>
        <p:spPr>
          <a:xfrm xmlns:a="http://schemas.openxmlformats.org/drawingml/2006/main">
            <a:off x="762000" y="56102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7D5DD"/>
                </a:solidFill>
                <a:latin typeface="Heiti SC"/>
                <a:ea typeface="Heiti SC"/>
                <a:cs typeface="Heiti SC"/>
              </a:defRPr>
            </a:pPr>
            <a:r>
              <a:rPr sz="1650" b="0">
                <a:solidFill>
                  <a:srgbClr val="C7D5DD"/>
                </a:solidFill>
                <a:latin typeface="Heiti SC"/>
                <a:ea typeface="Heiti SC"/>
                <a:cs typeface="Heiti SC"/>
              </a:rPr>
              <a:t>2026年9月    资料截至2026年9月9日</a:t>
            </a:r>
          </a:p>
        </p:txBody>
      </p:sp>
    </p:spTree>
    <p:extLst>
      <p:ext uri="{BB962C8B-B14F-4D97-AF65-F5344CB8AC3E}">
        <p14:creationId xmlns:p14="http://schemas.microsoft.com/office/powerpoint/2010/main" val="18071842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yx8e83-四个应用方向与代表案例">
            <a:extLst xmlns:a="http://schemas.openxmlformats.org/drawingml/2006/main">
              <a:ext uri="{FF2B5EF4-FFF2-40B4-BE49-F238E27FC236}">
                <a16:creationId xmlns:a16="http://schemas.microsoft.com/office/drawing/2014/main" id="{2A9AE9CF-CC7F-4DB1-8C31-558EA988CC4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基金公司的四类LLM应用</a:t>
            </a:r>
          </a:p>
        </p:txBody>
      </p:sp>
      <p:sp>
        <p:nvSpPr>
          <p:cNvPr id="3" name="text-yx8e83-04">
            <a:extLst xmlns:a="http://schemas.openxmlformats.org/drawingml/2006/main">
              <a:ext uri="{FF2B5EF4-FFF2-40B4-BE49-F238E27FC236}">
                <a16:creationId xmlns:a16="http://schemas.microsoft.com/office/drawing/2014/main" id="{B75836E9-6378-4676-90BA-A6D6D444DA8C}"/>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02</a:t>
            </a:r>
          </a:p>
        </p:txBody>
      </p:sp>
      <p:graphicFrame>
        <p:nvGraphicFramePr>
          <p:cNvPr id="11" name=""/>
          <p:cNvGraphicFramePr/>
          <p:nvPr/>
        </p:nvGraphicFramePr>
        <p:xfrm>
          <a:off xmlns:a="http://schemas.openxmlformats.org/drawingml/2006/main" x="609600" y="2076450"/>
          <a:ext xmlns:a="http://schemas.openxmlformats.org/drawingml/2006/main" cx="10972800" cy="3476625"/>
        </p:xfrm>
        <a:graphic xmlns:a="http://schemas.openxmlformats.org/drawingml/2006/main">
          <a:graphicData uri="http://schemas.openxmlformats.org/drawingml/2006/table">
            <a:tbl>
              <a:tblPr firstRow="1" bandRow="0"/>
              <a:tblGrid>
                <a:gridCol w="1952625"/>
                <a:gridCol w="3476625"/>
                <a:gridCol w="5543550"/>
              </a:tblGrid>
              <a:tr h="695325">
                <a:tc>
                  <a:txBody>
                    <a:bodyPr/>
                    <a:lstStyle/>
                    <a:p>
                      <a:r>
                        <a:rPr sz="1950" b="1">
                          <a:solidFill>
                            <a:srgbClr val="FFFFFF"/>
                          </a:solidFill>
                          <a:latin typeface="Heiti SC"/>
                          <a:ea typeface="Heiti SC"/>
                          <a:cs typeface="Heiti SC"/>
                        </a:rPr>
                        <a:t>应用方向</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代表案例</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LLM承担的工作</a:t>
                      </a:r>
                    </a:p>
                  </a:txBody>
                  <a:tcPr marL="133350" marR="133350" marT="95250" marB="95250" anchor="ctr">
                    <a:solidFill>
                      <a:srgbClr val="19374D"/>
                    </a:solidFill>
                  </a:tcPr>
                </a:tc>
              </a:tr>
              <a:tr h="695325">
                <a:tc>
                  <a:txBody>
                    <a:bodyPr/>
                    <a:lstStyle/>
                    <a:p>
                      <a:r>
                        <a:rPr sz="1950" b="1">
                          <a:solidFill>
                            <a:srgbClr val="19374D"/>
                          </a:solidFill>
                          <a:latin typeface="Heiti SC"/>
                          <a:ea typeface="Heiti SC"/>
                          <a:cs typeface="Heiti SC"/>
                        </a:rPr>
                        <a:t>投研分析</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富国、天弘、MENTOR</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归纳资料，组织分析，形成观点与预测</a:t>
                      </a:r>
                    </a:p>
                  </a:txBody>
                  <a:tcPr marL="133350" marR="133350" marT="95250" marB="95250" anchor="ctr">
                    <a:solidFill>
                      <a:srgbClr val="FFFFFF"/>
                    </a:solidFill>
                  </a:tcPr>
                </a:tc>
              </a:tr>
              <a:tr h="695325">
                <a:tc>
                  <a:txBody>
                    <a:bodyPr/>
                    <a:lstStyle/>
                    <a:p>
                      <a:r>
                        <a:rPr sz="1950" b="1">
                          <a:solidFill>
                            <a:srgbClr val="19374D"/>
                          </a:solidFill>
                          <a:latin typeface="Heiti SC"/>
                          <a:ea typeface="Heiti SC"/>
                          <a:cs typeface="Heiti SC"/>
                        </a:rPr>
                        <a:t>数据查询</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南方、易方达Index-Hub</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识别需求，生成查询，解释返回结果</a:t>
                      </a:r>
                    </a:p>
                  </a:txBody>
                  <a:tcPr marL="133350" marR="133350" marT="95250" marB="95250" anchor="ctr">
                    <a:solidFill>
                      <a:srgbClr val="FFFFFF"/>
                    </a:solidFill>
                  </a:tcPr>
                </a:tc>
              </a:tr>
              <a:tr h="695325">
                <a:tc>
                  <a:txBody>
                    <a:bodyPr/>
                    <a:lstStyle/>
                    <a:p>
                      <a:r>
                        <a:rPr sz="1950" b="1">
                          <a:solidFill>
                            <a:srgbClr val="19374D"/>
                          </a:solidFill>
                          <a:latin typeface="Heiti SC"/>
                          <a:ea typeface="Heiti SC"/>
                          <a:cs typeface="Heiti SC"/>
                        </a:rPr>
                        <a:t>知识与合规</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鹏华、汇添富</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整理知识，提取风险信息，生成审核意见</a:t>
                      </a:r>
                    </a:p>
                  </a:txBody>
                  <a:tcPr marL="133350" marR="133350" marT="95250" marB="95250" anchor="ctr">
                    <a:solidFill>
                      <a:srgbClr val="FFFFFF"/>
                    </a:solidFill>
                  </a:tcPr>
                </a:tc>
              </a:tr>
              <a:tr h="695325">
                <a:tc>
                  <a:txBody>
                    <a:bodyPr/>
                    <a:lstStyle/>
                    <a:p>
                      <a:r>
                        <a:rPr sz="1950" b="1">
                          <a:solidFill>
                            <a:srgbClr val="19374D"/>
                          </a:solidFill>
                          <a:latin typeface="Heiti SC"/>
                          <a:ea typeface="Heiti SC"/>
                          <a:cs typeface="Heiti SC"/>
                        </a:rPr>
                        <a:t>LLM辅助量化</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国内文本案例</a:t>
                      </a:r>
                    </a:p>
                    <a:p>
                      <a:r>
                        <a:rPr sz="1950">
                          <a:solidFill>
                            <a:srgbClr val="253C4A"/>
                          </a:solidFill>
                          <a:latin typeface="Heiti SC"/>
                          <a:ea typeface="Heiti SC"/>
                          <a:cs typeface="Heiti SC"/>
                        </a:rPr>
                        <a:t>QuantaAlpha、Man</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提取信号，提出研究方案，调用工具并迭代</a:t>
                      </a:r>
                    </a:p>
                  </a:txBody>
                  <a:tcPr marL="133350" marR="133350" marT="95250" marB="95250" anchor="ctr">
                    <a:solidFill>
                      <a:srgbClr val="FFFFFF"/>
                    </a:solidFill>
                  </a:tcPr>
                </a:tc>
              </a:tr>
            </a:tbl>
          </a:graphicData>
        </a:graphic>
      </p:graphicFrame>
      <p:sp>
        <p:nvSpPr>
          <p:cNvPr id="7" name="copy-1-2026年二季度末非货公募规模">
            <a:extLst xmlns:a="http://schemas.openxmlformats.org/drawingml/2006/main">
              <a:ext uri="{FF2B5EF4-FFF2-40B4-BE49-F238E27FC236}">
                <a16:creationId xmlns:a16="http://schemas.microsoft.com/office/drawing/2014/main" id="{5082FA16-6A24-4587-9275-33640F433594}"/>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2026年二季度末非货公募规模前20家公司，另列大成补充案例</a:t>
            </a:r>
          </a:p>
        </p:txBody>
      </p:sp>
      <p:sp>
        <p:nvSpPr>
          <p:cNvPr id="8" name="copy-2-LLM已进入实际业务流程，本项">
            <a:extLst xmlns:a="http://schemas.openxmlformats.org/drawingml/2006/main">
              <a:ext uri="{FF2B5EF4-FFF2-40B4-BE49-F238E27FC236}">
                <a16:creationId xmlns:a16="http://schemas.microsoft.com/office/drawing/2014/main" id="{CF4402B8-2B2D-4CBC-AD37-A97F7A5BD523}"/>
              </a:ext>
            </a:extLst>
          </p:cNvPr>
          <p:cNvSpPr>
            <a:spLocks xmlns:a="http://schemas.openxmlformats.org/drawingml/2006/main" noGrp="1"/>
          </p:cNvSpPr>
          <p:nvPr/>
        </p:nvSpPr>
        <p:spPr>
          <a:xfrm xmlns:a="http://schemas.openxmlformats.org/drawingml/2006/main">
            <a:off x="628650" y="58197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83"/>
                </a:solidFill>
                <a:latin typeface="Heiti SC"/>
                <a:ea typeface="Heiti SC"/>
                <a:cs typeface="Heiti SC"/>
              </a:defRPr>
            </a:pPr>
            <a:r>
              <a:rPr sz="2175" b="1">
                <a:solidFill>
                  <a:srgbClr val="008C83"/>
                </a:solidFill>
                <a:latin typeface="Heiti SC"/>
                <a:ea typeface="Heiti SC"/>
                <a:cs typeface="Heiti SC"/>
              </a:rPr>
              <a:t>LLM已进入实际业务流程，本项目应推进本地部署与应用开发。</a:t>
            </a:r>
          </a:p>
        </p:txBody>
      </p:sp>
    </p:spTree>
    <p:extLst>
      <p:ext uri="{BB962C8B-B14F-4D97-AF65-F5344CB8AC3E}">
        <p14:creationId xmlns:p14="http://schemas.microsoft.com/office/powerpoint/2010/main" val="290983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6w5g2o-富国与天弘的投研准备工作">
            <a:extLst xmlns:a="http://schemas.openxmlformats.org/drawingml/2006/main">
              <a:ext uri="{FF2B5EF4-FFF2-40B4-BE49-F238E27FC236}">
                <a16:creationId xmlns:a16="http://schemas.microsoft.com/office/drawing/2014/main" id="{F7B38A44-1096-4759-9066-1D235DDA11D7}"/>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富国基金：研报整理与市场观点生成</a:t>
            </a:r>
          </a:p>
        </p:txBody>
      </p:sp>
      <p:sp>
        <p:nvSpPr>
          <p:cNvPr id="3" name="text-6w5g2o-05">
            <a:extLst xmlns:a="http://schemas.openxmlformats.org/drawingml/2006/main">
              <a:ext uri="{FF2B5EF4-FFF2-40B4-BE49-F238E27FC236}">
                <a16:creationId xmlns:a16="http://schemas.microsoft.com/office/drawing/2014/main" id="{3BD742F7-1DBA-427F-9D3C-36CEDA34166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03</a:t>
            </a:r>
          </a:p>
        </p:txBody>
      </p:sp>
      <p:sp>
        <p:nvSpPr>
          <p:cNvPr id="7" name="copy-2-富国基金报告的整体流程效果。研">
            <a:extLst xmlns:a="http://schemas.openxmlformats.org/drawingml/2006/main">
              <a:ext uri="{FF2B5EF4-FFF2-40B4-BE49-F238E27FC236}">
                <a16:creationId xmlns:a16="http://schemas.microsoft.com/office/drawing/2014/main" id="{AA2B29C5-51EA-41A8-9ED5-C3188E110B70}"/>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富国基金报告的整体流程效果。研究系统包含约30万份研报。</a:t>
            </a:r>
          </a:p>
        </p:txBody>
      </p:sp>
      <p:sp>
        <p:nvSpPr>
          <p:cNvPr id="8" name="copy-3-01">
            <a:extLst xmlns:a="http://schemas.openxmlformats.org/drawingml/2006/main">
              <a:ext uri="{FF2B5EF4-FFF2-40B4-BE49-F238E27FC236}">
                <a16:creationId xmlns:a16="http://schemas.microsoft.com/office/drawing/2014/main" id="{A5637C8F-E43E-47F8-A093-1E9B569CF367}"/>
              </a:ext>
            </a:extLst>
          </p:cNvPr>
          <p:cNvSpPr>
            <a:spLocks xmlns:a="http://schemas.openxmlformats.org/drawingml/2006/main" noGrp="1"/>
          </p:cNvSpPr>
          <p:nvPr/>
        </p:nvSpPr>
        <p:spPr>
          <a:xfrm xmlns:a="http://schemas.openxmlformats.org/drawingml/2006/main">
            <a:off x="628650" y="19240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83"/>
                </a:solidFill>
                <a:latin typeface="Heiti SC"/>
                <a:ea typeface="Heiti SC"/>
                <a:cs typeface="Heiti SC"/>
              </a:defRPr>
            </a:pPr>
            <a:r>
              <a:rPr sz="2100" b="1">
                <a:solidFill>
                  <a:srgbClr val="008C83"/>
                </a:solidFill>
                <a:latin typeface="Heiti SC"/>
                <a:ea typeface="Heiti SC"/>
                <a:cs typeface="Heiti SC"/>
              </a:rPr>
              <a:t>01</a:t>
            </a:r>
          </a:p>
        </p:txBody>
      </p:sp>
      <p:sp>
        <p:nvSpPr>
          <p:cNvPr id="9" name="copy-3-筛选研究材料">
            <a:extLst xmlns:a="http://schemas.openxmlformats.org/drawingml/2006/main">
              <a:ext uri="{FF2B5EF4-FFF2-40B4-BE49-F238E27FC236}">
                <a16:creationId xmlns:a16="http://schemas.microsoft.com/office/drawing/2014/main" id="{8F12807F-0551-49A1-AD05-DC5C78C43F48}"/>
              </a:ext>
            </a:extLst>
          </p:cNvPr>
          <p:cNvSpPr>
            <a:spLocks xmlns:a="http://schemas.openxmlformats.org/drawingml/2006/main" noGrp="1"/>
          </p:cNvSpPr>
          <p:nvPr/>
        </p:nvSpPr>
        <p:spPr>
          <a:xfrm xmlns:a="http://schemas.openxmlformats.org/drawingml/2006/main">
            <a:off x="1371600" y="1924050"/>
            <a:ext cx="6162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74D"/>
                </a:solidFill>
                <a:latin typeface="Heiti SC"/>
                <a:ea typeface="Heiti SC"/>
                <a:cs typeface="Heiti SC"/>
              </a:defRPr>
            </a:pPr>
            <a:r>
              <a:rPr sz="2250" b="1">
                <a:solidFill>
                  <a:srgbClr val="19374D"/>
                </a:solidFill>
                <a:latin typeface="Heiti SC"/>
                <a:ea typeface="Heiti SC"/>
                <a:cs typeface="Heiti SC"/>
              </a:rPr>
              <a:t>筛选研究材料</a:t>
            </a:r>
          </a:p>
        </p:txBody>
      </p:sp>
      <p:sp>
        <p:nvSpPr>
          <p:cNvPr id="10" name="copy-3-按投资标的的相关性评分，选出研">
            <a:extLst xmlns:a="http://schemas.openxmlformats.org/drawingml/2006/main">
              <a:ext uri="{FF2B5EF4-FFF2-40B4-BE49-F238E27FC236}">
                <a16:creationId xmlns:a16="http://schemas.microsoft.com/office/drawing/2014/main" id="{4DA4C7F9-424C-455A-9C05-8E19CAC0445F}"/>
              </a:ext>
            </a:extLst>
          </p:cNvPr>
          <p:cNvSpPr>
            <a:spLocks xmlns:a="http://schemas.openxmlformats.org/drawingml/2006/main" noGrp="1"/>
          </p:cNvSpPr>
          <p:nvPr/>
        </p:nvSpPr>
        <p:spPr>
          <a:xfrm xmlns:a="http://schemas.openxmlformats.org/drawingml/2006/main">
            <a:off x="1371600" y="2390775"/>
            <a:ext cx="6162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按投资标的的相关性评分，选出研报</a:t>
            </a:r>
          </a:p>
        </p:txBody>
      </p:sp>
      <p:sp>
        <p:nvSpPr>
          <p:cNvPr id="11" name="copy-3-02">
            <a:extLst xmlns:a="http://schemas.openxmlformats.org/drawingml/2006/main">
              <a:ext uri="{FF2B5EF4-FFF2-40B4-BE49-F238E27FC236}">
                <a16:creationId xmlns:a16="http://schemas.microsoft.com/office/drawing/2014/main" id="{20B45F0A-C872-41B7-8532-2F33D30759E1}"/>
              </a:ext>
            </a:extLst>
          </p:cNvPr>
          <p:cNvSpPr>
            <a:spLocks xmlns:a="http://schemas.openxmlformats.org/drawingml/2006/main" noGrp="1"/>
          </p:cNvSpPr>
          <p:nvPr/>
        </p:nvSpPr>
        <p:spPr>
          <a:xfrm xmlns:a="http://schemas.openxmlformats.org/drawingml/2006/main">
            <a:off x="628650" y="30956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83"/>
                </a:solidFill>
                <a:latin typeface="Heiti SC"/>
                <a:ea typeface="Heiti SC"/>
                <a:cs typeface="Heiti SC"/>
              </a:defRPr>
            </a:pPr>
            <a:r>
              <a:rPr sz="2100" b="1">
                <a:solidFill>
                  <a:srgbClr val="008C83"/>
                </a:solidFill>
                <a:latin typeface="Heiti SC"/>
                <a:ea typeface="Heiti SC"/>
                <a:cs typeface="Heiti SC"/>
              </a:rPr>
              <a:t>02</a:t>
            </a:r>
          </a:p>
        </p:txBody>
      </p:sp>
      <p:sp>
        <p:nvSpPr>
          <p:cNvPr id="12" name="copy-3-LLM归纳内容">
            <a:extLst xmlns:a="http://schemas.openxmlformats.org/drawingml/2006/main">
              <a:ext uri="{FF2B5EF4-FFF2-40B4-BE49-F238E27FC236}">
                <a16:creationId xmlns:a16="http://schemas.microsoft.com/office/drawing/2014/main" id="{B391C414-6A79-4CA6-9F76-1D231793225D}"/>
              </a:ext>
            </a:extLst>
          </p:cNvPr>
          <p:cNvSpPr>
            <a:spLocks xmlns:a="http://schemas.openxmlformats.org/drawingml/2006/main" noGrp="1"/>
          </p:cNvSpPr>
          <p:nvPr/>
        </p:nvSpPr>
        <p:spPr>
          <a:xfrm xmlns:a="http://schemas.openxmlformats.org/drawingml/2006/main">
            <a:off x="1371600" y="3095625"/>
            <a:ext cx="6162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74D"/>
                </a:solidFill>
                <a:latin typeface="Heiti SC"/>
                <a:ea typeface="Heiti SC"/>
                <a:cs typeface="Heiti SC"/>
              </a:defRPr>
            </a:pPr>
            <a:r>
              <a:rPr sz="2250" b="1">
                <a:solidFill>
                  <a:srgbClr val="19374D"/>
                </a:solidFill>
                <a:latin typeface="Heiti SC"/>
                <a:ea typeface="Heiti SC"/>
                <a:cs typeface="Heiti SC"/>
              </a:rPr>
              <a:t>LLM归纳内容</a:t>
            </a:r>
          </a:p>
        </p:txBody>
      </p:sp>
      <p:sp>
        <p:nvSpPr>
          <p:cNvPr id="13" name="copy-3-形成知识小结，按指定研究方向分">
            <a:extLst xmlns:a="http://schemas.openxmlformats.org/drawingml/2006/main">
              <a:ext uri="{FF2B5EF4-FFF2-40B4-BE49-F238E27FC236}">
                <a16:creationId xmlns:a16="http://schemas.microsoft.com/office/drawing/2014/main" id="{10AB62A2-4944-40ED-9CB8-28311EB41758}"/>
              </a:ext>
            </a:extLst>
          </p:cNvPr>
          <p:cNvSpPr>
            <a:spLocks xmlns:a="http://schemas.openxmlformats.org/drawingml/2006/main" noGrp="1"/>
          </p:cNvSpPr>
          <p:nvPr/>
        </p:nvSpPr>
        <p:spPr>
          <a:xfrm xmlns:a="http://schemas.openxmlformats.org/drawingml/2006/main">
            <a:off x="1371600" y="3562350"/>
            <a:ext cx="6162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形成知识小结，按指定研究方向分析</a:t>
            </a:r>
          </a:p>
        </p:txBody>
      </p:sp>
      <p:sp>
        <p:nvSpPr>
          <p:cNvPr id="14" name="copy-3-03">
            <a:extLst xmlns:a="http://schemas.openxmlformats.org/drawingml/2006/main">
              <a:ext uri="{FF2B5EF4-FFF2-40B4-BE49-F238E27FC236}">
                <a16:creationId xmlns:a16="http://schemas.microsoft.com/office/drawing/2014/main" id="{8273C4DE-5008-463D-9059-8CDB2BB0A157}"/>
              </a:ext>
            </a:extLst>
          </p:cNvPr>
          <p:cNvSpPr>
            <a:spLocks xmlns:a="http://schemas.openxmlformats.org/drawingml/2006/main" noGrp="1"/>
          </p:cNvSpPr>
          <p:nvPr/>
        </p:nvSpPr>
        <p:spPr>
          <a:xfrm xmlns:a="http://schemas.openxmlformats.org/drawingml/2006/main">
            <a:off x="628650" y="42672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83"/>
                </a:solidFill>
                <a:latin typeface="Heiti SC"/>
                <a:ea typeface="Heiti SC"/>
                <a:cs typeface="Heiti SC"/>
              </a:defRPr>
            </a:pPr>
            <a:r>
              <a:rPr sz="2100" b="1">
                <a:solidFill>
                  <a:srgbClr val="008C83"/>
                </a:solidFill>
                <a:latin typeface="Heiti SC"/>
                <a:ea typeface="Heiti SC"/>
                <a:cs typeface="Heiti SC"/>
              </a:rPr>
              <a:t>03</a:t>
            </a:r>
          </a:p>
        </p:txBody>
      </p:sp>
      <p:sp>
        <p:nvSpPr>
          <p:cNvPr id="15" name="copy-3-LLM生成观点">
            <a:extLst xmlns:a="http://schemas.openxmlformats.org/drawingml/2006/main">
              <a:ext uri="{FF2B5EF4-FFF2-40B4-BE49-F238E27FC236}">
                <a16:creationId xmlns:a16="http://schemas.microsoft.com/office/drawing/2014/main" id="{3E60BAA3-09D1-4A2E-81B8-69372C95F59B}"/>
              </a:ext>
            </a:extLst>
          </p:cNvPr>
          <p:cNvSpPr>
            <a:spLocks xmlns:a="http://schemas.openxmlformats.org/drawingml/2006/main" noGrp="1"/>
          </p:cNvSpPr>
          <p:nvPr/>
        </p:nvSpPr>
        <p:spPr>
          <a:xfrm xmlns:a="http://schemas.openxmlformats.org/drawingml/2006/main">
            <a:off x="1371600" y="4267200"/>
            <a:ext cx="6162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74D"/>
                </a:solidFill>
                <a:latin typeface="Heiti SC"/>
                <a:ea typeface="Heiti SC"/>
                <a:cs typeface="Heiti SC"/>
              </a:defRPr>
            </a:pPr>
            <a:r>
              <a:rPr sz="2250" b="1">
                <a:solidFill>
                  <a:srgbClr val="19374D"/>
                </a:solidFill>
                <a:latin typeface="Heiti SC"/>
                <a:ea typeface="Heiti SC"/>
                <a:cs typeface="Heiti SC"/>
              </a:rPr>
              <a:t>LLM生成观点</a:t>
            </a:r>
          </a:p>
        </p:txBody>
      </p:sp>
      <p:sp>
        <p:nvSpPr>
          <p:cNvPr id="16" name="copy-3-综合各份小结，形成市场观点">
            <a:extLst xmlns:a="http://schemas.openxmlformats.org/drawingml/2006/main">
              <a:ext uri="{FF2B5EF4-FFF2-40B4-BE49-F238E27FC236}">
                <a16:creationId xmlns:a16="http://schemas.microsoft.com/office/drawing/2014/main" id="{DEC87C49-ADD8-47CD-BA34-C891313C8F61}"/>
              </a:ext>
            </a:extLst>
          </p:cNvPr>
          <p:cNvSpPr>
            <a:spLocks xmlns:a="http://schemas.openxmlformats.org/drawingml/2006/main" noGrp="1"/>
          </p:cNvSpPr>
          <p:nvPr/>
        </p:nvSpPr>
        <p:spPr>
          <a:xfrm xmlns:a="http://schemas.openxmlformats.org/drawingml/2006/main">
            <a:off x="1371600" y="4733925"/>
            <a:ext cx="6162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综合各份小结，形成市场观点</a:t>
            </a:r>
          </a:p>
        </p:txBody>
      </p:sp>
      <p:sp>
        <p:nvSpPr>
          <p:cNvPr id="17" name="copy-3-一周以上">
            <a:extLst xmlns:a="http://schemas.openxmlformats.org/drawingml/2006/main">
              <a:ext uri="{FF2B5EF4-FFF2-40B4-BE49-F238E27FC236}">
                <a16:creationId xmlns:a16="http://schemas.microsoft.com/office/drawing/2014/main" id="{D8F9DBDB-E532-4177-B7D8-F3B642DC8589}"/>
              </a:ext>
            </a:extLst>
          </p:cNvPr>
          <p:cNvSpPr>
            <a:spLocks xmlns:a="http://schemas.openxmlformats.org/drawingml/2006/main" noGrp="1"/>
          </p:cNvSpPr>
          <p:nvPr/>
        </p:nvSpPr>
        <p:spPr>
          <a:xfrm xmlns:a="http://schemas.openxmlformats.org/drawingml/2006/main">
            <a:off x="8486775" y="20383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9374D"/>
                </a:solidFill>
                <a:latin typeface="Heiti SC"/>
                <a:ea typeface="Heiti SC"/>
                <a:cs typeface="Heiti SC"/>
              </a:defRPr>
            </a:pPr>
            <a:r>
              <a:rPr sz="3675" b="1">
                <a:solidFill>
                  <a:srgbClr val="19374D"/>
                </a:solidFill>
                <a:latin typeface="Heiti SC"/>
                <a:ea typeface="Heiti SC"/>
                <a:cs typeface="Heiti SC"/>
              </a:rPr>
              <a:t>一周以上</a:t>
            </a:r>
          </a:p>
        </p:txBody>
      </p:sp>
      <p:sp>
        <p:nvSpPr>
          <p:cNvPr id="18" name="copy-3-原流程耗时">
            <a:extLst xmlns:a="http://schemas.openxmlformats.org/drawingml/2006/main">
              <a:ext uri="{FF2B5EF4-FFF2-40B4-BE49-F238E27FC236}">
                <a16:creationId xmlns:a16="http://schemas.microsoft.com/office/drawing/2014/main" id="{EC7123BA-34BD-44F8-A288-0A31305A7EC1}"/>
              </a:ext>
            </a:extLst>
          </p:cNvPr>
          <p:cNvSpPr>
            <a:spLocks xmlns:a="http://schemas.openxmlformats.org/drawingml/2006/main" noGrp="1"/>
          </p:cNvSpPr>
          <p:nvPr/>
        </p:nvSpPr>
        <p:spPr>
          <a:xfrm xmlns:a="http://schemas.openxmlformats.org/drawingml/2006/main">
            <a:off x="8505825" y="2857500"/>
            <a:ext cx="2838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66975"/>
                </a:solidFill>
                <a:latin typeface="Heiti SC"/>
                <a:ea typeface="Heiti SC"/>
                <a:cs typeface="Heiti SC"/>
              </a:defRPr>
            </a:pPr>
            <a:r>
              <a:rPr sz="1875" b="0">
                <a:solidFill>
                  <a:srgbClr val="566975"/>
                </a:solidFill>
                <a:latin typeface="Heiti SC"/>
                <a:ea typeface="Heiti SC"/>
                <a:cs typeface="Heiti SC"/>
              </a:rPr>
              <a:t>原流程耗时</a:t>
            </a:r>
          </a:p>
        </p:txBody>
      </p:sp>
      <p:sp>
        <p:nvSpPr>
          <p:cNvPr id="19" name="copy-3-3小时以内">
            <a:extLst xmlns:a="http://schemas.openxmlformats.org/drawingml/2006/main">
              <a:ext uri="{FF2B5EF4-FFF2-40B4-BE49-F238E27FC236}">
                <a16:creationId xmlns:a16="http://schemas.microsoft.com/office/drawing/2014/main" id="{283E001B-118F-45E0-9183-1535E2C6B677}"/>
              </a:ext>
            </a:extLst>
          </p:cNvPr>
          <p:cNvSpPr>
            <a:spLocks xmlns:a="http://schemas.openxmlformats.org/drawingml/2006/main" noGrp="1"/>
          </p:cNvSpPr>
          <p:nvPr/>
        </p:nvSpPr>
        <p:spPr>
          <a:xfrm xmlns:a="http://schemas.openxmlformats.org/drawingml/2006/main">
            <a:off x="8477250" y="3857625"/>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008C83"/>
                </a:solidFill>
                <a:latin typeface="Heiti SC"/>
                <a:ea typeface="Heiti SC"/>
                <a:cs typeface="Heiti SC"/>
              </a:defRPr>
            </a:pPr>
            <a:r>
              <a:rPr sz="3675" b="1">
                <a:solidFill>
                  <a:srgbClr val="008C83"/>
                </a:solidFill>
                <a:latin typeface="Heiti SC"/>
                <a:ea typeface="Heiti SC"/>
                <a:cs typeface="Heiti SC"/>
              </a:rPr>
              <a:t>3小时以内</a:t>
            </a:r>
          </a:p>
        </p:txBody>
      </p:sp>
      <p:sp>
        <p:nvSpPr>
          <p:cNvPr id="20" name="copy-3-系统上线后">
            <a:extLst xmlns:a="http://schemas.openxmlformats.org/drawingml/2006/main">
              <a:ext uri="{FF2B5EF4-FFF2-40B4-BE49-F238E27FC236}">
                <a16:creationId xmlns:a16="http://schemas.microsoft.com/office/drawing/2014/main" id="{ABC44CFB-42EB-45DE-9BE3-B68D9ED797AB}"/>
              </a:ext>
            </a:extLst>
          </p:cNvPr>
          <p:cNvSpPr>
            <a:spLocks xmlns:a="http://schemas.openxmlformats.org/drawingml/2006/main" noGrp="1"/>
          </p:cNvSpPr>
          <p:nvPr/>
        </p:nvSpPr>
        <p:spPr>
          <a:xfrm xmlns:a="http://schemas.openxmlformats.org/drawingml/2006/main">
            <a:off x="8505825" y="4657725"/>
            <a:ext cx="2838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66975"/>
                </a:solidFill>
                <a:latin typeface="Heiti SC"/>
                <a:ea typeface="Heiti SC"/>
                <a:cs typeface="Heiti SC"/>
              </a:defRPr>
            </a:pPr>
            <a:r>
              <a:rPr sz="1875" b="0">
                <a:solidFill>
                  <a:srgbClr val="566975"/>
                </a:solidFill>
                <a:latin typeface="Heiti SC"/>
                <a:ea typeface="Heiti SC"/>
                <a:cs typeface="Heiti SC"/>
              </a:rPr>
              <a:t>系统上线后</a:t>
            </a:r>
          </a:p>
        </p:txBody>
      </p:sp>
    </p:spTree>
    <p:extLst>
      <p:ext uri="{BB962C8B-B14F-4D97-AF65-F5344CB8AC3E}">
        <p14:creationId xmlns:p14="http://schemas.microsoft.com/office/powerpoint/2010/main" val="18654719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a177gc-为什么值得开展本地实践">
            <a:extLst xmlns:a="http://schemas.openxmlformats.org/drawingml/2006/main">
              <a:ext uri="{FF2B5EF4-FFF2-40B4-BE49-F238E27FC236}">
                <a16:creationId xmlns:a16="http://schemas.microsoft.com/office/drawing/2014/main" id="{9D004DAB-3CD4-4938-8ACF-6ED6BEABCC8E}"/>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天弘基金：LLM组织财务归因分析</a:t>
            </a:r>
          </a:p>
        </p:txBody>
      </p:sp>
      <p:sp>
        <p:nvSpPr>
          <p:cNvPr id="2" name="text-a177gc-02">
            <a:extLst xmlns:a="http://schemas.openxmlformats.org/drawingml/2006/main">
              <a:ext uri="{FF2B5EF4-FFF2-40B4-BE49-F238E27FC236}">
                <a16:creationId xmlns:a16="http://schemas.microsoft.com/office/drawing/2014/main" id="{2B645B1A-26A4-4395-A096-68418C31E715}"/>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04</a:t>
            </a:r>
          </a:p>
        </p:txBody>
      </p:sp>
      <p:sp>
        <p:nvSpPr>
          <p:cNvPr id="7" name="copy-3-研究员提出盈利分析要求，Fin">
            <a:extLst xmlns:a="http://schemas.openxmlformats.org/drawingml/2006/main">
              <a:ext uri="{FF2B5EF4-FFF2-40B4-BE49-F238E27FC236}">
                <a16:creationId xmlns:a16="http://schemas.microsoft.com/office/drawing/2014/main" id="{5AD07F6E-0926-4C9B-B299-6515378C22F8}"/>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研究员提出盈利分析要求，FinAgent结合财报与工具数据形成解释</a:t>
            </a:r>
          </a:p>
        </p:txBody>
      </p:sp>
      <p:graphicFrame>
        <p:nvGraphicFramePr>
          <p:cNvPr id="13" name=""/>
          <p:cNvGraphicFramePr/>
          <p:nvPr/>
        </p:nvGraphicFramePr>
        <p:xfrm>
          <a:off xmlns:a="http://schemas.openxmlformats.org/drawingml/2006/main" x="609600" y="2009775"/>
          <a:ext xmlns:a="http://schemas.openxmlformats.org/drawingml/2006/main" cx="10972800" cy="3086100"/>
        </p:xfrm>
        <a:graphic xmlns:a="http://schemas.openxmlformats.org/drawingml/2006/main">
          <a:graphicData uri="http://schemas.openxmlformats.org/drawingml/2006/table">
            <a:tbl>
              <a:tblPr firstRow="1" bandRow="0"/>
              <a:tblGrid>
                <a:gridCol w="2533650"/>
                <a:gridCol w="8439150"/>
              </a:tblGrid>
              <a:tr h="617220">
                <a:tc>
                  <a:txBody>
                    <a:bodyPr/>
                    <a:lstStyle/>
                    <a:p>
                      <a:r>
                        <a:rPr sz="2100" b="1">
                          <a:solidFill>
                            <a:srgbClr val="FFFFFF"/>
                          </a:solidFill>
                          <a:latin typeface="Heiti SC"/>
                          <a:ea typeface="Heiti SC"/>
                          <a:cs typeface="Heiti SC"/>
                        </a:rPr>
                        <a:t>分析层次</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模型组织的内容</a:t>
                      </a:r>
                    </a:p>
                  </a:txBody>
                  <a:tcPr marL="133350" marR="133350" marT="95250" marB="95250" anchor="ctr">
                    <a:solidFill>
                      <a:srgbClr val="19374D"/>
                    </a:solidFill>
                  </a:tcPr>
                </a:tc>
              </a:tr>
              <a:tr h="617220">
                <a:tc>
                  <a:txBody>
                    <a:bodyPr/>
                    <a:lstStyle/>
                    <a:p>
                      <a:r>
                        <a:rPr sz="2100">
                          <a:solidFill>
                            <a:srgbClr val="253C4A"/>
                          </a:solidFill>
                          <a:latin typeface="Heiti SC"/>
                          <a:ea typeface="Heiti SC"/>
                          <a:cs typeface="Heiti SC"/>
                        </a:rPr>
                        <a:t>研究问题</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企业净利润增长由哪些因素驱动</a:t>
                      </a:r>
                    </a:p>
                  </a:txBody>
                  <a:tcPr marL="133350" marR="133350" marT="95250" marB="95250" anchor="ctr">
                    <a:solidFill>
                      <a:srgbClr val="FFFFFF"/>
                    </a:solidFill>
                  </a:tcPr>
                </a:tc>
              </a:tr>
              <a:tr h="617220">
                <a:tc>
                  <a:txBody>
                    <a:bodyPr/>
                    <a:lstStyle/>
                    <a:p>
                      <a:r>
                        <a:rPr sz="2100">
                          <a:solidFill>
                            <a:srgbClr val="253C4A"/>
                          </a:solidFill>
                          <a:latin typeface="Heiti SC"/>
                          <a:ea typeface="Heiti SC"/>
                          <a:cs typeface="Heiti SC"/>
                        </a:rPr>
                        <a:t>核心维度</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收入、成本、费用</a:t>
                      </a:r>
                    </a:p>
                  </a:txBody>
                  <a:tcPr marL="133350" marR="133350" marT="95250" marB="95250" anchor="ctr">
                    <a:solidFill>
                      <a:srgbClr val="FFFFFF"/>
                    </a:solidFill>
                  </a:tcPr>
                </a:tc>
              </a:tr>
              <a:tr h="617220">
                <a:tc>
                  <a:txBody>
                    <a:bodyPr/>
                    <a:lstStyle/>
                    <a:p>
                      <a:r>
                        <a:rPr sz="2100">
                          <a:solidFill>
                            <a:srgbClr val="253C4A"/>
                          </a:solidFill>
                          <a:latin typeface="Heiti SC"/>
                          <a:ea typeface="Heiti SC"/>
                          <a:cs typeface="Heiti SC"/>
                        </a:rPr>
                        <a:t>进一步分析</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销量、单价、原材料、渠道</a:t>
                      </a:r>
                    </a:p>
                  </a:txBody>
                  <a:tcPr marL="133350" marR="133350" marT="95250" marB="95250" anchor="ctr">
                    <a:solidFill>
                      <a:srgbClr val="FFFFFF"/>
                    </a:solidFill>
                  </a:tcPr>
                </a:tc>
              </a:tr>
              <a:tr h="617220">
                <a:tc>
                  <a:txBody>
                    <a:bodyPr/>
                    <a:lstStyle/>
                    <a:p>
                      <a:r>
                        <a:rPr sz="2100">
                          <a:solidFill>
                            <a:srgbClr val="253C4A"/>
                          </a:solidFill>
                          <a:latin typeface="Heiti SC"/>
                          <a:ea typeface="Heiti SC"/>
                          <a:cs typeface="Heiti SC"/>
                        </a:rPr>
                        <a:t>分析产物</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结构化归因框架与解释文本</a:t>
                      </a:r>
                    </a:p>
                  </a:txBody>
                  <a:tcPr marL="133350" marR="133350" marT="95250" marB="95250" anchor="ctr">
                    <a:solidFill>
                      <a:srgbClr val="FFFFFF"/>
                    </a:solidFill>
                  </a:tcPr>
                </a:tc>
              </a:tr>
            </a:tbl>
          </a:graphicData>
        </a:graphic>
      </p:graphicFrame>
      <p:sp>
        <p:nvSpPr>
          <p:cNvPr id="9" name="copy-4-数日的整理与计算缩短至分钟级">
            <a:extLst xmlns:a="http://schemas.openxmlformats.org/drawingml/2006/main">
              <a:ext uri="{FF2B5EF4-FFF2-40B4-BE49-F238E27FC236}">
                <a16:creationId xmlns:a16="http://schemas.microsoft.com/office/drawing/2014/main" id="{FF1E0B7A-298E-4388-98FD-6920E8BD8D23}"/>
              </a:ext>
            </a:extLst>
          </p:cNvPr>
          <p:cNvSpPr>
            <a:spLocks xmlns:a="http://schemas.openxmlformats.org/drawingml/2006/main" noGrp="1"/>
          </p:cNvSpPr>
          <p:nvPr/>
        </p:nvSpPr>
        <p:spPr>
          <a:xfrm xmlns:a="http://schemas.openxmlformats.org/drawingml/2006/main">
            <a:off x="628650" y="54673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08C83"/>
                </a:solidFill>
                <a:latin typeface="Heiti SC"/>
                <a:ea typeface="Heiti SC"/>
                <a:cs typeface="Heiti SC"/>
              </a:defRPr>
            </a:pPr>
            <a:r>
              <a:rPr sz="2775" b="1">
                <a:solidFill>
                  <a:srgbClr val="008C83"/>
                </a:solidFill>
                <a:latin typeface="Heiti SC"/>
                <a:ea typeface="Heiti SC"/>
                <a:cs typeface="Heiti SC"/>
              </a:rPr>
              <a:t>数日的整理与计算缩短至分钟级</a:t>
            </a:r>
          </a:p>
        </p:txBody>
      </p:sp>
    </p:spTree>
    <p:extLst>
      <p:ext uri="{BB962C8B-B14F-4D97-AF65-F5344CB8AC3E}">
        <p14:creationId xmlns:p14="http://schemas.microsoft.com/office/powerpoint/2010/main" val="738808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dqqb2h-附录B  MENTOR的行业排序">
            <a:extLst xmlns:a="http://schemas.openxmlformats.org/drawingml/2006/main">
              <a:ext uri="{FF2B5EF4-FFF2-40B4-BE49-F238E27FC236}">
                <a16:creationId xmlns:a16="http://schemas.microsoft.com/office/drawing/2014/main" id="{8115CCAF-26BD-4065-806D-0B90EAFC8B47}"/>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MENTOR：预测结果进入下一轮判断</a:t>
            </a:r>
          </a:p>
        </p:txBody>
      </p:sp>
      <p:sp>
        <p:nvSpPr>
          <p:cNvPr id="4" name="text-dqqb2h-22">
            <a:extLst xmlns:a="http://schemas.openxmlformats.org/drawingml/2006/main">
              <a:ext uri="{FF2B5EF4-FFF2-40B4-BE49-F238E27FC236}">
                <a16:creationId xmlns:a16="http://schemas.microsoft.com/office/drawing/2014/main" id="{9E0CF3A8-9B84-40A5-864E-C6A91C1B57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05</a:t>
            </a:r>
          </a:p>
        </p:txBody>
      </p:sp>
      <p:sp>
        <p:nvSpPr>
          <p:cNvPr id="8" name="copy-4-易方达基金与高校研究人员于20">
            <a:extLst xmlns:a="http://schemas.openxmlformats.org/drawingml/2006/main">
              <a:ext uri="{FF2B5EF4-FFF2-40B4-BE49-F238E27FC236}">
                <a16:creationId xmlns:a16="http://schemas.microsoft.com/office/drawing/2014/main" id="{542BDB1F-3055-4A6F-8EE7-7FFE1F103730}"/>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易方达基金与高校研究人员于2025年共同发表的研究</a:t>
            </a:r>
          </a:p>
        </p:txBody>
      </p:sp>
      <p:graphicFrame>
        <p:nvGraphicFramePr>
          <p:cNvPr id="14" name=""/>
          <p:cNvGraphicFramePr/>
          <p:nvPr/>
        </p:nvGraphicFramePr>
        <p:xfrm>
          <a:off xmlns:a="http://schemas.openxmlformats.org/drawingml/2006/main" x="609600" y="2114550"/>
          <a:ext xmlns:a="http://schemas.openxmlformats.org/drawingml/2006/main" cx="10972800" cy="2981325"/>
        </p:xfrm>
        <a:graphic xmlns:a="http://schemas.openxmlformats.org/drawingml/2006/main">
          <a:graphicData uri="http://schemas.openxmlformats.org/drawingml/2006/table">
            <a:tbl>
              <a:tblPr firstRow="1" bandRow="0"/>
              <a:tblGrid>
                <a:gridCol w="2057400"/>
                <a:gridCol w="4019550"/>
                <a:gridCol w="4895850"/>
              </a:tblGrid>
              <a:tr h="745331">
                <a:tc>
                  <a:txBody>
                    <a:bodyPr/>
                    <a:lstStyle/>
                    <a:p>
                      <a:r>
                        <a:rPr sz="2100" b="1">
                          <a:solidFill>
                            <a:srgbClr val="FFFFFF"/>
                          </a:solidFill>
                          <a:latin typeface="Heiti SC"/>
                          <a:ea typeface="Heiti SC"/>
                          <a:cs typeface="Heiti SC"/>
                        </a:rPr>
                        <a:t>LLM任务</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输入内容</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模型输出</a:t>
                      </a:r>
                    </a:p>
                  </a:txBody>
                  <a:tcPr marL="133350" marR="133350" marT="95250" marB="95250" anchor="ctr">
                    <a:solidFill>
                      <a:srgbClr val="19374D"/>
                    </a:solidFill>
                  </a:tcPr>
                </a:tc>
              </a:tr>
              <a:tr h="745331">
                <a:tc>
                  <a:txBody>
                    <a:bodyPr/>
                    <a:lstStyle/>
                    <a:p>
                      <a:r>
                        <a:rPr sz="2100">
                          <a:solidFill>
                            <a:srgbClr val="253C4A"/>
                          </a:solidFill>
                          <a:latin typeface="Heiti SC"/>
                          <a:ea typeface="Heiti SC"/>
                          <a:cs typeface="Heiti SC"/>
                        </a:rPr>
                        <a:t>事件预测</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上周热点与改进指导</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下一周按市场影响排序的10条事件</a:t>
                      </a:r>
                    </a:p>
                  </a:txBody>
                  <a:tcPr marL="133350" marR="133350" marT="95250" marB="95250" anchor="ctr">
                    <a:solidFill>
                      <a:srgbClr val="FFFFFF"/>
                    </a:solidFill>
                  </a:tcPr>
                </a:tc>
              </a:tr>
              <a:tr h="745331">
                <a:tc>
                  <a:txBody>
                    <a:bodyPr/>
                    <a:lstStyle/>
                    <a:p>
                      <a:r>
                        <a:rPr sz="2100">
                          <a:solidFill>
                            <a:srgbClr val="253C4A"/>
                          </a:solidFill>
                          <a:latin typeface="Heiti SC"/>
                          <a:ea typeface="Heiti SC"/>
                          <a:cs typeface="Heiti SC"/>
                        </a:rPr>
                        <a:t>行业排序</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事件、历史表现与排序策略</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行业名称的有序列表</a:t>
                      </a:r>
                    </a:p>
                  </a:txBody>
                  <a:tcPr marL="133350" marR="133350" marT="95250" marB="95250" anchor="ctr">
                    <a:solidFill>
                      <a:srgbClr val="FFFFFF"/>
                    </a:solidFill>
                  </a:tcPr>
                </a:tc>
              </a:tr>
              <a:tr h="745331">
                <a:tc>
                  <a:txBody>
                    <a:bodyPr/>
                    <a:lstStyle/>
                    <a:p>
                      <a:r>
                        <a:rPr sz="2100">
                          <a:solidFill>
                            <a:srgbClr val="253C4A"/>
                          </a:solidFill>
                          <a:latin typeface="Heiti SC"/>
                          <a:ea typeface="Heiti SC"/>
                          <a:cs typeface="Heiti SC"/>
                        </a:rPr>
                        <a:t>反馈修订</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先前预测与实际结果</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下一轮使用的改进意见与策略文本</a:t>
                      </a:r>
                    </a:p>
                  </a:txBody>
                  <a:tcPr marL="133350" marR="133350" marT="95250" marB="95250" anchor="ctr">
                    <a:solidFill>
                      <a:srgbClr val="FFFFFF"/>
                    </a:solidFill>
                  </a:tcPr>
                </a:tc>
              </a:tr>
            </a:tbl>
          </a:graphicData>
        </a:graphic>
      </p:graphicFrame>
      <p:sp>
        <p:nvSpPr>
          <p:cNvPr id="10" name="copy-5-每轮结果形成新的策略文本，持续">
            <a:extLst xmlns:a="http://schemas.openxmlformats.org/drawingml/2006/main">
              <a:ext uri="{FF2B5EF4-FFF2-40B4-BE49-F238E27FC236}">
                <a16:creationId xmlns:a16="http://schemas.microsoft.com/office/drawing/2014/main" id="{A71B0F2D-7A85-4373-A9F9-13BF8E50A7F3}"/>
              </a:ext>
            </a:extLst>
          </p:cNvPr>
          <p:cNvSpPr>
            <a:spLocks xmlns:a="http://schemas.openxmlformats.org/drawingml/2006/main" noGrp="1"/>
          </p:cNvSpPr>
          <p:nvPr/>
        </p:nvSpPr>
        <p:spPr>
          <a:xfrm xmlns:a="http://schemas.openxmlformats.org/drawingml/2006/main">
            <a:off x="628650" y="54864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C83"/>
                </a:solidFill>
                <a:latin typeface="Heiti SC"/>
                <a:ea typeface="Heiti SC"/>
                <a:cs typeface="Heiti SC"/>
              </a:defRPr>
            </a:pPr>
            <a:r>
              <a:rPr sz="2325" b="1">
                <a:solidFill>
                  <a:srgbClr val="008C83"/>
                </a:solidFill>
                <a:latin typeface="Heiti SC"/>
                <a:ea typeface="Heiti SC"/>
                <a:cs typeface="Heiti SC"/>
              </a:rPr>
              <a:t>每轮结果形成新的策略文本，持续用于后续预测。</a:t>
            </a:r>
          </a:p>
        </p:txBody>
      </p:sp>
    </p:spTree>
    <p:extLst>
      <p:ext uri="{BB962C8B-B14F-4D97-AF65-F5344CB8AC3E}">
        <p14:creationId xmlns:p14="http://schemas.microsoft.com/office/powerpoint/2010/main" val="3051834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duilk5-南方怎样处理自然语言查询">
            <a:extLst xmlns:a="http://schemas.openxmlformats.org/drawingml/2006/main">
              <a:ext uri="{FF2B5EF4-FFF2-40B4-BE49-F238E27FC236}">
                <a16:creationId xmlns:a16="http://schemas.microsoft.com/office/drawing/2014/main" id="{EC884946-1A64-4529-A5BE-BD1D6ACFAF3C}"/>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南方基金：LLM将业务需求转成查询</a:t>
            </a:r>
          </a:p>
        </p:txBody>
      </p:sp>
      <p:sp>
        <p:nvSpPr>
          <p:cNvPr id="4" name="text-duilk5-06">
            <a:extLst xmlns:a="http://schemas.openxmlformats.org/drawingml/2006/main">
              <a:ext uri="{FF2B5EF4-FFF2-40B4-BE49-F238E27FC236}">
                <a16:creationId xmlns:a16="http://schemas.microsoft.com/office/drawing/2014/main" id="{A9859138-27F8-4BF7-AD70-72BE3A56F7B1}"/>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06</a:t>
            </a:r>
          </a:p>
        </p:txBody>
      </p:sp>
      <p:graphicFrame>
        <p:nvGraphicFramePr>
          <p:cNvPr id="12" name=""/>
          <p:cNvGraphicFramePr/>
          <p:nvPr/>
        </p:nvGraphicFramePr>
        <p:xfrm>
          <a:off xmlns:a="http://schemas.openxmlformats.org/drawingml/2006/main" x="609600" y="2009775"/>
          <a:ext xmlns:a="http://schemas.openxmlformats.org/drawingml/2006/main" cx="10972800" cy="3286125"/>
        </p:xfrm>
        <a:graphic xmlns:a="http://schemas.openxmlformats.org/drawingml/2006/main">
          <a:graphicData uri="http://schemas.openxmlformats.org/drawingml/2006/table">
            <a:tbl>
              <a:tblPr firstRow="1" bandRow="0"/>
              <a:tblGrid>
                <a:gridCol w="1819275"/>
                <a:gridCol w="4181475"/>
                <a:gridCol w="4972050"/>
              </a:tblGrid>
              <a:tr h="657225">
                <a:tc>
                  <a:txBody>
                    <a:bodyPr/>
                    <a:lstStyle/>
                    <a:p>
                      <a:r>
                        <a:rPr sz="2025" b="1">
                          <a:solidFill>
                            <a:srgbClr val="FFFFFF"/>
                          </a:solidFill>
                          <a:latin typeface="Heiti SC"/>
                          <a:ea typeface="Heiti SC"/>
                          <a:cs typeface="Heiti SC"/>
                        </a:rPr>
                        <a:t>环节</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LLM生成的内容</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系统如何使用</a:t>
                      </a:r>
                    </a:p>
                  </a:txBody>
                  <a:tcPr marL="133350" marR="133350" marT="95250" marB="95250" anchor="ctr">
                    <a:solidFill>
                      <a:srgbClr val="19374D"/>
                    </a:solidFill>
                  </a:tcPr>
                </a:tc>
              </a:tr>
              <a:tr h="657225">
                <a:tc>
                  <a:txBody>
                    <a:bodyPr/>
                    <a:lstStyle/>
                    <a:p>
                      <a:r>
                        <a:rPr sz="2025">
                          <a:solidFill>
                            <a:srgbClr val="253C4A"/>
                          </a:solidFill>
                          <a:latin typeface="Heiti SC"/>
                          <a:ea typeface="Heiti SC"/>
                          <a:cs typeface="Heiti SC"/>
                        </a:rPr>
                        <a:t>理解需求</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意图、参数与工作流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调度引擎安排执行节点</a:t>
                      </a:r>
                    </a:p>
                  </a:txBody>
                  <a:tcPr marL="133350" marR="133350" marT="95250" marB="95250" anchor="ctr">
                    <a:solidFill>
                      <a:srgbClr val="FFFFFF"/>
                    </a:solidFill>
                  </a:tcPr>
                </a:tc>
              </a:tr>
              <a:tr h="657225">
                <a:tc>
                  <a:txBody>
                    <a:bodyPr/>
                    <a:lstStyle/>
                    <a:p>
                      <a:r>
                        <a:rPr sz="2025">
                          <a:solidFill>
                            <a:srgbClr val="253C4A"/>
                          </a:solidFill>
                          <a:latin typeface="Heiti SC"/>
                          <a:ea typeface="Heiti SC"/>
                          <a:cs typeface="Heiti SC"/>
                        </a:rPr>
                        <a:t>选择数据</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相关数据表与字段范围</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提供数据库结构和查询模板</a:t>
                      </a:r>
                    </a:p>
                  </a:txBody>
                  <a:tcPr marL="133350" marR="133350" marT="95250" marB="95250" anchor="ctr">
                    <a:solidFill>
                      <a:srgbClr val="FFFFFF"/>
                    </a:solidFill>
                  </a:tcPr>
                </a:tc>
              </a:tr>
              <a:tr h="657225">
                <a:tc>
                  <a:txBody>
                    <a:bodyPr/>
                    <a:lstStyle/>
                    <a:p>
                      <a:r>
                        <a:rPr sz="2025">
                          <a:solidFill>
                            <a:srgbClr val="253C4A"/>
                          </a:solidFill>
                          <a:latin typeface="Heiti SC"/>
                          <a:ea typeface="Heiti SC"/>
                          <a:cs typeface="Heiti SC"/>
                        </a:rPr>
                        <a:t>生成查询</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筛选、关联与分组SQL</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数据库执行并返回结果</a:t>
                      </a:r>
                    </a:p>
                  </a:txBody>
                  <a:tcPr marL="133350" marR="133350" marT="95250" marB="95250" anchor="ctr">
                    <a:solidFill>
                      <a:srgbClr val="FFFFFF"/>
                    </a:solidFill>
                  </a:tcPr>
                </a:tc>
              </a:tr>
              <a:tr h="657225">
                <a:tc>
                  <a:txBody>
                    <a:bodyPr/>
                    <a:lstStyle/>
                    <a:p>
                      <a:r>
                        <a:rPr sz="2025">
                          <a:solidFill>
                            <a:srgbClr val="253C4A"/>
                          </a:solidFill>
                          <a:latin typeface="Heiti SC"/>
                          <a:ea typeface="Heiti SC"/>
                          <a:cs typeface="Heiti SC"/>
                        </a:rPr>
                        <a:t>组织答复</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面向业务问题的解释</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结合统计与图表展示结果</a:t>
                      </a:r>
                    </a:p>
                  </a:txBody>
                  <a:tcPr marL="133350" marR="133350" marT="95250" marB="95250" anchor="ctr">
                    <a:solidFill>
                      <a:srgbClr val="FFFFFF"/>
                    </a:solidFill>
                  </a:tcPr>
                </a:tc>
              </a:tr>
            </a:tbl>
          </a:graphicData>
        </a:graphic>
      </p:graphicFrame>
      <p:sp>
        <p:nvSpPr>
          <p:cNvPr id="8" name="copy-5-“小喃同学”整合5个以上系统与">
            <a:extLst xmlns:a="http://schemas.openxmlformats.org/drawingml/2006/main">
              <a:ext uri="{FF2B5EF4-FFF2-40B4-BE49-F238E27FC236}">
                <a16:creationId xmlns:a16="http://schemas.microsoft.com/office/drawing/2014/main" id="{0336DBF7-B79C-4A07-B02D-B57B97582DFF}"/>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“小喃同学”整合5个以上系统与20个以上流程</a:t>
            </a:r>
          </a:p>
        </p:txBody>
      </p:sp>
      <p:sp>
        <p:nvSpPr>
          <p:cNvPr id="9" name="copy-6-日均操作耗时下降约40%">
            <a:extLst xmlns:a="http://schemas.openxmlformats.org/drawingml/2006/main">
              <a:ext uri="{FF2B5EF4-FFF2-40B4-BE49-F238E27FC236}">
                <a16:creationId xmlns:a16="http://schemas.microsoft.com/office/drawing/2014/main" id="{6572A226-C39F-42E6-AD03-0B41BACA5182}"/>
              </a:ext>
            </a:extLst>
          </p:cNvPr>
          <p:cNvSpPr>
            <a:spLocks xmlns:a="http://schemas.openxmlformats.org/drawingml/2006/main" noGrp="1"/>
          </p:cNvSpPr>
          <p:nvPr/>
        </p:nvSpPr>
        <p:spPr>
          <a:xfrm xmlns:a="http://schemas.openxmlformats.org/drawingml/2006/main">
            <a:off x="628650" y="564832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08C83"/>
                </a:solidFill>
                <a:latin typeface="Heiti SC"/>
                <a:ea typeface="Heiti SC"/>
                <a:cs typeface="Heiti SC"/>
              </a:defRPr>
            </a:pPr>
            <a:r>
              <a:rPr sz="2775" b="1">
                <a:solidFill>
                  <a:srgbClr val="008C83"/>
                </a:solidFill>
                <a:latin typeface="Heiti SC"/>
                <a:ea typeface="Heiti SC"/>
                <a:cs typeface="Heiti SC"/>
              </a:rPr>
              <a:t>日均操作耗时下降约40%</a:t>
            </a:r>
          </a:p>
        </p:txBody>
      </p:sp>
    </p:spTree>
    <p:extLst>
      <p:ext uri="{BB962C8B-B14F-4D97-AF65-F5344CB8AC3E}">
        <p14:creationId xmlns:p14="http://schemas.microsoft.com/office/powerpoint/2010/main" val="9505371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ns0jga-数据查询的两种实现">
            <a:extLst xmlns:a="http://schemas.openxmlformats.org/drawingml/2006/main">
              <a:ext uri="{FF2B5EF4-FFF2-40B4-BE49-F238E27FC236}">
                <a16:creationId xmlns:a16="http://schemas.microsoft.com/office/drawing/2014/main" id="{F0C96F7D-D92C-4CED-9C91-5FF2BCB65553}"/>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易方达Index-Hub：自然语言调用数据接口</a:t>
            </a:r>
          </a:p>
        </p:txBody>
      </p:sp>
      <p:sp>
        <p:nvSpPr>
          <p:cNvPr id="3" name="text-ns0jga-07">
            <a:extLst xmlns:a="http://schemas.openxmlformats.org/drawingml/2006/main">
              <a:ext uri="{FF2B5EF4-FFF2-40B4-BE49-F238E27FC236}">
                <a16:creationId xmlns:a16="http://schemas.microsoft.com/office/drawing/2014/main" id="{69A0A96E-1CA7-48B0-97C4-86E42CB7A925}"/>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07</a:t>
            </a:r>
          </a:p>
        </p:txBody>
      </p:sp>
      <p:sp>
        <p:nvSpPr>
          <p:cNvPr id="7" name="copy-6-示例需求：查询沪深300前十大">
            <a:extLst xmlns:a="http://schemas.openxmlformats.org/drawingml/2006/main">
              <a:ext uri="{FF2B5EF4-FFF2-40B4-BE49-F238E27FC236}">
                <a16:creationId xmlns:a16="http://schemas.microsoft.com/office/drawing/2014/main" id="{C64CAFE2-E8FB-49CE-A7F4-19B42736F4C2}"/>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示例需求：查询沪深300前十大成分股</a:t>
            </a:r>
          </a:p>
        </p:txBody>
      </p:sp>
      <p:sp>
        <p:nvSpPr>
          <p:cNvPr id="8" name="copy-7-01">
            <a:extLst xmlns:a="http://schemas.openxmlformats.org/drawingml/2006/main">
              <a:ext uri="{FF2B5EF4-FFF2-40B4-BE49-F238E27FC236}">
                <a16:creationId xmlns:a16="http://schemas.microsoft.com/office/drawing/2014/main" id="{E26D13D3-89C9-4CCD-A720-D4DA4F9B6768}"/>
              </a:ext>
            </a:extLst>
          </p:cNvPr>
          <p:cNvSpPr>
            <a:spLocks xmlns:a="http://schemas.openxmlformats.org/drawingml/2006/main" noGrp="1"/>
          </p:cNvSpPr>
          <p:nvPr/>
        </p:nvSpPr>
        <p:spPr>
          <a:xfrm xmlns:a="http://schemas.openxmlformats.org/drawingml/2006/main">
            <a:off x="628650" y="20478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83"/>
                </a:solidFill>
                <a:latin typeface="Heiti SC"/>
                <a:ea typeface="Heiti SC"/>
                <a:cs typeface="Heiti SC"/>
              </a:defRPr>
            </a:pPr>
            <a:r>
              <a:rPr sz="2100" b="1">
                <a:solidFill>
                  <a:srgbClr val="008C83"/>
                </a:solidFill>
                <a:latin typeface="Heiti SC"/>
                <a:ea typeface="Heiti SC"/>
                <a:cs typeface="Heiti SC"/>
              </a:rPr>
              <a:t>01</a:t>
            </a:r>
          </a:p>
        </p:txBody>
      </p:sp>
      <p:sp>
        <p:nvSpPr>
          <p:cNvPr id="9" name="copy-7-识别查询对象">
            <a:extLst xmlns:a="http://schemas.openxmlformats.org/drawingml/2006/main">
              <a:ext uri="{FF2B5EF4-FFF2-40B4-BE49-F238E27FC236}">
                <a16:creationId xmlns:a16="http://schemas.microsoft.com/office/drawing/2014/main" id="{FE321459-7828-4CE0-A16C-391B4D8941AA}"/>
              </a:ext>
            </a:extLst>
          </p:cNvPr>
          <p:cNvSpPr>
            <a:spLocks xmlns:a="http://schemas.openxmlformats.org/drawingml/2006/main" noGrp="1"/>
          </p:cNvSpPr>
          <p:nvPr/>
        </p:nvSpPr>
        <p:spPr>
          <a:xfrm xmlns:a="http://schemas.openxmlformats.org/drawingml/2006/main">
            <a:off x="1371600" y="2047875"/>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74D"/>
                </a:solidFill>
                <a:latin typeface="Heiti SC"/>
                <a:ea typeface="Heiti SC"/>
                <a:cs typeface="Heiti SC"/>
              </a:defRPr>
            </a:pPr>
            <a:r>
              <a:rPr sz="2250" b="1">
                <a:solidFill>
                  <a:srgbClr val="19374D"/>
                </a:solidFill>
                <a:latin typeface="Heiti SC"/>
                <a:ea typeface="Heiti SC"/>
                <a:cs typeface="Heiti SC"/>
              </a:rPr>
              <a:t>识别查询对象</a:t>
            </a:r>
          </a:p>
        </p:txBody>
      </p:sp>
      <p:sp>
        <p:nvSpPr>
          <p:cNvPr id="10" name="copy-7-指数为沪深300，代码为000">
            <a:extLst xmlns:a="http://schemas.openxmlformats.org/drawingml/2006/main">
              <a:ext uri="{FF2B5EF4-FFF2-40B4-BE49-F238E27FC236}">
                <a16:creationId xmlns:a16="http://schemas.microsoft.com/office/drawing/2014/main" id="{8DBDC847-E04A-4391-9A92-DEBC0DE7724A}"/>
              </a:ext>
            </a:extLst>
          </p:cNvPr>
          <p:cNvSpPr>
            <a:spLocks xmlns:a="http://schemas.openxmlformats.org/drawingml/2006/main" noGrp="1"/>
          </p:cNvSpPr>
          <p:nvPr/>
        </p:nvSpPr>
        <p:spPr>
          <a:xfrm xmlns:a="http://schemas.openxmlformats.org/drawingml/2006/main">
            <a:off x="1371600" y="2514600"/>
            <a:ext cx="9829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指数为沪深300，代码为000300</a:t>
            </a:r>
          </a:p>
        </p:txBody>
      </p:sp>
      <p:sp>
        <p:nvSpPr>
          <p:cNvPr id="11" name="copy-7-02">
            <a:extLst xmlns:a="http://schemas.openxmlformats.org/drawingml/2006/main">
              <a:ext uri="{FF2B5EF4-FFF2-40B4-BE49-F238E27FC236}">
                <a16:creationId xmlns:a16="http://schemas.microsoft.com/office/drawing/2014/main" id="{CBB031C7-DBD8-4244-B00D-23F64F2D62A2}"/>
              </a:ext>
            </a:extLst>
          </p:cNvPr>
          <p:cNvSpPr>
            <a:spLocks xmlns:a="http://schemas.openxmlformats.org/drawingml/2006/main" noGrp="1"/>
          </p:cNvSpPr>
          <p:nvPr/>
        </p:nvSpPr>
        <p:spPr>
          <a:xfrm xmlns:a="http://schemas.openxmlformats.org/drawingml/2006/main">
            <a:off x="628650" y="32385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83"/>
                </a:solidFill>
                <a:latin typeface="Heiti SC"/>
                <a:ea typeface="Heiti SC"/>
                <a:cs typeface="Heiti SC"/>
              </a:defRPr>
            </a:pPr>
            <a:r>
              <a:rPr sz="2100" b="1">
                <a:solidFill>
                  <a:srgbClr val="008C83"/>
                </a:solidFill>
                <a:latin typeface="Heiti SC"/>
                <a:ea typeface="Heiti SC"/>
                <a:cs typeface="Heiti SC"/>
              </a:rPr>
              <a:t>02</a:t>
            </a:r>
          </a:p>
        </p:txBody>
      </p:sp>
      <p:sp>
        <p:nvSpPr>
          <p:cNvPr id="12" name="copy-7-选择接口与参数">
            <a:extLst xmlns:a="http://schemas.openxmlformats.org/drawingml/2006/main">
              <a:ext uri="{FF2B5EF4-FFF2-40B4-BE49-F238E27FC236}">
                <a16:creationId xmlns:a16="http://schemas.microsoft.com/office/drawing/2014/main" id="{250A2FBA-C4DC-4763-A8AF-2479702970BC}"/>
              </a:ext>
            </a:extLst>
          </p:cNvPr>
          <p:cNvSpPr>
            <a:spLocks xmlns:a="http://schemas.openxmlformats.org/drawingml/2006/main" noGrp="1"/>
          </p:cNvSpPr>
          <p:nvPr/>
        </p:nvSpPr>
        <p:spPr>
          <a:xfrm xmlns:a="http://schemas.openxmlformats.org/drawingml/2006/main">
            <a:off x="1371600" y="3238500"/>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74D"/>
                </a:solidFill>
                <a:latin typeface="Heiti SC"/>
                <a:ea typeface="Heiti SC"/>
                <a:cs typeface="Heiti SC"/>
              </a:defRPr>
            </a:pPr>
            <a:r>
              <a:rPr sz="2250" b="1">
                <a:solidFill>
                  <a:srgbClr val="19374D"/>
                </a:solidFill>
                <a:latin typeface="Heiti SC"/>
                <a:ea typeface="Heiti SC"/>
                <a:cs typeface="Heiti SC"/>
              </a:rPr>
              <a:t>选择接口与参数</a:t>
            </a:r>
          </a:p>
        </p:txBody>
      </p:sp>
      <p:sp>
        <p:nvSpPr>
          <p:cNvPr id="13" name="copy-7-依据接口目录选择成分股查询能力">
            <a:extLst xmlns:a="http://schemas.openxmlformats.org/drawingml/2006/main">
              <a:ext uri="{FF2B5EF4-FFF2-40B4-BE49-F238E27FC236}">
                <a16:creationId xmlns:a16="http://schemas.microsoft.com/office/drawing/2014/main" id="{26D4F1E4-E0D4-4DF3-BCA9-3A92E248D4EE}"/>
              </a:ext>
            </a:extLst>
          </p:cNvPr>
          <p:cNvSpPr>
            <a:spLocks xmlns:a="http://schemas.openxmlformats.org/drawingml/2006/main" noGrp="1"/>
          </p:cNvSpPr>
          <p:nvPr/>
        </p:nvSpPr>
        <p:spPr>
          <a:xfrm xmlns:a="http://schemas.openxmlformats.org/drawingml/2006/main">
            <a:off x="1371600" y="3705225"/>
            <a:ext cx="9829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依据接口目录选择成分股查询能力</a:t>
            </a:r>
          </a:p>
        </p:txBody>
      </p:sp>
      <p:sp>
        <p:nvSpPr>
          <p:cNvPr id="14" name="copy-7-03">
            <a:extLst xmlns:a="http://schemas.openxmlformats.org/drawingml/2006/main">
              <a:ext uri="{FF2B5EF4-FFF2-40B4-BE49-F238E27FC236}">
                <a16:creationId xmlns:a16="http://schemas.microsoft.com/office/drawing/2014/main" id="{D251B091-4A55-4494-9579-FAE0A555D7A7}"/>
              </a:ext>
            </a:extLst>
          </p:cNvPr>
          <p:cNvSpPr>
            <a:spLocks xmlns:a="http://schemas.openxmlformats.org/drawingml/2006/main" noGrp="1"/>
          </p:cNvSpPr>
          <p:nvPr/>
        </p:nvSpPr>
        <p:spPr>
          <a:xfrm xmlns:a="http://schemas.openxmlformats.org/drawingml/2006/main">
            <a:off x="628650" y="44291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83"/>
                </a:solidFill>
                <a:latin typeface="Heiti SC"/>
                <a:ea typeface="Heiti SC"/>
                <a:cs typeface="Heiti SC"/>
              </a:defRPr>
            </a:pPr>
            <a:r>
              <a:rPr sz="2100" b="1">
                <a:solidFill>
                  <a:srgbClr val="008C83"/>
                </a:solidFill>
                <a:latin typeface="Heiti SC"/>
                <a:ea typeface="Heiti SC"/>
                <a:cs typeface="Heiti SC"/>
              </a:rPr>
              <a:t>03</a:t>
            </a:r>
          </a:p>
        </p:txBody>
      </p:sp>
      <p:sp>
        <p:nvSpPr>
          <p:cNvPr id="15" name="copy-7-形成数据答复">
            <a:extLst xmlns:a="http://schemas.openxmlformats.org/drawingml/2006/main">
              <a:ext uri="{FF2B5EF4-FFF2-40B4-BE49-F238E27FC236}">
                <a16:creationId xmlns:a16="http://schemas.microsoft.com/office/drawing/2014/main" id="{AB01DB3C-BD13-4B92-9BF6-DABB3E3D8C26}"/>
              </a:ext>
            </a:extLst>
          </p:cNvPr>
          <p:cNvSpPr>
            <a:spLocks xmlns:a="http://schemas.openxmlformats.org/drawingml/2006/main" noGrp="1"/>
          </p:cNvSpPr>
          <p:nvPr/>
        </p:nvSpPr>
        <p:spPr>
          <a:xfrm xmlns:a="http://schemas.openxmlformats.org/drawingml/2006/main">
            <a:off x="1371600" y="4429125"/>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74D"/>
                </a:solidFill>
                <a:latin typeface="Heiti SC"/>
                <a:ea typeface="Heiti SC"/>
                <a:cs typeface="Heiti SC"/>
              </a:defRPr>
            </a:pPr>
            <a:r>
              <a:rPr sz="2250" b="1">
                <a:solidFill>
                  <a:srgbClr val="19374D"/>
                </a:solidFill>
                <a:latin typeface="Heiti SC"/>
                <a:ea typeface="Heiti SC"/>
                <a:cs typeface="Heiti SC"/>
              </a:rPr>
              <a:t>形成数据答复</a:t>
            </a:r>
          </a:p>
        </p:txBody>
      </p:sp>
      <p:sp>
        <p:nvSpPr>
          <p:cNvPr id="16" name="copy-7-取得成分股及权重，说明对应的数">
            <a:extLst xmlns:a="http://schemas.openxmlformats.org/drawingml/2006/main">
              <a:ext uri="{FF2B5EF4-FFF2-40B4-BE49-F238E27FC236}">
                <a16:creationId xmlns:a16="http://schemas.microsoft.com/office/drawing/2014/main" id="{C5E191D4-D391-484C-9107-ACE84B17CC44}"/>
              </a:ext>
            </a:extLst>
          </p:cNvPr>
          <p:cNvSpPr>
            <a:spLocks xmlns:a="http://schemas.openxmlformats.org/drawingml/2006/main" noGrp="1"/>
          </p:cNvSpPr>
          <p:nvPr/>
        </p:nvSpPr>
        <p:spPr>
          <a:xfrm xmlns:a="http://schemas.openxmlformats.org/drawingml/2006/main">
            <a:off x="1371600" y="4895850"/>
            <a:ext cx="9829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取得成分股及权重，说明对应的数据日期</a:t>
            </a:r>
          </a:p>
        </p:txBody>
      </p:sp>
      <p:sp>
        <p:nvSpPr>
          <p:cNvPr id="17" name="copy-7-公开客户端提供接口目录、鉴权与">
            <a:extLst xmlns:a="http://schemas.openxmlformats.org/drawingml/2006/main">
              <a:ext uri="{FF2B5EF4-FFF2-40B4-BE49-F238E27FC236}">
                <a16:creationId xmlns:a16="http://schemas.microsoft.com/office/drawing/2014/main" id="{1302227C-D8C2-40D4-A696-588E2C10383D}"/>
              </a:ext>
            </a:extLst>
          </p:cNvPr>
          <p:cNvSpPr>
            <a:spLocks xmlns:a="http://schemas.openxmlformats.org/drawingml/2006/main" noGrp="1"/>
          </p:cNvSpPr>
          <p:nvPr/>
        </p:nvSpPr>
        <p:spPr>
          <a:xfrm xmlns:a="http://schemas.openxmlformats.org/drawingml/2006/main">
            <a:off x="628650" y="58483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008C83"/>
                </a:solidFill>
                <a:latin typeface="Heiti SC"/>
                <a:ea typeface="Heiti SC"/>
                <a:cs typeface="Heiti SC"/>
              </a:defRPr>
            </a:pPr>
            <a:r>
              <a:rPr sz="1950" b="0">
                <a:solidFill>
                  <a:srgbClr val="008C83"/>
                </a:solidFill>
                <a:latin typeface="Heiti SC"/>
                <a:ea typeface="Heiti SC"/>
                <a:cs typeface="Heiti SC"/>
              </a:rPr>
              <a:t>公开客户端提供接口目录、鉴权与缓存，LLM负责理解和组织查询。</a:t>
            </a:r>
          </a:p>
        </p:txBody>
      </p:sp>
    </p:spTree>
    <p:extLst>
      <p:ext uri="{BB962C8B-B14F-4D97-AF65-F5344CB8AC3E}">
        <p14:creationId xmlns:p14="http://schemas.microsoft.com/office/powerpoint/2010/main" val="10079653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qclqnp-知识问答和审核需要不同的检验">
            <a:extLst xmlns:a="http://schemas.openxmlformats.org/drawingml/2006/main">
              <a:ext uri="{FF2B5EF4-FFF2-40B4-BE49-F238E27FC236}">
                <a16:creationId xmlns:a16="http://schemas.microsoft.com/office/drawing/2014/main" id="{B85B45AF-9CA5-4FC3-9C00-929BB3365E4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鹏华基金：资料形成知识答案与资讯摘要</a:t>
            </a:r>
          </a:p>
        </p:txBody>
      </p:sp>
      <p:sp>
        <p:nvSpPr>
          <p:cNvPr id="3" name="text-qclqnp-09">
            <a:extLst xmlns:a="http://schemas.openxmlformats.org/drawingml/2006/main">
              <a:ext uri="{FF2B5EF4-FFF2-40B4-BE49-F238E27FC236}">
                <a16:creationId xmlns:a16="http://schemas.microsoft.com/office/drawing/2014/main" id="{3D6BEC54-53FC-4BB1-9D1A-4283E6C5F3BB}"/>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08</a:t>
            </a:r>
          </a:p>
        </p:txBody>
      </p:sp>
      <p:graphicFrame>
        <p:nvGraphicFramePr>
          <p:cNvPr id="11" name=""/>
          <p:cNvGraphicFramePr/>
          <p:nvPr/>
        </p:nvGraphicFramePr>
        <p:xfrm>
          <a:off xmlns:a="http://schemas.openxmlformats.org/drawingml/2006/main" x="609600" y="1866900"/>
          <a:ext xmlns:a="http://schemas.openxmlformats.org/drawingml/2006/main" cx="10972800" cy="3171825"/>
        </p:xfrm>
        <a:graphic xmlns:a="http://schemas.openxmlformats.org/drawingml/2006/main">
          <a:graphicData uri="http://schemas.openxmlformats.org/drawingml/2006/table">
            <a:tbl>
              <a:tblPr firstRow="1" bandRow="0"/>
              <a:tblGrid>
                <a:gridCol w="1876425"/>
                <a:gridCol w="4381500"/>
                <a:gridCol w="4714875"/>
              </a:tblGrid>
              <a:tr h="792956">
                <a:tc>
                  <a:txBody>
                    <a:bodyPr/>
                    <a:lstStyle/>
                    <a:p>
                      <a:r>
                        <a:rPr sz="2025" b="1">
                          <a:solidFill>
                            <a:srgbClr val="FFFFFF"/>
                          </a:solidFill>
                          <a:latin typeface="Heiti SC"/>
                          <a:ea typeface="Heiti SC"/>
                          <a:cs typeface="Heiti SC"/>
                        </a:rPr>
                        <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知识问答</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投研资讯整理</a:t>
                      </a:r>
                    </a:p>
                  </a:txBody>
                  <a:tcPr marL="133350" marR="133350" marT="95250" marB="95250" anchor="ctr">
                    <a:solidFill>
                      <a:srgbClr val="19374D"/>
                    </a:solidFill>
                  </a:tcPr>
                </a:tc>
              </a:tr>
              <a:tr h="792956">
                <a:tc>
                  <a:txBody>
                    <a:bodyPr/>
                    <a:lstStyle/>
                    <a:p>
                      <a:r>
                        <a:rPr sz="2025">
                          <a:solidFill>
                            <a:srgbClr val="253C4A"/>
                          </a:solidFill>
                          <a:latin typeface="Heiti SC"/>
                          <a:ea typeface="Heiti SC"/>
                          <a:cs typeface="Heiti SC"/>
                        </a:rPr>
                        <a:t>提供给模型</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问题与检索到的资料片段</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公告、新闻、研报与标签要求</a:t>
                      </a:r>
                    </a:p>
                  </a:txBody>
                  <a:tcPr marL="133350" marR="133350" marT="95250" marB="95250" anchor="ctr">
                    <a:solidFill>
                      <a:srgbClr val="FFFFFF"/>
                    </a:solidFill>
                  </a:tcPr>
                </a:tc>
              </a:tr>
              <a:tr h="792956">
                <a:tc>
                  <a:txBody>
                    <a:bodyPr/>
                    <a:lstStyle/>
                    <a:p>
                      <a:r>
                        <a:rPr sz="2025">
                          <a:solidFill>
                            <a:srgbClr val="253C4A"/>
                          </a:solidFill>
                          <a:latin typeface="Heiti SC"/>
                          <a:ea typeface="Heiti SC"/>
                          <a:cs typeface="Heiti SC"/>
                        </a:rPr>
                        <a:t>LLM的工作</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理解上下文并组织回答</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提取信息、生成标签并归纳内容</a:t>
                      </a:r>
                    </a:p>
                  </a:txBody>
                  <a:tcPr marL="133350" marR="133350" marT="95250" marB="95250" anchor="ctr">
                    <a:solidFill>
                      <a:srgbClr val="FFFFFF"/>
                    </a:solidFill>
                  </a:tcPr>
                </a:tc>
              </a:tr>
              <a:tr h="792956">
                <a:tc>
                  <a:txBody>
                    <a:bodyPr/>
                    <a:lstStyle/>
                    <a:p>
                      <a:r>
                        <a:rPr sz="2025">
                          <a:solidFill>
                            <a:srgbClr val="253C4A"/>
                          </a:solidFill>
                          <a:latin typeface="Heiti SC"/>
                          <a:ea typeface="Heiti SC"/>
                          <a:cs typeface="Heiti SC"/>
                        </a:rPr>
                        <a:t>直接产物</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基于资料的知识答案</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资讯标签、个股要点与摘要</a:t>
                      </a:r>
                    </a:p>
                  </a:txBody>
                  <a:tcPr marL="133350" marR="133350" marT="95250" marB="95250" anchor="ctr">
                    <a:solidFill>
                      <a:srgbClr val="FFFFFF"/>
                    </a:solidFill>
                  </a:tcPr>
                </a:tc>
              </a:tr>
            </a:tbl>
          </a:graphicData>
        </a:graphic>
      </p:graphicFrame>
      <p:sp>
        <p:nvSpPr>
          <p:cNvPr id="8" name="copy-8-围绕问题组织答案，围绕公司或事">
            <a:extLst xmlns:a="http://schemas.openxmlformats.org/drawingml/2006/main">
              <a:ext uri="{FF2B5EF4-FFF2-40B4-BE49-F238E27FC236}">
                <a16:creationId xmlns:a16="http://schemas.microsoft.com/office/drawing/2014/main" id="{9101E2DC-B609-4D04-B2F3-A6691B26C875}"/>
              </a:ext>
            </a:extLst>
          </p:cNvPr>
          <p:cNvSpPr>
            <a:spLocks xmlns:a="http://schemas.openxmlformats.org/drawingml/2006/main" noGrp="1"/>
          </p:cNvSpPr>
          <p:nvPr/>
        </p:nvSpPr>
        <p:spPr>
          <a:xfrm xmlns:a="http://schemas.openxmlformats.org/drawingml/2006/main">
            <a:off x="628650" y="55149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8C83"/>
                </a:solidFill>
                <a:latin typeface="Heiti SC"/>
                <a:ea typeface="Heiti SC"/>
                <a:cs typeface="Heiti SC"/>
              </a:defRPr>
            </a:pPr>
            <a:r>
              <a:rPr sz="2475" b="1">
                <a:solidFill>
                  <a:srgbClr val="008C83"/>
                </a:solidFill>
                <a:latin typeface="Heiti SC"/>
                <a:ea typeface="Heiti SC"/>
                <a:cs typeface="Heiti SC"/>
              </a:rPr>
              <a:t>围绕问题组织答案，围绕公司或事件整理资讯。</a:t>
            </a:r>
          </a:p>
        </p:txBody>
      </p:sp>
    </p:spTree>
    <p:extLst>
      <p:ext uri="{BB962C8B-B14F-4D97-AF65-F5344CB8AC3E}">
        <p14:creationId xmlns:p14="http://schemas.microsoft.com/office/powerpoint/2010/main" val="11128255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bqdc0-鹏华的营销材料审核">
            <a:extLst xmlns:a="http://schemas.openxmlformats.org/drawingml/2006/main">
              <a:ext uri="{FF2B5EF4-FFF2-40B4-BE49-F238E27FC236}">
                <a16:creationId xmlns:a16="http://schemas.microsoft.com/office/drawing/2014/main" id="{A829FBDD-8769-4D5B-81E2-F05F9F5BA154}"/>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LLM进入材料审核与风险信息处理</a:t>
            </a:r>
          </a:p>
        </p:txBody>
      </p:sp>
      <p:sp>
        <p:nvSpPr>
          <p:cNvPr id="3" name="text-3bqdc0-08">
            <a:extLst xmlns:a="http://schemas.openxmlformats.org/drawingml/2006/main">
              <a:ext uri="{FF2B5EF4-FFF2-40B4-BE49-F238E27FC236}">
                <a16:creationId xmlns:a16="http://schemas.microsoft.com/office/drawing/2014/main" id="{CAAC49FE-F3FB-4B57-B7F0-1390B6B66288}"/>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09</a:t>
            </a:r>
          </a:p>
        </p:txBody>
      </p:sp>
      <p:sp>
        <p:nvSpPr>
          <p:cNvPr id="8" name="copy-8-鹏华基金的营销审核与汇添富基金">
            <a:extLst xmlns:a="http://schemas.openxmlformats.org/drawingml/2006/main">
              <a:ext uri="{FF2B5EF4-FFF2-40B4-BE49-F238E27FC236}">
                <a16:creationId xmlns:a16="http://schemas.microsoft.com/office/drawing/2014/main" id="{FBECD104-3481-4DF3-997B-A4FEFE5257CE}"/>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鹏华基金的营销审核与汇添富基金的风控应用</a:t>
            </a:r>
          </a:p>
        </p:txBody>
      </p:sp>
      <p:graphicFrame>
        <p:nvGraphicFramePr>
          <p:cNvPr id="18" name=""/>
          <p:cNvGraphicFramePr/>
          <p:nvPr/>
        </p:nvGraphicFramePr>
        <p:xfrm>
          <a:off xmlns:a="http://schemas.openxmlformats.org/drawingml/2006/main" x="609600" y="2009775"/>
          <a:ext xmlns:a="http://schemas.openxmlformats.org/drawingml/2006/main" cx="10972800" cy="2371725"/>
        </p:xfrm>
        <a:graphic xmlns:a="http://schemas.openxmlformats.org/drawingml/2006/main">
          <a:graphicData uri="http://schemas.openxmlformats.org/drawingml/2006/table">
            <a:tbl>
              <a:tblPr firstRow="1" bandRow="0"/>
              <a:tblGrid>
                <a:gridCol w="2171700"/>
                <a:gridCol w="4467225"/>
                <a:gridCol w="4333875"/>
              </a:tblGrid>
              <a:tr h="790575">
                <a:tc>
                  <a:txBody>
                    <a:bodyPr/>
                    <a:lstStyle/>
                    <a:p>
                      <a:r>
                        <a:rPr sz="2100" b="1">
                          <a:solidFill>
                            <a:srgbClr val="FFFFFF"/>
                          </a:solidFill>
                          <a:latin typeface="Heiti SC"/>
                          <a:ea typeface="Heiti SC"/>
                          <a:cs typeface="Heiti SC"/>
                        </a:rPr>
                        <a:t>公司</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LLM处理什么</a:t>
                      </a:r>
                    </a:p>
                  </a:txBody>
                  <a:tcPr marL="133350" marR="133350" marT="95250" marB="95250" anchor="ctr">
                    <a:solidFill>
                      <a:srgbClr val="19374D"/>
                    </a:solidFill>
                  </a:tcPr>
                </a:tc>
                <a:tc>
                  <a:txBody>
                    <a:bodyPr/>
                    <a:lstStyle/>
                    <a:p>
                      <a:r>
                        <a:rPr sz="2100" b="1">
                          <a:solidFill>
                            <a:srgbClr val="FFFFFF"/>
                          </a:solidFill>
                          <a:latin typeface="Heiti SC"/>
                          <a:ea typeface="Heiti SC"/>
                          <a:cs typeface="Heiti SC"/>
                        </a:rPr>
                        <a:t>形成什么产物</a:t>
                      </a:r>
                    </a:p>
                  </a:txBody>
                  <a:tcPr marL="133350" marR="133350" marT="95250" marB="95250" anchor="ctr">
                    <a:solidFill>
                      <a:srgbClr val="19374D"/>
                    </a:solidFill>
                  </a:tcPr>
                </a:tc>
              </a:tr>
              <a:tr h="790575">
                <a:tc>
                  <a:txBody>
                    <a:bodyPr/>
                    <a:lstStyle/>
                    <a:p>
                      <a:r>
                        <a:rPr sz="2100">
                          <a:solidFill>
                            <a:srgbClr val="253C4A"/>
                          </a:solidFill>
                          <a:latin typeface="Heiti SC"/>
                          <a:ea typeface="Heiti SC"/>
                          <a:cs typeface="Heiti SC"/>
                        </a:rPr>
                        <a:t>鹏华基金</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结合7类71项规则理解待审文案</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风险疑点与修改建议</a:t>
                      </a:r>
                    </a:p>
                  </a:txBody>
                  <a:tcPr marL="133350" marR="133350" marT="95250" marB="95250" anchor="ctr">
                    <a:solidFill>
                      <a:srgbClr val="FFFFFF"/>
                    </a:solidFill>
                  </a:tcPr>
                </a:tc>
              </a:tr>
              <a:tr h="790575">
                <a:tc>
                  <a:txBody>
                    <a:bodyPr/>
                    <a:lstStyle/>
                    <a:p>
                      <a:r>
                        <a:rPr sz="2100">
                          <a:solidFill>
                            <a:srgbClr val="253C4A"/>
                          </a:solidFill>
                          <a:latin typeface="Heiti SC"/>
                          <a:ea typeface="Heiti SC"/>
                          <a:cs typeface="Heiti SC"/>
                        </a:rPr>
                        <a:t>汇添富基金</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读取托管风险邮件和风控条款</a:t>
                      </a:r>
                    </a:p>
                  </a:txBody>
                  <a:tcPr marL="133350" marR="133350" marT="95250" marB="95250" anchor="ctr">
                    <a:solidFill>
                      <a:srgbClr val="FFFFFF"/>
                    </a:solidFill>
                  </a:tcPr>
                </a:tc>
                <a:tc>
                  <a:txBody>
                    <a:bodyPr/>
                    <a:lstStyle/>
                    <a:p>
                      <a:r>
                        <a:rPr sz="2100">
                          <a:solidFill>
                            <a:srgbClr val="253C4A"/>
                          </a:solidFill>
                          <a:latin typeface="Heiti SC"/>
                          <a:ea typeface="Heiti SC"/>
                          <a:cs typeface="Heiti SC"/>
                        </a:rPr>
                        <a:t>风险信息、条款答复与拦截依据</a:t>
                      </a:r>
                    </a:p>
                  </a:txBody>
                  <a:tcPr marL="133350" marR="133350" marT="95250" marB="95250" anchor="ctr">
                    <a:solidFill>
                      <a:srgbClr val="FFFFFF"/>
                    </a:solidFill>
                  </a:tcPr>
                </a:tc>
              </a:tr>
            </a:tbl>
          </a:graphicData>
        </a:graphic>
      </p:graphicFrame>
      <p:sp>
        <p:nvSpPr>
          <p:cNvPr id="10" name="copy-9-989条">
            <a:extLst xmlns:a="http://schemas.openxmlformats.org/drawingml/2006/main">
              <a:ext uri="{FF2B5EF4-FFF2-40B4-BE49-F238E27FC236}">
                <a16:creationId xmlns:a16="http://schemas.microsoft.com/office/drawing/2014/main" id="{1B4131F1-1E4C-40BB-8B12-811B3B1847DD}"/>
              </a:ext>
            </a:extLst>
          </p:cNvPr>
          <p:cNvSpPr>
            <a:spLocks xmlns:a="http://schemas.openxmlformats.org/drawingml/2006/main" noGrp="1"/>
          </p:cNvSpPr>
          <p:nvPr/>
        </p:nvSpPr>
        <p:spPr>
          <a:xfrm xmlns:a="http://schemas.openxmlformats.org/drawingml/2006/main">
            <a:off x="647700" y="4838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008C83"/>
                </a:solidFill>
                <a:latin typeface="Heiti SC"/>
                <a:ea typeface="Heiti SC"/>
                <a:cs typeface="Heiti SC"/>
              </a:defRPr>
            </a:pPr>
            <a:r>
              <a:rPr sz="3675" b="1">
                <a:solidFill>
                  <a:srgbClr val="008C83"/>
                </a:solidFill>
                <a:latin typeface="Heiti SC"/>
                <a:ea typeface="Heiti SC"/>
                <a:cs typeface="Heiti SC"/>
              </a:rPr>
              <a:t>989条</a:t>
            </a:r>
          </a:p>
        </p:txBody>
      </p:sp>
      <p:sp>
        <p:nvSpPr>
          <p:cNvPr id="11" name="copy-9-有效修改建议">
            <a:extLst xmlns:a="http://schemas.openxmlformats.org/drawingml/2006/main">
              <a:ext uri="{FF2B5EF4-FFF2-40B4-BE49-F238E27FC236}">
                <a16:creationId xmlns:a16="http://schemas.microsoft.com/office/drawing/2014/main" id="{8FA3A0BC-BB16-4A9E-9C06-E3EF03326FAC}"/>
              </a:ext>
            </a:extLst>
          </p:cNvPr>
          <p:cNvSpPr>
            <a:spLocks xmlns:a="http://schemas.openxmlformats.org/drawingml/2006/main" noGrp="1"/>
          </p:cNvSpPr>
          <p:nvPr/>
        </p:nvSpPr>
        <p:spPr>
          <a:xfrm xmlns:a="http://schemas.openxmlformats.org/drawingml/2006/main">
            <a:off x="657225" y="55245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有效修改建议</a:t>
            </a:r>
          </a:p>
        </p:txBody>
      </p:sp>
      <p:sp>
        <p:nvSpPr>
          <p:cNvPr id="12" name="copy-9-91%">
            <a:extLst xmlns:a="http://schemas.openxmlformats.org/drawingml/2006/main">
              <a:ext uri="{FF2B5EF4-FFF2-40B4-BE49-F238E27FC236}">
                <a16:creationId xmlns:a16="http://schemas.microsoft.com/office/drawing/2014/main" id="{C3A641B5-AA04-490A-BC2D-1E524FCEEA51}"/>
              </a:ext>
            </a:extLst>
          </p:cNvPr>
          <p:cNvSpPr>
            <a:spLocks xmlns:a="http://schemas.openxmlformats.org/drawingml/2006/main" noGrp="1"/>
          </p:cNvSpPr>
          <p:nvPr/>
        </p:nvSpPr>
        <p:spPr>
          <a:xfrm xmlns:a="http://schemas.openxmlformats.org/drawingml/2006/main">
            <a:off x="6286500" y="4838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008C83"/>
                </a:solidFill>
                <a:latin typeface="Heiti SC"/>
                <a:ea typeface="Heiti SC"/>
                <a:cs typeface="Heiti SC"/>
              </a:defRPr>
            </a:pPr>
            <a:r>
              <a:rPr sz="3675" b="1">
                <a:solidFill>
                  <a:srgbClr val="008C83"/>
                </a:solidFill>
                <a:latin typeface="Heiti SC"/>
                <a:ea typeface="Heiti SC"/>
                <a:cs typeface="Heiti SC"/>
              </a:rPr>
              <a:t>91%</a:t>
            </a:r>
          </a:p>
        </p:txBody>
      </p:sp>
      <p:sp>
        <p:nvSpPr>
          <p:cNvPr id="13" name="copy-9-最新建议采纳率">
            <a:extLst xmlns:a="http://schemas.openxmlformats.org/drawingml/2006/main">
              <a:ext uri="{FF2B5EF4-FFF2-40B4-BE49-F238E27FC236}">
                <a16:creationId xmlns:a16="http://schemas.microsoft.com/office/drawing/2014/main" id="{BDACC90B-C1E4-45DC-A63C-8D184F34B80D}"/>
              </a:ext>
            </a:extLst>
          </p:cNvPr>
          <p:cNvSpPr>
            <a:spLocks xmlns:a="http://schemas.openxmlformats.org/drawingml/2006/main" noGrp="1"/>
          </p:cNvSpPr>
          <p:nvPr/>
        </p:nvSpPr>
        <p:spPr>
          <a:xfrm xmlns:a="http://schemas.openxmlformats.org/drawingml/2006/main">
            <a:off x="6296025" y="552450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最新建议采纳率</a:t>
            </a:r>
          </a:p>
        </p:txBody>
      </p:sp>
      <p:sp>
        <p:nvSpPr>
          <p:cNvPr id="14" name="copy-9-上述成果由鹏华基金报告">
            <a:extLst xmlns:a="http://schemas.openxmlformats.org/drawingml/2006/main">
              <a:ext uri="{FF2B5EF4-FFF2-40B4-BE49-F238E27FC236}">
                <a16:creationId xmlns:a16="http://schemas.microsoft.com/office/drawing/2014/main" id="{5AB34752-4EC3-42EA-97C7-44153C8E8D93}"/>
              </a:ext>
            </a:extLst>
          </p:cNvPr>
          <p:cNvSpPr>
            <a:spLocks xmlns:a="http://schemas.openxmlformats.org/drawingml/2006/main" noGrp="1"/>
          </p:cNvSpPr>
          <p:nvPr/>
        </p:nvSpPr>
        <p:spPr>
          <a:xfrm xmlns:a="http://schemas.openxmlformats.org/drawingml/2006/main">
            <a:off x="628650" y="61912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上述成果由鹏华基金报告</a:t>
            </a:r>
          </a:p>
        </p:txBody>
      </p:sp>
    </p:spTree>
    <p:extLst>
      <p:ext uri="{BB962C8B-B14F-4D97-AF65-F5344CB8AC3E}">
        <p14:creationId xmlns:p14="http://schemas.microsoft.com/office/powerpoint/2010/main" val="4999237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urddp5-国内基金的LLM量化披露">
            <a:extLst xmlns:a="http://schemas.openxmlformats.org/drawingml/2006/main">
              <a:ext uri="{FF2B5EF4-FFF2-40B4-BE49-F238E27FC236}">
                <a16:creationId xmlns:a16="http://schemas.microsoft.com/office/drawing/2014/main" id="{717BB4D8-4EFE-46A8-82C0-C953E65ACD8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LLM辅助量化的两条路径</a:t>
            </a:r>
          </a:p>
        </p:txBody>
      </p:sp>
      <p:sp>
        <p:nvSpPr>
          <p:cNvPr id="3" name="text-urddp5-10">
            <a:extLst xmlns:a="http://schemas.openxmlformats.org/drawingml/2006/main">
              <a:ext uri="{FF2B5EF4-FFF2-40B4-BE49-F238E27FC236}">
                <a16:creationId xmlns:a16="http://schemas.microsoft.com/office/drawing/2014/main" id="{2EBC1E87-1C9B-4832-8740-C1775272CDF7}"/>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10</a:t>
            </a:r>
          </a:p>
        </p:txBody>
      </p:sp>
      <p:sp>
        <p:nvSpPr>
          <p:cNvPr id="6" name="copy-10-文本信息形成研究信号">
            <a:extLst xmlns:a="http://schemas.openxmlformats.org/drawingml/2006/main">
              <a:ext uri="{FF2B5EF4-FFF2-40B4-BE49-F238E27FC236}">
                <a16:creationId xmlns:a16="http://schemas.microsoft.com/office/drawing/2014/main" id="{1C58036C-471A-4930-AAE3-003139A6CF8B}"/>
              </a:ext>
            </a:extLst>
          </p:cNvPr>
          <p:cNvSpPr>
            <a:spLocks xmlns:a="http://schemas.openxmlformats.org/drawingml/2006/main" noGrp="1"/>
          </p:cNvSpPr>
          <p:nvPr/>
        </p:nvSpPr>
        <p:spPr>
          <a:xfrm xmlns:a="http://schemas.openxmlformats.org/drawingml/2006/main">
            <a:off x="628650" y="18192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08C83"/>
                </a:solidFill>
                <a:latin typeface="Heiti SC"/>
                <a:ea typeface="Heiti SC"/>
                <a:cs typeface="Heiti SC"/>
              </a:defRPr>
            </a:pPr>
            <a:r>
              <a:rPr sz="2925" b="1">
                <a:solidFill>
                  <a:srgbClr val="008C83"/>
                </a:solidFill>
                <a:latin typeface="Heiti SC"/>
                <a:ea typeface="Heiti SC"/>
                <a:cs typeface="Heiti SC"/>
              </a:rPr>
              <a:t>文本信息形成研究信号</a:t>
            </a:r>
          </a:p>
        </p:txBody>
      </p:sp>
      <p:sp>
        <p:nvSpPr>
          <p:cNvPr id="7" name="copy-10-公告、研报、新闻与舆情进入模型">
            <a:extLst xmlns:a="http://schemas.openxmlformats.org/drawingml/2006/main">
              <a:ext uri="{FF2B5EF4-FFF2-40B4-BE49-F238E27FC236}">
                <a16:creationId xmlns:a16="http://schemas.microsoft.com/office/drawing/2014/main" id="{7D322E82-C3F5-41C5-9941-FB013E57277E}"/>
              </a:ext>
            </a:extLst>
          </p:cNvPr>
          <p:cNvSpPr>
            <a:spLocks xmlns:a="http://schemas.openxmlformats.org/drawingml/2006/main" noGrp="1"/>
          </p:cNvSpPr>
          <p:nvPr/>
        </p:nvSpPr>
        <p:spPr>
          <a:xfrm xmlns:a="http://schemas.openxmlformats.org/drawingml/2006/main">
            <a:off x="628650" y="2562225"/>
            <a:ext cx="10810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公告、研报、新闻与舆情进入模型，</a:t>
            </a:r>
          </a:p>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形成事件记录和文本因子。</a:t>
            </a:r>
          </a:p>
        </p:txBody>
      </p:sp>
      <p:sp>
        <p:nvSpPr>
          <p:cNvPr id="8" name="copy-10-研究方案通过工具自动执行">
            <a:extLst xmlns:a="http://schemas.openxmlformats.org/drawingml/2006/main">
              <a:ext uri="{FF2B5EF4-FFF2-40B4-BE49-F238E27FC236}">
                <a16:creationId xmlns:a16="http://schemas.microsoft.com/office/drawing/2014/main" id="{7EED6D31-6901-4BBE-8347-E92F91A4E4C4}"/>
              </a:ext>
            </a:extLst>
          </p:cNvPr>
          <p:cNvSpPr>
            <a:spLocks xmlns:a="http://schemas.openxmlformats.org/drawingml/2006/main" noGrp="1"/>
          </p:cNvSpPr>
          <p:nvPr/>
        </p:nvSpPr>
        <p:spPr>
          <a:xfrm xmlns:a="http://schemas.openxmlformats.org/drawingml/2006/main">
            <a:off x="628650" y="405765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08C83"/>
                </a:solidFill>
                <a:latin typeface="Heiti SC"/>
                <a:ea typeface="Heiti SC"/>
                <a:cs typeface="Heiti SC"/>
              </a:defRPr>
            </a:pPr>
            <a:r>
              <a:rPr sz="2925" b="1">
                <a:solidFill>
                  <a:srgbClr val="008C83"/>
                </a:solidFill>
                <a:latin typeface="Heiti SC"/>
                <a:ea typeface="Heiti SC"/>
                <a:cs typeface="Heiti SC"/>
              </a:rPr>
              <a:t>研究方案通过工具自动执行</a:t>
            </a:r>
          </a:p>
        </p:txBody>
      </p:sp>
      <p:sp>
        <p:nvSpPr>
          <p:cNvPr id="9" name="copy-10-LLM提出假设和因子定义，调用">
            <a:extLst xmlns:a="http://schemas.openxmlformats.org/drawingml/2006/main">
              <a:ext uri="{FF2B5EF4-FFF2-40B4-BE49-F238E27FC236}">
                <a16:creationId xmlns:a16="http://schemas.microsoft.com/office/drawing/2014/main" id="{3A766502-0F3A-48DE-88A8-CA3657FFF304}"/>
              </a:ext>
            </a:extLst>
          </p:cNvPr>
          <p:cNvSpPr>
            <a:spLocks xmlns:a="http://schemas.openxmlformats.org/drawingml/2006/main" noGrp="1"/>
          </p:cNvSpPr>
          <p:nvPr/>
        </p:nvSpPr>
        <p:spPr>
          <a:xfrm xmlns:a="http://schemas.openxmlformats.org/drawingml/2006/main">
            <a:off x="628650" y="4800600"/>
            <a:ext cx="10810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LLM提出假设和因子定义，调用代码与回测工具，</a:t>
            </a:r>
          </a:p>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再根据结果筛选和迭代。</a:t>
            </a:r>
          </a:p>
        </p:txBody>
      </p:sp>
    </p:spTree>
    <p:extLst>
      <p:ext uri="{BB962C8B-B14F-4D97-AF65-F5344CB8AC3E}">
        <p14:creationId xmlns:p14="http://schemas.microsoft.com/office/powerpoint/2010/main" val="19820247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sqo3n5-公告事件怎样形成研究变量">
            <a:extLst xmlns:a="http://schemas.openxmlformats.org/drawingml/2006/main">
              <a:ext uri="{FF2B5EF4-FFF2-40B4-BE49-F238E27FC236}">
                <a16:creationId xmlns:a16="http://schemas.microsoft.com/office/drawing/2014/main" id="{3C38ECA6-7309-4209-9DF3-AD8DE984E53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公告文本形成结构化事件记录</a:t>
            </a:r>
          </a:p>
        </p:txBody>
      </p:sp>
      <p:sp>
        <p:nvSpPr>
          <p:cNvPr id="3" name="text-sqo3n5-11">
            <a:extLst xmlns:a="http://schemas.openxmlformats.org/drawingml/2006/main">
              <a:ext uri="{FF2B5EF4-FFF2-40B4-BE49-F238E27FC236}">
                <a16:creationId xmlns:a16="http://schemas.microsoft.com/office/drawing/2014/main" id="{12261C52-CE3F-4A04-B9D0-2681861225E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11</a:t>
            </a:r>
          </a:p>
        </p:txBody>
      </p:sp>
      <p:graphicFrame>
        <p:nvGraphicFramePr>
          <p:cNvPr id="12" name=""/>
          <p:cNvGraphicFramePr/>
          <p:nvPr/>
        </p:nvGraphicFramePr>
        <p:xfrm>
          <a:off xmlns:a="http://schemas.openxmlformats.org/drawingml/2006/main" x="609600" y="2085975"/>
          <a:ext xmlns:a="http://schemas.openxmlformats.org/drawingml/2006/main" cx="10972800" cy="3086100"/>
        </p:xfrm>
        <a:graphic xmlns:a="http://schemas.openxmlformats.org/drawingml/2006/main">
          <a:graphicData uri="http://schemas.openxmlformats.org/drawingml/2006/table">
            <a:tbl>
              <a:tblPr firstRow="1" bandRow="0"/>
              <a:tblGrid>
                <a:gridCol w="2971800"/>
                <a:gridCol w="8001000"/>
              </a:tblGrid>
              <a:tr h="617220">
                <a:tc>
                  <a:txBody>
                    <a:bodyPr/>
                    <a:lstStyle/>
                    <a:p>
                      <a:r>
                        <a:rPr sz="2025" b="1">
                          <a:solidFill>
                            <a:srgbClr val="FFFFFF"/>
                          </a:solidFill>
                          <a:latin typeface="Heiti SC"/>
                          <a:ea typeface="Heiti SC"/>
                          <a:cs typeface="Heiti SC"/>
                        </a:rPr>
                        <a:t>LLM提取的字段</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输出示意</a:t>
                      </a:r>
                    </a:p>
                  </a:txBody>
                  <a:tcPr marL="133350" marR="133350" marT="95250" marB="95250" anchor="ctr">
                    <a:solidFill>
                      <a:srgbClr val="19374D"/>
                    </a:solidFill>
                  </a:tcPr>
                </a:tc>
              </a:tr>
              <a:tr h="617220">
                <a:tc>
                  <a:txBody>
                    <a:bodyPr/>
                    <a:lstStyle/>
                    <a:p>
                      <a:r>
                        <a:rPr sz="2025">
                          <a:solidFill>
                            <a:srgbClr val="253C4A"/>
                          </a:solidFill>
                          <a:latin typeface="Heiti SC"/>
                          <a:ea typeface="Heiti SC"/>
                          <a:cs typeface="Heiti SC"/>
                        </a:rPr>
                        <a:t>事件与状态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扩产，计划，待审批</a:t>
                      </a:r>
                    </a:p>
                  </a:txBody>
                  <a:tcPr marL="133350" marR="133350" marT="95250" marB="95250" anchor="ctr">
                    <a:solidFill>
                      <a:srgbClr val="FFFFFF"/>
                    </a:solidFill>
                  </a:tcPr>
                </a:tc>
              </a:tr>
              <a:tr h="617220">
                <a:tc>
                  <a:txBody>
                    <a:bodyPr/>
                    <a:lstStyle/>
                    <a:p>
                      <a:r>
                        <a:rPr sz="2025">
                          <a:solidFill>
                            <a:srgbClr val="253C4A"/>
                          </a:solidFill>
                          <a:latin typeface="Heiti SC"/>
                          <a:ea typeface="Heiti SC"/>
                          <a:cs typeface="Heiti SC"/>
                        </a:rPr>
                        <a:t>数量与单位</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原产能10万吨，计划产能15万吨</a:t>
                      </a:r>
                    </a:p>
                  </a:txBody>
                  <a:tcPr marL="133350" marR="133350" marT="95250" marB="95250" anchor="ctr">
                    <a:solidFill>
                      <a:srgbClr val="FFFFFF"/>
                    </a:solidFill>
                  </a:tcPr>
                </a:tc>
              </a:tr>
              <a:tr h="617220">
                <a:tc>
                  <a:txBody>
                    <a:bodyPr/>
                    <a:lstStyle/>
                    <a:p>
                      <a:r>
                        <a:rPr sz="2025">
                          <a:solidFill>
                            <a:srgbClr val="253C4A"/>
                          </a:solidFill>
                          <a:latin typeface="Heiti SC"/>
                          <a:ea typeface="Heiti SC"/>
                          <a:cs typeface="Heiti SC"/>
                        </a:rPr>
                        <a:t>投产安排</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预计两年后投产</a:t>
                      </a:r>
                    </a:p>
                  </a:txBody>
                  <a:tcPr marL="133350" marR="133350" marT="95250" marB="95250" anchor="ctr">
                    <a:solidFill>
                      <a:srgbClr val="FFFFFF"/>
                    </a:solidFill>
                  </a:tcPr>
                </a:tc>
              </a:tr>
              <a:tr h="617220">
                <a:tc>
                  <a:txBody>
                    <a:bodyPr/>
                    <a:lstStyle/>
                    <a:p>
                      <a:r>
                        <a:rPr sz="2025">
                          <a:solidFill>
                            <a:srgbClr val="253C4A"/>
                          </a:solidFill>
                          <a:latin typeface="Heiti SC"/>
                          <a:ea typeface="Heiti SC"/>
                          <a:cs typeface="Heiti SC"/>
                        </a:rPr>
                        <a:t>原文依据</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保留对应公告原句</a:t>
                      </a:r>
                    </a:p>
                  </a:txBody>
                  <a:tcPr marL="133350" marR="133350" marT="95250" marB="95250" anchor="ctr">
                    <a:solidFill>
                      <a:srgbClr val="FFFFFF"/>
                    </a:solidFill>
                  </a:tcPr>
                </a:tc>
              </a:tr>
            </a:tbl>
          </a:graphicData>
        </a:graphic>
      </p:graphicFrame>
      <p:sp>
        <p:nvSpPr>
          <p:cNvPr id="8" name="copy-10-说明性例子：拟将年产能由10万">
            <a:extLst xmlns:a="http://schemas.openxmlformats.org/drawingml/2006/main">
              <a:ext uri="{FF2B5EF4-FFF2-40B4-BE49-F238E27FC236}">
                <a16:creationId xmlns:a16="http://schemas.microsoft.com/office/drawing/2014/main" id="{A77FF45A-0157-4716-AB01-78B747EEB177}"/>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说明性例子：拟将年产能由10万吨提高至15万吨，预计两年后投产，尚待审批</a:t>
            </a:r>
          </a:p>
        </p:txBody>
      </p:sp>
      <p:sp>
        <p:nvSpPr>
          <p:cNvPr id="9" name="copy-11-LLM保留事件含义，结构化记录">
            <a:extLst xmlns:a="http://schemas.openxmlformats.org/drawingml/2006/main">
              <a:ext uri="{FF2B5EF4-FFF2-40B4-BE49-F238E27FC236}">
                <a16:creationId xmlns:a16="http://schemas.microsoft.com/office/drawing/2014/main" id="{1D2F0331-8FBE-4B05-B350-F41DC91F1AFD}"/>
              </a:ext>
            </a:extLst>
          </p:cNvPr>
          <p:cNvSpPr>
            <a:spLocks xmlns:a="http://schemas.openxmlformats.org/drawingml/2006/main" noGrp="1"/>
          </p:cNvSpPr>
          <p:nvPr/>
        </p:nvSpPr>
        <p:spPr>
          <a:xfrm xmlns:a="http://schemas.openxmlformats.org/drawingml/2006/main">
            <a:off x="628650" y="55721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C83"/>
                </a:solidFill>
                <a:latin typeface="Heiti SC"/>
                <a:ea typeface="Heiti SC"/>
                <a:cs typeface="Heiti SC"/>
              </a:defRPr>
            </a:pPr>
            <a:r>
              <a:rPr sz="2325" b="1">
                <a:solidFill>
                  <a:srgbClr val="008C83"/>
                </a:solidFill>
                <a:latin typeface="Heiti SC"/>
                <a:ea typeface="Heiti SC"/>
                <a:cs typeface="Heiti SC"/>
              </a:rPr>
              <a:t>LLM保留事件含义，结构化记录接入研究数据集。</a:t>
            </a:r>
          </a:p>
        </p:txBody>
      </p:sp>
    </p:spTree>
    <p:extLst>
      <p:ext uri="{BB962C8B-B14F-4D97-AF65-F5344CB8AC3E}">
        <p14:creationId xmlns:p14="http://schemas.microsoft.com/office/powerpoint/2010/main" val="10381092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yx8e83-四个应用方向与代表案例">
            <a:extLst xmlns:a="http://schemas.openxmlformats.org/drawingml/2006/main">
              <a:ext uri="{FF2B5EF4-FFF2-40B4-BE49-F238E27FC236}">
                <a16:creationId xmlns:a16="http://schemas.microsoft.com/office/drawing/2014/main" id="{2A9AE9CF-CC7F-4DB1-8C31-558EA988CC4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QuantaAlpha：LLM组织因子生成与迭代</a:t>
            </a:r>
          </a:p>
        </p:txBody>
      </p:sp>
      <p:sp>
        <p:nvSpPr>
          <p:cNvPr id="3" name="text-yx8e83-04">
            <a:extLst xmlns:a="http://schemas.openxmlformats.org/drawingml/2006/main">
              <a:ext uri="{FF2B5EF4-FFF2-40B4-BE49-F238E27FC236}">
                <a16:creationId xmlns:a16="http://schemas.microsoft.com/office/drawing/2014/main" id="{B75836E9-6378-4676-90BA-A6D6D444DA8C}"/>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12</a:t>
            </a:r>
          </a:p>
        </p:txBody>
      </p:sp>
      <p:graphicFrame>
        <p:nvGraphicFramePr>
          <p:cNvPr id="11" name=""/>
          <p:cNvGraphicFramePr/>
          <p:nvPr/>
        </p:nvGraphicFramePr>
        <p:xfrm>
          <a:off xmlns:a="http://schemas.openxmlformats.org/drawingml/2006/main" x="609600" y="2009775"/>
          <a:ext xmlns:a="http://schemas.openxmlformats.org/drawingml/2006/main" cx="10972800" cy="3457575"/>
        </p:xfrm>
        <a:graphic xmlns:a="http://schemas.openxmlformats.org/drawingml/2006/main">
          <a:graphicData uri="http://schemas.openxmlformats.org/drawingml/2006/table">
            <a:tbl>
              <a:tblPr firstRow="1" bandRow="0"/>
              <a:tblGrid>
                <a:gridCol w="2190750"/>
                <a:gridCol w="4114800"/>
                <a:gridCol w="4667250"/>
              </a:tblGrid>
              <a:tr h="691515">
                <a:tc>
                  <a:txBody>
                    <a:bodyPr/>
                    <a:lstStyle/>
                    <a:p>
                      <a:r>
                        <a:rPr sz="1950" b="1">
                          <a:solidFill>
                            <a:srgbClr val="FFFFFF"/>
                          </a:solidFill>
                          <a:latin typeface="Heiti SC"/>
                          <a:ea typeface="Heiti SC"/>
                          <a:cs typeface="Heiti SC"/>
                        </a:rPr>
                        <a:t>模型任务</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接收的材料</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直接输出</a:t>
                      </a:r>
                    </a:p>
                  </a:txBody>
                  <a:tcPr marL="133350" marR="133350" marT="95250" marB="95250" anchor="ctr">
                    <a:solidFill>
                      <a:srgbClr val="19374D"/>
                    </a:solidFill>
                  </a:tcPr>
                </a:tc>
              </a:tr>
              <a:tr h="691515">
                <a:tc>
                  <a:txBody>
                    <a:bodyPr/>
                    <a:lstStyle/>
                    <a:p>
                      <a:r>
                        <a:rPr sz="1950" b="1">
                          <a:solidFill>
                            <a:srgbClr val="19374D"/>
                          </a:solidFill>
                          <a:latin typeface="Heiti SC"/>
                          <a:ea typeface="Heiti SC"/>
                          <a:cs typeface="Heiti SC"/>
                        </a:rPr>
                        <a:t>规划方向</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研究主题与差异要求</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候选研究方向</a:t>
                      </a:r>
                    </a:p>
                  </a:txBody>
                  <a:tcPr marL="133350" marR="133350" marT="95250" marB="95250" anchor="ctr">
                    <a:solidFill>
                      <a:srgbClr val="FFFFFF"/>
                    </a:solidFill>
                  </a:tcPr>
                </a:tc>
              </a:tr>
              <a:tr h="691515">
                <a:tc>
                  <a:txBody>
                    <a:bodyPr/>
                    <a:lstStyle/>
                    <a:p>
                      <a:r>
                        <a:rPr sz="1950" b="1">
                          <a:solidFill>
                            <a:srgbClr val="19374D"/>
                          </a:solidFill>
                          <a:latin typeface="Heiti SC"/>
                          <a:ea typeface="Heiti SC"/>
                          <a:cs typeface="Heiti SC"/>
                        </a:rPr>
                        <a:t>构造因子</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假设、字段与算子说明</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因子定义、公式与表达式</a:t>
                      </a:r>
                    </a:p>
                  </a:txBody>
                  <a:tcPr marL="133350" marR="133350" marT="95250" marB="95250" anchor="ctr">
                    <a:solidFill>
                      <a:srgbClr val="FFFFFF"/>
                    </a:solidFill>
                  </a:tcPr>
                </a:tc>
              </a:tr>
              <a:tr h="691515">
                <a:tc>
                  <a:txBody>
                    <a:bodyPr/>
                    <a:lstStyle/>
                    <a:p>
                      <a:r>
                        <a:rPr sz="1950" b="1">
                          <a:solidFill>
                            <a:srgbClr val="19374D"/>
                          </a:solidFill>
                          <a:latin typeface="Heiti SC"/>
                          <a:ea typeface="Heiti SC"/>
                          <a:cs typeface="Heiti SC"/>
                        </a:rPr>
                        <a:t>核对和修正</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假设、表达式与错误反馈</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一致性意见与修正方案</a:t>
                      </a:r>
                    </a:p>
                  </a:txBody>
                  <a:tcPr marL="133350" marR="133350" marT="95250" marB="95250" anchor="ctr">
                    <a:solidFill>
                      <a:srgbClr val="FFFFFF"/>
                    </a:solidFill>
                  </a:tcPr>
                </a:tc>
              </a:tr>
              <a:tr h="691515">
                <a:tc>
                  <a:txBody>
                    <a:bodyPr/>
                    <a:lstStyle/>
                    <a:p>
                      <a:r>
                        <a:rPr sz="1950" b="1">
                          <a:solidFill>
                            <a:srgbClr val="19374D"/>
                          </a:solidFill>
                          <a:latin typeface="Heiti SC"/>
                          <a:ea typeface="Heiti SC"/>
                          <a:cs typeface="Heiti SC"/>
                        </a:rPr>
                        <a:t>解释与迭代</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回测结果及研究记录</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结果分析、新假设与修改方向</a:t>
                      </a:r>
                    </a:p>
                  </a:txBody>
                  <a:tcPr marL="133350" marR="133350" marT="95250" marB="95250" anchor="ctr">
                    <a:solidFill>
                      <a:srgbClr val="FFFFFF"/>
                    </a:solidFill>
                  </a:tcPr>
                </a:tc>
              </a:tr>
            </a:tbl>
          </a:graphicData>
        </a:graphic>
      </p:graphicFrame>
      <p:sp>
        <p:nvSpPr>
          <p:cNvPr id="7" name="copy-11-2026年开源研究框架，将多次">
            <a:extLst xmlns:a="http://schemas.openxmlformats.org/drawingml/2006/main">
              <a:ext uri="{FF2B5EF4-FFF2-40B4-BE49-F238E27FC236}">
                <a16:creationId xmlns:a16="http://schemas.microsoft.com/office/drawing/2014/main" id="{7F4FA7FA-73A6-4A3B-8A7E-7FD792B1F05D}"/>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2026年开源研究框架，将多次模型调用连接到计算与回测工具</a:t>
            </a:r>
          </a:p>
        </p:txBody>
      </p:sp>
      <p:sp>
        <p:nvSpPr>
          <p:cNvPr id="8" name="copy-12-模型把研究设想转为可执行方案，">
            <a:extLst xmlns:a="http://schemas.openxmlformats.org/drawingml/2006/main">
              <a:ext uri="{FF2B5EF4-FFF2-40B4-BE49-F238E27FC236}">
                <a16:creationId xmlns:a16="http://schemas.microsoft.com/office/drawing/2014/main" id="{62273278-CEC8-48CC-BA6D-F30EC1857677}"/>
              </a:ext>
            </a:extLst>
          </p:cNvPr>
          <p:cNvSpPr>
            <a:spLocks xmlns:a="http://schemas.openxmlformats.org/drawingml/2006/main" noGrp="1"/>
          </p:cNvSpPr>
          <p:nvPr/>
        </p:nvSpPr>
        <p:spPr>
          <a:xfrm xmlns:a="http://schemas.openxmlformats.org/drawingml/2006/main">
            <a:off x="628650" y="58102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83"/>
                </a:solidFill>
                <a:latin typeface="Heiti SC"/>
                <a:ea typeface="Heiti SC"/>
                <a:cs typeface="Heiti SC"/>
              </a:defRPr>
            </a:pPr>
            <a:r>
              <a:rPr sz="2100" b="1">
                <a:solidFill>
                  <a:srgbClr val="008C83"/>
                </a:solidFill>
                <a:latin typeface="Heiti SC"/>
                <a:ea typeface="Heiti SC"/>
                <a:cs typeface="Heiti SC"/>
              </a:rPr>
              <a:t>模型把研究设想转为可执行方案，再把检验结果转为新的研究任务。</a:t>
            </a:r>
          </a:p>
        </p:txBody>
      </p:sp>
    </p:spTree>
    <p:extLst>
      <p:ext uri="{BB962C8B-B14F-4D97-AF65-F5344CB8AC3E}">
        <p14:creationId xmlns:p14="http://schemas.microsoft.com/office/powerpoint/2010/main" val="2909835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v872z8-QuantaAlpha的因子修改">
            <a:extLst xmlns:a="http://schemas.openxmlformats.org/drawingml/2006/main">
              <a:ext uri="{FF2B5EF4-FFF2-40B4-BE49-F238E27FC236}">
                <a16:creationId xmlns:a16="http://schemas.microsoft.com/office/drawing/2014/main" id="{CC278143-4E54-45F4-A72A-BDF6D92AF786}"/>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QuantaAlpha：回测反馈改变下一轮方案</a:t>
            </a:r>
          </a:p>
        </p:txBody>
      </p:sp>
      <p:sp>
        <p:nvSpPr>
          <p:cNvPr id="4" name="text-v872z8-13">
            <a:extLst xmlns:a="http://schemas.openxmlformats.org/drawingml/2006/main">
              <a:ext uri="{FF2B5EF4-FFF2-40B4-BE49-F238E27FC236}">
                <a16:creationId xmlns:a16="http://schemas.microsoft.com/office/drawing/2014/main" id="{089EE00D-7D4A-4876-96E7-8CF3C4DFCEAE}"/>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13</a:t>
            </a:r>
          </a:p>
        </p:txBody>
      </p:sp>
      <p:graphicFrame>
        <p:nvGraphicFramePr>
          <p:cNvPr id="14" name=""/>
          <p:cNvGraphicFramePr/>
          <p:nvPr/>
        </p:nvGraphicFramePr>
        <p:xfrm>
          <a:off xmlns:a="http://schemas.openxmlformats.org/drawingml/2006/main" x="609600" y="2028825"/>
          <a:ext xmlns:a="http://schemas.openxmlformats.org/drawingml/2006/main" cx="10972800" cy="2876550"/>
        </p:xfrm>
        <a:graphic xmlns:a="http://schemas.openxmlformats.org/drawingml/2006/main">
          <a:graphicData uri="http://schemas.openxmlformats.org/drawingml/2006/table">
            <a:tbl>
              <a:tblPr firstRow="1" bandRow="0"/>
              <a:tblGrid>
                <a:gridCol w="2743200"/>
                <a:gridCol w="8229600"/>
              </a:tblGrid>
              <a:tr h="719138">
                <a:tc>
                  <a:txBody>
                    <a:bodyPr/>
                    <a:lstStyle/>
                    <a:p>
                      <a:r>
                        <a:rPr sz="2175" b="1">
                          <a:solidFill>
                            <a:srgbClr val="FFFFFF"/>
                          </a:solidFill>
                          <a:latin typeface="Heiti SC"/>
                          <a:ea typeface="Heiti SC"/>
                          <a:cs typeface="Heiti SC"/>
                        </a:rPr>
                        <a:t>研究过程</a:t>
                      </a:r>
                    </a:p>
                  </a:txBody>
                  <a:tcPr marL="133350" marR="133350" marT="95250" marB="95250" anchor="ctr">
                    <a:solidFill>
                      <a:srgbClr val="19374D"/>
                    </a:solidFill>
                  </a:tcPr>
                </a:tc>
                <a:tc>
                  <a:txBody>
                    <a:bodyPr/>
                    <a:lstStyle/>
                    <a:p>
                      <a:r>
                        <a:rPr sz="2175" b="1">
                          <a:solidFill>
                            <a:srgbClr val="FFFFFF"/>
                          </a:solidFill>
                          <a:latin typeface="Heiti SC"/>
                          <a:ea typeface="Heiti SC"/>
                          <a:cs typeface="Heiti SC"/>
                        </a:rPr>
                        <a:t>具体内容</a:t>
                      </a:r>
                    </a:p>
                  </a:txBody>
                  <a:tcPr marL="133350" marR="133350" marT="95250" marB="95250" anchor="ctr">
                    <a:solidFill>
                      <a:srgbClr val="19374D"/>
                    </a:solidFill>
                  </a:tcPr>
                </a:tc>
              </a:tr>
              <a:tr h="719138">
                <a:tc>
                  <a:txBody>
                    <a:bodyPr/>
                    <a:lstStyle/>
                    <a:p>
                      <a:r>
                        <a:rPr sz="2175">
                          <a:solidFill>
                            <a:srgbClr val="253C4A"/>
                          </a:solidFill>
                          <a:latin typeface="Heiti SC"/>
                          <a:ea typeface="Heiti SC"/>
                          <a:cs typeface="Heiti SC"/>
                        </a:rPr>
                        <a:t>生成假设与因子</a:t>
                      </a:r>
                    </a:p>
                  </a:txBody>
                  <a:tcPr marL="133350" marR="133350" marT="95250" marB="95250" anchor="ctr">
                    <a:solidFill>
                      <a:srgbClr val="FFFFFF"/>
                    </a:solidFill>
                  </a:tcPr>
                </a:tc>
                <a:tc>
                  <a:txBody>
                    <a:bodyPr/>
                    <a:lstStyle/>
                    <a:p>
                      <a:r>
                        <a:rPr sz="2175">
                          <a:solidFill>
                            <a:srgbClr val="253C4A"/>
                          </a:solidFill>
                          <a:latin typeface="Heiti SC"/>
                          <a:ea typeface="Heiti SC"/>
                          <a:cs typeface="Heiti SC"/>
                        </a:rPr>
                        <a:t>组合两类动量，生成价量表达式</a:t>
                      </a:r>
                    </a:p>
                  </a:txBody>
                  <a:tcPr marL="133350" marR="133350" marT="95250" marB="95250" anchor="ctr">
                    <a:solidFill>
                      <a:srgbClr val="FFFFFF"/>
                    </a:solidFill>
                  </a:tcPr>
                </a:tc>
              </a:tr>
              <a:tr h="719138">
                <a:tc>
                  <a:txBody>
                    <a:bodyPr/>
                    <a:lstStyle/>
                    <a:p>
                      <a:r>
                        <a:rPr sz="2175">
                          <a:solidFill>
                            <a:srgbClr val="253C4A"/>
                          </a:solidFill>
                          <a:latin typeface="Heiti SC"/>
                          <a:ea typeface="Heiti SC"/>
                          <a:cs typeface="Heiti SC"/>
                        </a:rPr>
                        <a:t>取得回测反馈</a:t>
                      </a:r>
                    </a:p>
                  </a:txBody>
                  <a:tcPr marL="133350" marR="133350" marT="95250" marB="95250" anchor="ctr">
                    <a:solidFill>
                      <a:srgbClr val="FFFFFF"/>
                    </a:solidFill>
                  </a:tcPr>
                </a:tc>
                <a:tc>
                  <a:txBody>
                    <a:bodyPr/>
                    <a:lstStyle/>
                    <a:p>
                      <a:r>
                        <a:rPr sz="2175">
                          <a:solidFill>
                            <a:srgbClr val="253C4A"/>
                          </a:solidFill>
                          <a:latin typeface="Heiti SC"/>
                          <a:ea typeface="Heiti SC"/>
                          <a:cs typeface="Heiti SC"/>
                        </a:rPr>
                        <a:t>Rank IC提高，信息比率略降，最大回撤扩大</a:t>
                      </a:r>
                    </a:p>
                  </a:txBody>
                  <a:tcPr marL="133350" marR="133350" marT="95250" marB="95250" anchor="ctr">
                    <a:solidFill>
                      <a:srgbClr val="FFFFFF"/>
                    </a:solidFill>
                  </a:tcPr>
                </a:tc>
              </a:tr>
              <a:tr h="719138">
                <a:tc>
                  <a:txBody>
                    <a:bodyPr/>
                    <a:lstStyle/>
                    <a:p>
                      <a:r>
                        <a:rPr sz="2175">
                          <a:solidFill>
                            <a:srgbClr val="253C4A"/>
                          </a:solidFill>
                          <a:latin typeface="Heiti SC"/>
                          <a:ea typeface="Heiti SC"/>
                          <a:cs typeface="Heiti SC"/>
                        </a:rPr>
                        <a:t>LLM形成判断</a:t>
                      </a:r>
                    </a:p>
                  </a:txBody>
                  <a:tcPr marL="133350" marR="133350" marT="95250" marB="95250" anchor="ctr">
                    <a:solidFill>
                      <a:srgbClr val="FFFFFF"/>
                    </a:solidFill>
                  </a:tcPr>
                </a:tc>
                <a:tc>
                  <a:txBody>
                    <a:bodyPr/>
                    <a:lstStyle/>
                    <a:p>
                      <a:r>
                        <a:rPr sz="2175">
                          <a:solidFill>
                            <a:srgbClr val="253C4A"/>
                          </a:solidFill>
                          <a:latin typeface="Heiti SC"/>
                          <a:ea typeface="Heiti SC"/>
                          <a:cs typeface="Heiti SC"/>
                        </a:rPr>
                        <a:t>暂不采用当前方案，补入波动状态后重新检验</a:t>
                      </a:r>
                    </a:p>
                  </a:txBody>
                  <a:tcPr marL="133350" marR="133350" marT="95250" marB="95250" anchor="ctr">
                    <a:solidFill>
                      <a:srgbClr val="FFFFFF"/>
                    </a:solidFill>
                  </a:tcPr>
                </a:tc>
              </a:tr>
            </a:tbl>
          </a:graphicData>
        </a:graphic>
      </p:graphicFrame>
      <p:sp>
        <p:nvSpPr>
          <p:cNvPr id="10" name="copy-12-原论文附录C的一次因子交叉研究">
            <a:extLst xmlns:a="http://schemas.openxmlformats.org/drawingml/2006/main">
              <a:ext uri="{FF2B5EF4-FFF2-40B4-BE49-F238E27FC236}">
                <a16:creationId xmlns:a16="http://schemas.microsoft.com/office/drawing/2014/main" id="{441F3D78-D4FF-49B5-BC44-17516A7B7FAA}"/>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原论文附录C的一次因子交叉研究</a:t>
            </a:r>
          </a:p>
        </p:txBody>
      </p:sp>
      <p:sp>
        <p:nvSpPr>
          <p:cNvPr id="11" name="copy-13-LLM综合回测反馈，提出下一轮">
            <a:extLst xmlns:a="http://schemas.openxmlformats.org/drawingml/2006/main">
              <a:ext uri="{FF2B5EF4-FFF2-40B4-BE49-F238E27FC236}">
                <a16:creationId xmlns:a16="http://schemas.microsoft.com/office/drawing/2014/main" id="{FB931432-CFF1-4A8C-A01D-B612FBA2B168}"/>
              </a:ext>
            </a:extLst>
          </p:cNvPr>
          <p:cNvSpPr>
            <a:spLocks xmlns:a="http://schemas.openxmlformats.org/drawingml/2006/main" noGrp="1"/>
          </p:cNvSpPr>
          <p:nvPr/>
        </p:nvSpPr>
        <p:spPr>
          <a:xfrm xmlns:a="http://schemas.openxmlformats.org/drawingml/2006/main">
            <a:off x="628650" y="540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8C83"/>
                </a:solidFill>
                <a:latin typeface="Heiti SC"/>
                <a:ea typeface="Heiti SC"/>
                <a:cs typeface="Heiti SC"/>
              </a:defRPr>
            </a:pPr>
            <a:r>
              <a:rPr sz="2475" b="1">
                <a:solidFill>
                  <a:srgbClr val="008C83"/>
                </a:solidFill>
                <a:latin typeface="Heiti SC"/>
                <a:ea typeface="Heiti SC"/>
                <a:cs typeface="Heiti SC"/>
              </a:rPr>
              <a:t>LLM综合回测反馈，提出下一轮的具体修改。</a:t>
            </a:r>
          </a:p>
        </p:txBody>
      </p:sp>
    </p:spTree>
    <p:extLst>
      <p:ext uri="{BB962C8B-B14F-4D97-AF65-F5344CB8AC3E}">
        <p14:creationId xmlns:p14="http://schemas.microsoft.com/office/powerpoint/2010/main" val="7581038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w3spxa-附录C  AlphaTrend原">
            <a:extLst xmlns:a="http://schemas.openxmlformats.org/drawingml/2006/main">
              <a:ext uri="{FF2B5EF4-FFF2-40B4-BE49-F238E27FC236}">
                <a16:creationId xmlns:a16="http://schemas.microsoft.com/office/drawing/2014/main" id="{1A370421-4B51-4724-8227-83555DFCBF2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Man AlphaTrend：批量实施并筛选研究方案</a:t>
            </a:r>
          </a:p>
        </p:txBody>
      </p:sp>
      <p:sp>
        <p:nvSpPr>
          <p:cNvPr id="3" name="text-w3spxa-23">
            <a:extLst xmlns:a="http://schemas.openxmlformats.org/drawingml/2006/main">
              <a:ext uri="{FF2B5EF4-FFF2-40B4-BE49-F238E27FC236}">
                <a16:creationId xmlns:a16="http://schemas.microsoft.com/office/drawing/2014/main" id="{6F19ACD8-975C-440E-976F-4C54EF231960}"/>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b17200d49eb400d"/>
          <a:stretch xmlns:a="http://schemas.openxmlformats.org/drawingml/2006/main"/>
        </p:blipFill>
        <p:spPr>
          <a:xfrm xmlns:a="http://schemas.openxmlformats.org/drawingml/2006/main">
            <a:off x="333375" y="1562100"/>
            <a:ext cx="7162800" cy="4476750"/>
          </a:xfrm>
          <a:prstGeom xmlns:a="http://schemas.openxmlformats.org/drawingml/2006/main" prst="rect">
            <a:avLst/>
          </a:prstGeom>
        </p:spPr>
      </p:pic>
      <p:sp>
        <p:nvSpPr>
          <p:cNvPr id="7" name="copy-13-原始流程图来源：Man AHL">
            <a:extLst xmlns:a="http://schemas.openxmlformats.org/drawingml/2006/main">
              <a:ext uri="{FF2B5EF4-FFF2-40B4-BE49-F238E27FC236}">
                <a16:creationId xmlns:a16="http://schemas.microsoft.com/office/drawing/2014/main" id="{72CEA0CA-5A95-4E82-8558-DE0D1EF6695C}"/>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原始流程图来源：Man AHL，2026年2月11日。</a:t>
            </a:r>
          </a:p>
        </p:txBody>
      </p:sp>
      <p:sp>
        <p:nvSpPr>
          <p:cNvPr id="8" name="copy-14-研究员给出命题">
            <a:extLst xmlns:a="http://schemas.openxmlformats.org/drawingml/2006/main">
              <a:ext uri="{FF2B5EF4-FFF2-40B4-BE49-F238E27FC236}">
                <a16:creationId xmlns:a16="http://schemas.microsoft.com/office/drawing/2014/main" id="{255B4B2B-4D9F-4EFB-917B-9844F30E8890}"/>
              </a:ext>
            </a:extLst>
          </p:cNvPr>
          <p:cNvSpPr>
            <a:spLocks xmlns:a="http://schemas.openxmlformats.org/drawingml/2006/main" noGrp="1"/>
          </p:cNvSpPr>
          <p:nvPr/>
        </p:nvSpPr>
        <p:spPr>
          <a:xfrm xmlns:a="http://schemas.openxmlformats.org/drawingml/2006/main">
            <a:off x="7905750" y="18288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C83"/>
                </a:solidFill>
                <a:latin typeface="Heiti SC"/>
                <a:ea typeface="Heiti SC"/>
                <a:cs typeface="Heiti SC"/>
              </a:defRPr>
            </a:pPr>
            <a:r>
              <a:rPr sz="2325" b="1">
                <a:solidFill>
                  <a:srgbClr val="008C83"/>
                </a:solidFill>
                <a:latin typeface="Heiti SC"/>
                <a:ea typeface="Heiti SC"/>
                <a:cs typeface="Heiti SC"/>
              </a:rPr>
              <a:t>研究员给出命题</a:t>
            </a:r>
          </a:p>
        </p:txBody>
      </p:sp>
      <p:sp>
        <p:nvSpPr>
          <p:cNvPr id="9" name="copy-14-LLM生成候选信号&#10;和参数变体">
            <a:extLst xmlns:a="http://schemas.openxmlformats.org/drawingml/2006/main">
              <a:ext uri="{FF2B5EF4-FFF2-40B4-BE49-F238E27FC236}">
                <a16:creationId xmlns:a16="http://schemas.microsoft.com/office/drawing/2014/main" id="{F5E6FE1E-6BDA-4F43-9DF4-CC2013490EB4}"/>
              </a:ext>
            </a:extLst>
          </p:cNvPr>
          <p:cNvSpPr>
            <a:spLocks xmlns:a="http://schemas.openxmlformats.org/drawingml/2006/main" noGrp="1"/>
          </p:cNvSpPr>
          <p:nvPr/>
        </p:nvSpPr>
        <p:spPr>
          <a:xfrm xmlns:a="http://schemas.openxmlformats.org/drawingml/2006/main">
            <a:off x="7905750" y="2343150"/>
            <a:ext cx="361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53C4A"/>
                </a:solidFill>
                <a:latin typeface="Heiti SC"/>
                <a:ea typeface="Heiti SC"/>
                <a:cs typeface="Heiti SC"/>
              </a:defRPr>
            </a:pPr>
            <a:r>
              <a:rPr sz="2175" b="0">
                <a:solidFill>
                  <a:srgbClr val="253C4A"/>
                </a:solidFill>
                <a:latin typeface="Heiti SC"/>
                <a:ea typeface="Heiti SC"/>
                <a:cs typeface="Heiti SC"/>
              </a:rPr>
              <a:t>LLM生成候选信号</a:t>
            </a:r>
          </a:p>
          <a:p xmlns:a="http://schemas.openxmlformats.org/drawingml/2006/main">
            <a:pPr algn="l">
              <a:defRPr sz="2175" b="0">
                <a:solidFill>
                  <a:srgbClr val="253C4A"/>
                </a:solidFill>
                <a:latin typeface="Heiti SC"/>
                <a:ea typeface="Heiti SC"/>
                <a:cs typeface="Heiti SC"/>
              </a:defRPr>
            </a:pPr>
            <a:r>
              <a:rPr sz="2175" b="0">
                <a:solidFill>
                  <a:srgbClr val="253C4A"/>
                </a:solidFill>
                <a:latin typeface="Heiti SC"/>
                <a:ea typeface="Heiti SC"/>
                <a:cs typeface="Heiti SC"/>
              </a:rPr>
              <a:t>和参数变体</a:t>
            </a:r>
          </a:p>
        </p:txBody>
      </p:sp>
      <p:sp>
        <p:nvSpPr>
          <p:cNvPr id="10" name="copy-14-工具完成实施与回测">
            <a:extLst xmlns:a="http://schemas.openxmlformats.org/drawingml/2006/main">
              <a:ext uri="{FF2B5EF4-FFF2-40B4-BE49-F238E27FC236}">
                <a16:creationId xmlns:a16="http://schemas.microsoft.com/office/drawing/2014/main" id="{8DC2FC13-79C1-46F0-8071-41B6D077E3EF}"/>
              </a:ext>
            </a:extLst>
          </p:cNvPr>
          <p:cNvSpPr>
            <a:spLocks xmlns:a="http://schemas.openxmlformats.org/drawingml/2006/main" noGrp="1"/>
          </p:cNvSpPr>
          <p:nvPr/>
        </p:nvSpPr>
        <p:spPr>
          <a:xfrm xmlns:a="http://schemas.openxmlformats.org/drawingml/2006/main">
            <a:off x="7905750" y="3429000"/>
            <a:ext cx="361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9374D"/>
                </a:solidFill>
                <a:latin typeface="Heiti SC"/>
                <a:ea typeface="Heiti SC"/>
                <a:cs typeface="Heiti SC"/>
              </a:defRPr>
            </a:pPr>
            <a:r>
              <a:rPr sz="2325" b="1">
                <a:solidFill>
                  <a:srgbClr val="19374D"/>
                </a:solidFill>
                <a:latin typeface="Heiti SC"/>
                <a:ea typeface="Heiti SC"/>
                <a:cs typeface="Heiti SC"/>
              </a:rPr>
              <a:t>工具完成实施与回测</a:t>
            </a:r>
          </a:p>
        </p:txBody>
      </p:sp>
      <p:sp>
        <p:nvSpPr>
          <p:cNvPr id="11" name="copy-14-LLM综合证据">
            <a:extLst xmlns:a="http://schemas.openxmlformats.org/drawingml/2006/main">
              <a:ext uri="{FF2B5EF4-FFF2-40B4-BE49-F238E27FC236}">
                <a16:creationId xmlns:a16="http://schemas.microsoft.com/office/drawing/2014/main" id="{DB9F18C5-C244-41A9-BF0C-1D284059E91A}"/>
              </a:ext>
            </a:extLst>
          </p:cNvPr>
          <p:cNvSpPr>
            <a:spLocks xmlns:a="http://schemas.openxmlformats.org/drawingml/2006/main" noGrp="1"/>
          </p:cNvSpPr>
          <p:nvPr/>
        </p:nvSpPr>
        <p:spPr>
          <a:xfrm xmlns:a="http://schemas.openxmlformats.org/drawingml/2006/main">
            <a:off x="7905750" y="46196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C83"/>
                </a:solidFill>
                <a:latin typeface="Heiti SC"/>
                <a:ea typeface="Heiti SC"/>
                <a:cs typeface="Heiti SC"/>
              </a:defRPr>
            </a:pPr>
            <a:r>
              <a:rPr sz="2325" b="1">
                <a:solidFill>
                  <a:srgbClr val="008C83"/>
                </a:solidFill>
                <a:latin typeface="Heiti SC"/>
                <a:ea typeface="Heiti SC"/>
                <a:cs typeface="Heiti SC"/>
              </a:rPr>
              <a:t>LLM综合证据</a:t>
            </a:r>
          </a:p>
        </p:txBody>
      </p:sp>
      <p:sp>
        <p:nvSpPr>
          <p:cNvPr id="12" name="copy-14-解释差异，筛选方向，&#10;形成后续">
            <a:extLst xmlns:a="http://schemas.openxmlformats.org/drawingml/2006/main">
              <a:ext uri="{FF2B5EF4-FFF2-40B4-BE49-F238E27FC236}">
                <a16:creationId xmlns:a16="http://schemas.microsoft.com/office/drawing/2014/main" id="{89DF0B74-FE6C-4108-B1D4-8BDC20F5E8D3}"/>
              </a:ext>
            </a:extLst>
          </p:cNvPr>
          <p:cNvSpPr>
            <a:spLocks xmlns:a="http://schemas.openxmlformats.org/drawingml/2006/main" noGrp="1"/>
          </p:cNvSpPr>
          <p:nvPr/>
        </p:nvSpPr>
        <p:spPr>
          <a:xfrm xmlns:a="http://schemas.openxmlformats.org/drawingml/2006/main">
            <a:off x="7905750" y="5114925"/>
            <a:ext cx="361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53C4A"/>
                </a:solidFill>
                <a:latin typeface="Heiti SC"/>
                <a:ea typeface="Heiti SC"/>
                <a:cs typeface="Heiti SC"/>
              </a:defRPr>
            </a:pPr>
            <a:r>
              <a:rPr sz="2175" b="0">
                <a:solidFill>
                  <a:srgbClr val="253C4A"/>
                </a:solidFill>
                <a:latin typeface="Heiti SC"/>
                <a:ea typeface="Heiti SC"/>
                <a:cs typeface="Heiti SC"/>
              </a:rPr>
              <a:t>解释差异，筛选方向，</a:t>
            </a:r>
          </a:p>
          <a:p xmlns:a="http://schemas.openxmlformats.org/drawingml/2006/main">
            <a:pPr algn="l">
              <a:defRPr sz="2175" b="0">
                <a:solidFill>
                  <a:srgbClr val="253C4A"/>
                </a:solidFill>
                <a:latin typeface="Heiti SC"/>
                <a:ea typeface="Heiti SC"/>
                <a:cs typeface="Heiti SC"/>
              </a:defRPr>
            </a:pPr>
            <a:r>
              <a:rPr sz="2175" b="0">
                <a:solidFill>
                  <a:srgbClr val="253C4A"/>
                </a:solidFill>
                <a:latin typeface="Heiti SC"/>
                <a:ea typeface="Heiti SC"/>
                <a:cs typeface="Heiti SC"/>
              </a:rPr>
              <a:t>形成后续研究结论</a:t>
            </a:r>
          </a:p>
        </p:txBody>
      </p:sp>
    </p:spTree>
    <p:extLst>
      <p:ext uri="{BB962C8B-B14F-4D97-AF65-F5344CB8AC3E}">
        <p14:creationId xmlns:p14="http://schemas.microsoft.com/office/powerpoint/2010/main" val="918816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cmcpi-附录D  量化代码的验证">
            <a:extLst xmlns:a="http://schemas.openxmlformats.org/drawingml/2006/main">
              <a:ext uri="{FF2B5EF4-FFF2-40B4-BE49-F238E27FC236}">
                <a16:creationId xmlns:a16="http://schemas.microsoft.com/office/drawing/2014/main" id="{58A8C21B-D47B-4163-ACC8-949041B13ED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研究工具与代码生成接入LLM流程</a:t>
            </a:r>
          </a:p>
        </p:txBody>
      </p:sp>
      <p:sp>
        <p:nvSpPr>
          <p:cNvPr id="3" name="text-8cmcpi-24">
            <a:extLst xmlns:a="http://schemas.openxmlformats.org/drawingml/2006/main">
              <a:ext uri="{FF2B5EF4-FFF2-40B4-BE49-F238E27FC236}">
                <a16:creationId xmlns:a16="http://schemas.microsoft.com/office/drawing/2014/main" id="{064511EB-54AB-4192-ACD7-6FD4E78F32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15</a:t>
            </a:r>
          </a:p>
        </p:txBody>
      </p:sp>
      <p:graphicFrame>
        <p:nvGraphicFramePr>
          <p:cNvPr id="11"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543175"/>
                <a:gridCol w="4572000"/>
                <a:gridCol w="3857625"/>
              </a:tblGrid>
              <a:tr h="714375">
                <a:tc>
                  <a:txBody>
                    <a:bodyPr/>
                    <a:lstStyle/>
                    <a:p>
                      <a:r>
                        <a:rPr sz="2025" b="1">
                          <a:solidFill>
                            <a:srgbClr val="FFFFFF"/>
                          </a:solidFill>
                          <a:latin typeface="Heiti SC"/>
                          <a:ea typeface="Heiti SC"/>
                          <a:cs typeface="Heiti SC"/>
                        </a:rPr>
                        <a:t>案例</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提供给模型的研究能力</a:t>
                      </a:r>
                    </a:p>
                  </a:txBody>
                  <a:tcPr marL="133350" marR="133350" marT="95250" marB="95250" anchor="ctr">
                    <a:solidFill>
                      <a:srgbClr val="19374D"/>
                    </a:solidFill>
                  </a:tcPr>
                </a:tc>
                <a:tc>
                  <a:txBody>
                    <a:bodyPr/>
                    <a:lstStyle/>
                    <a:p>
                      <a:r>
                        <a:rPr sz="1950" b="1">
                          <a:solidFill>
                            <a:srgbClr val="FFFFFF"/>
                          </a:solidFill>
                          <a:latin typeface="Heiti SC"/>
                          <a:ea typeface="Heiti SC"/>
                          <a:cs typeface="Heiti SC"/>
                        </a:rPr>
                        <a:t>业务用途</a:t>
                      </a:r>
                    </a:p>
                  </a:txBody>
                  <a:tcPr marL="133350" marR="133350" marT="95250" marB="95250" anchor="ctr">
                    <a:solidFill>
                      <a:srgbClr val="19374D"/>
                    </a:solidFill>
                  </a:tcPr>
                </a:tc>
              </a:tr>
              <a:tr h="714375">
                <a:tc>
                  <a:txBody>
                    <a:bodyPr/>
                    <a:lstStyle/>
                    <a:p>
                      <a:r>
                        <a:rPr sz="2025">
                          <a:solidFill>
                            <a:srgbClr val="253C4A"/>
                          </a:solidFill>
                          <a:latin typeface="Heiti SC"/>
                          <a:ea typeface="Heiti SC"/>
                          <a:cs typeface="Heiti SC"/>
                        </a:rPr>
                        <a:t>博时BSBox</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数据访问、研究工具、独立运行环境</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组合使用常用研究能力</a:t>
                      </a:r>
                    </a:p>
                  </a:txBody>
                  <a:tcPr marL="133350" marR="133350" marT="95250" marB="95250" anchor="ctr">
                    <a:solidFill>
                      <a:srgbClr val="FFFFFF"/>
                    </a:solidFill>
                  </a:tcPr>
                </a:tc>
              </a:tr>
              <a:tr h="714375">
                <a:tc>
                  <a:txBody>
                    <a:bodyPr/>
                    <a:lstStyle/>
                    <a:p>
                      <a:r>
                        <a:rPr sz="2025">
                          <a:solidFill>
                            <a:srgbClr val="253C4A"/>
                          </a:solidFill>
                          <a:latin typeface="Heiti SC"/>
                          <a:ea typeface="Heiti SC"/>
                          <a:cs typeface="Heiti SC"/>
                        </a:rPr>
                        <a:t>中欧基金</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100余项研究Skills</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数据获取、财务建模与报告写作</a:t>
                      </a:r>
                    </a:p>
                  </a:txBody>
                  <a:tcPr marL="133350" marR="133350" marT="95250" marB="95250" anchor="ctr">
                    <a:solidFill>
                      <a:srgbClr val="FFFFFF"/>
                    </a:solidFill>
                  </a:tcPr>
                </a:tc>
              </a:tr>
              <a:tr h="714375">
                <a:tc>
                  <a:txBody>
                    <a:bodyPr/>
                    <a:lstStyle/>
                    <a:p>
                      <a:r>
                        <a:rPr sz="2025">
                          <a:solidFill>
                            <a:srgbClr val="253C4A"/>
                          </a:solidFill>
                          <a:latin typeface="Heiti SC"/>
                          <a:ea typeface="Heiti SC"/>
                          <a:cs typeface="Heiti SC"/>
                        </a:rPr>
                        <a:t>NLPCC 2026任务</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新闻、行情与投资模拟服务</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形成投资决策并接收回测结果</a:t>
                      </a:r>
                    </a:p>
                  </a:txBody>
                  <a:tcPr marL="133350" marR="133350" marT="95250" marB="95250" anchor="ctr">
                    <a:solidFill>
                      <a:srgbClr val="FFFFFF"/>
                    </a:solidFill>
                  </a:tcPr>
                </a:tc>
              </a:tr>
              <a:tr h="714375">
                <a:tc>
                  <a:txBody>
                    <a:bodyPr/>
                    <a:lstStyle/>
                    <a:p>
                      <a:r>
                        <a:rPr sz="2025">
                          <a:solidFill>
                            <a:srgbClr val="253C4A"/>
                          </a:solidFill>
                          <a:latin typeface="Heiti SC"/>
                          <a:ea typeface="Heiti SC"/>
                          <a:cs typeface="Heiti SC"/>
                        </a:rPr>
                        <a:t>AlphaQT-Bench</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量化任务、数据结构与输出要求</a:t>
                      </a:r>
                    </a:p>
                  </a:txBody>
                  <a:tcPr marL="133350" marR="133350" marT="95250" marB="95250" anchor="ctr">
                    <a:solidFill>
                      <a:srgbClr val="FFFFFF"/>
                    </a:solidFill>
                  </a:tcPr>
                </a:tc>
                <a:tc>
                  <a:txBody>
                    <a:bodyPr/>
                    <a:lstStyle/>
                    <a:p>
                      <a:r>
                        <a:rPr sz="1950">
                          <a:solidFill>
                            <a:srgbClr val="253C4A"/>
                          </a:solidFill>
                          <a:latin typeface="Heiti SC"/>
                          <a:ea typeface="Heiti SC"/>
                          <a:cs typeface="Heiti SC"/>
                        </a:rPr>
                        <a:t>生成Python代码并接受统一评价</a:t>
                      </a:r>
                    </a:p>
                  </a:txBody>
                  <a:tcPr marL="133350" marR="133350" marT="95250" marB="95250" anchor="ctr">
                    <a:solidFill>
                      <a:srgbClr val="FFFFFF"/>
                    </a:solidFill>
                  </a:tcPr>
                </a:tc>
              </a:tr>
            </a:tbl>
          </a:graphicData>
        </a:graphic>
      </p:graphicFrame>
      <p:sp>
        <p:nvSpPr>
          <p:cNvPr id="8" name="copy-15-工具提供可执行能力，LLM根据">
            <a:extLst xmlns:a="http://schemas.openxmlformats.org/drawingml/2006/main">
              <a:ext uri="{FF2B5EF4-FFF2-40B4-BE49-F238E27FC236}">
                <a16:creationId xmlns:a16="http://schemas.microsoft.com/office/drawing/2014/main" id="{602A67B6-CD3D-4D6A-937D-42596C6F2918}"/>
              </a:ext>
            </a:extLst>
          </p:cNvPr>
          <p:cNvSpPr>
            <a:spLocks xmlns:a="http://schemas.openxmlformats.org/drawingml/2006/main" noGrp="1"/>
          </p:cNvSpPr>
          <p:nvPr/>
        </p:nvSpPr>
        <p:spPr>
          <a:xfrm xmlns:a="http://schemas.openxmlformats.org/drawingml/2006/main">
            <a:off x="628650" y="58102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C83"/>
                </a:solidFill>
                <a:latin typeface="Heiti SC"/>
                <a:ea typeface="Heiti SC"/>
                <a:cs typeface="Heiti SC"/>
              </a:defRPr>
            </a:pPr>
            <a:r>
              <a:rPr sz="2250" b="1">
                <a:solidFill>
                  <a:srgbClr val="008C83"/>
                </a:solidFill>
                <a:latin typeface="Heiti SC"/>
                <a:ea typeface="Heiti SC"/>
                <a:cs typeface="Heiti SC"/>
              </a:rPr>
              <a:t>工具提供可执行能力，LLM根据研究要求选择和组织使用。</a:t>
            </a:r>
          </a:p>
        </p:txBody>
      </p:sp>
    </p:spTree>
    <p:extLst>
      <p:ext uri="{BB962C8B-B14F-4D97-AF65-F5344CB8AC3E}">
        <p14:creationId xmlns:p14="http://schemas.microsoft.com/office/powerpoint/2010/main" val="1780386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7sp3os-模型服务与研究框架可以分别验证">
            <a:extLst xmlns:a="http://schemas.openxmlformats.org/drawingml/2006/main">
              <a:ext uri="{FF2B5EF4-FFF2-40B4-BE49-F238E27FC236}">
                <a16:creationId xmlns:a16="http://schemas.microsoft.com/office/drawing/2014/main" id="{A5EAB78D-0D09-42F9-AFD7-F5F37C45DAE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模型服务与研究框架分别建设</a:t>
            </a:r>
          </a:p>
        </p:txBody>
      </p:sp>
      <p:sp>
        <p:nvSpPr>
          <p:cNvPr id="2" name="text-7sp3os-15">
            <a:extLst xmlns:a="http://schemas.openxmlformats.org/drawingml/2006/main">
              <a:ext uri="{FF2B5EF4-FFF2-40B4-BE49-F238E27FC236}">
                <a16:creationId xmlns:a16="http://schemas.microsoft.com/office/drawing/2014/main" id="{BD1CA79B-B155-4049-BCF4-EB13141A18A7}"/>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16</a:t>
            </a:r>
          </a:p>
        </p:txBody>
      </p:sp>
      <p:graphicFrame>
        <p:nvGraphicFramePr>
          <p:cNvPr id="10" name=""/>
          <p:cNvGraphicFramePr/>
          <p:nvPr/>
        </p:nvGraphicFramePr>
        <p:xfrm>
          <a:off xmlns:a="http://schemas.openxmlformats.org/drawingml/2006/main" x="609600" y="2000250"/>
          <a:ext xmlns:a="http://schemas.openxmlformats.org/drawingml/2006/main" cx="10972800" cy="2962275"/>
        </p:xfrm>
        <a:graphic xmlns:a="http://schemas.openxmlformats.org/drawingml/2006/main">
          <a:graphicData uri="http://schemas.openxmlformats.org/drawingml/2006/table">
            <a:tbl>
              <a:tblPr firstRow="1" bandRow="0"/>
              <a:tblGrid>
                <a:gridCol w="2238375"/>
                <a:gridCol w="3990975"/>
                <a:gridCol w="4743450"/>
              </a:tblGrid>
              <a:tr h="740569">
                <a:tc>
                  <a:txBody>
                    <a:bodyPr/>
                    <a:lstStyle/>
                    <a:p>
                      <a:r>
                        <a:rPr sz="2025" b="1">
                          <a:solidFill>
                            <a:srgbClr val="FFFFFF"/>
                          </a:solidFill>
                          <a:latin typeface="Heiti SC"/>
                          <a:ea typeface="Heiti SC"/>
                          <a:cs typeface="Heiti SC"/>
                        </a:rPr>
                        <a:t>组成</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承担的职责</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接口内容</a:t>
                      </a:r>
                    </a:p>
                  </a:txBody>
                  <a:tcPr marL="133350" marR="133350" marT="95250" marB="95250" anchor="ctr">
                    <a:solidFill>
                      <a:srgbClr val="19374D"/>
                    </a:solidFill>
                  </a:tcPr>
                </a:tc>
              </a:tr>
              <a:tr h="740569">
                <a:tc>
                  <a:txBody>
                    <a:bodyPr/>
                    <a:lstStyle/>
                    <a:p>
                      <a:r>
                        <a:rPr sz="2025">
                          <a:solidFill>
                            <a:srgbClr val="253C4A"/>
                          </a:solidFill>
                          <a:latin typeface="Heiti SC"/>
                          <a:ea typeface="Heiti SC"/>
                          <a:cs typeface="Heiti SC"/>
                        </a:rPr>
                        <a:t>模型服务</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本地或API推理</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任务上下文、生成内容与工具指令</a:t>
                      </a:r>
                    </a:p>
                  </a:txBody>
                  <a:tcPr marL="133350" marR="133350" marT="95250" marB="95250" anchor="ctr">
                    <a:solidFill>
                      <a:srgbClr val="FFFFFF"/>
                    </a:solidFill>
                  </a:tcPr>
                </a:tc>
              </a:tr>
              <a:tr h="740569">
                <a:tc>
                  <a:txBody>
                    <a:bodyPr/>
                    <a:lstStyle/>
                    <a:p>
                      <a:r>
                        <a:rPr sz="2025">
                          <a:solidFill>
                            <a:srgbClr val="253C4A"/>
                          </a:solidFill>
                          <a:latin typeface="Heiti SC"/>
                          <a:ea typeface="Heiti SC"/>
                          <a:cs typeface="Heiti SC"/>
                        </a:rPr>
                        <a:t>研究框架</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编排任务并保存研究记录</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假设、执行结果与反馈</a:t>
                      </a:r>
                    </a:p>
                  </a:txBody>
                  <a:tcPr marL="133350" marR="133350" marT="95250" marB="95250" anchor="ctr">
                    <a:solidFill>
                      <a:srgbClr val="FFFFFF"/>
                    </a:solidFill>
                  </a:tcPr>
                </a:tc>
              </a:tr>
              <a:tr h="740569">
                <a:tc>
                  <a:txBody>
                    <a:bodyPr/>
                    <a:lstStyle/>
                    <a:p>
                      <a:r>
                        <a:rPr sz="2025">
                          <a:solidFill>
                            <a:srgbClr val="253C4A"/>
                          </a:solidFill>
                          <a:latin typeface="Heiti SC"/>
                          <a:ea typeface="Heiti SC"/>
                          <a:cs typeface="Heiti SC"/>
                        </a:rPr>
                        <a:t>研究工具</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数据读取、代码执行和回测</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数据、运行结果与研究指标</a:t>
                      </a:r>
                    </a:p>
                  </a:txBody>
                  <a:tcPr marL="133350" marR="133350" marT="95250" marB="95250" anchor="ctr">
                    <a:solidFill>
                      <a:srgbClr val="FFFFFF"/>
                    </a:solidFill>
                  </a:tcPr>
                </a:tc>
              </a:tr>
            </a:tbl>
          </a:graphicData>
        </a:graphic>
      </p:graphicFrame>
      <p:sp>
        <p:nvSpPr>
          <p:cNvPr id="7" name="copy-16-固定任务和工具，比较本地与AP">
            <a:extLst xmlns:a="http://schemas.openxmlformats.org/drawingml/2006/main">
              <a:ext uri="{FF2B5EF4-FFF2-40B4-BE49-F238E27FC236}">
                <a16:creationId xmlns:a16="http://schemas.microsoft.com/office/drawing/2014/main" id="{4C535895-47E5-45CE-8BC1-DA3C6A9713C9}"/>
              </a:ext>
            </a:extLst>
          </p:cNvPr>
          <p:cNvSpPr>
            <a:spLocks xmlns:a="http://schemas.openxmlformats.org/drawingml/2006/main" noGrp="1"/>
          </p:cNvSpPr>
          <p:nvPr/>
        </p:nvSpPr>
        <p:spPr>
          <a:xfrm xmlns:a="http://schemas.openxmlformats.org/drawingml/2006/main">
            <a:off x="62865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8C83"/>
                </a:solidFill>
                <a:latin typeface="Heiti SC"/>
                <a:ea typeface="Heiti SC"/>
                <a:cs typeface="Heiti SC"/>
              </a:defRPr>
            </a:pPr>
            <a:r>
              <a:rPr sz="2475" b="1">
                <a:solidFill>
                  <a:srgbClr val="008C83"/>
                </a:solidFill>
                <a:latin typeface="Heiti SC"/>
                <a:ea typeface="Heiti SC"/>
                <a:cs typeface="Heiti SC"/>
              </a:rPr>
              <a:t>固定任务和工具，比较本地与API模型的实际表现。</a:t>
            </a:r>
          </a:p>
        </p:txBody>
      </p:sp>
    </p:spTree>
    <p:extLst>
      <p:ext uri="{BB962C8B-B14F-4D97-AF65-F5344CB8AC3E}">
        <p14:creationId xmlns:p14="http://schemas.microsoft.com/office/powerpoint/2010/main" val="20916653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pmketg-合规要求对应用设计的影响">
            <a:extLst xmlns:a="http://schemas.openxmlformats.org/drawingml/2006/main">
              <a:ext uri="{FF2B5EF4-FFF2-40B4-BE49-F238E27FC236}">
                <a16:creationId xmlns:a16="http://schemas.microsoft.com/office/drawing/2014/main" id="{2B24C1EB-489C-4C76-BE24-6960488BEB33}"/>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数据与模型管理进入系统设计</a:t>
            </a:r>
          </a:p>
        </p:txBody>
      </p:sp>
      <p:sp>
        <p:nvSpPr>
          <p:cNvPr id="3" name="text-pmketg-16">
            <a:extLst xmlns:a="http://schemas.openxmlformats.org/drawingml/2006/main">
              <a:ext uri="{FF2B5EF4-FFF2-40B4-BE49-F238E27FC236}">
                <a16:creationId xmlns:a16="http://schemas.microsoft.com/office/drawing/2014/main" id="{3F263113-949A-4E84-B79C-89005A8303C0}"/>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17</a:t>
            </a:r>
          </a:p>
        </p:txBody>
      </p:sp>
      <p:graphicFrame>
        <p:nvGraphicFramePr>
          <p:cNvPr id="11" name=""/>
          <p:cNvGraphicFramePr/>
          <p:nvPr/>
        </p:nvGraphicFramePr>
        <p:xfrm>
          <a:off xmlns:a="http://schemas.openxmlformats.org/drawingml/2006/main" x="609600" y="1828800"/>
          <a:ext xmlns:a="http://schemas.openxmlformats.org/drawingml/2006/main" cx="10972800" cy="3533775"/>
        </p:xfrm>
        <a:graphic xmlns:a="http://schemas.openxmlformats.org/drawingml/2006/main">
          <a:graphicData uri="http://schemas.openxmlformats.org/drawingml/2006/table">
            <a:tbl>
              <a:tblPr firstRow="1" bandRow="0"/>
              <a:tblGrid>
                <a:gridCol w="2409825"/>
                <a:gridCol w="3733800"/>
                <a:gridCol w="4829175"/>
              </a:tblGrid>
              <a:tr h="706755">
                <a:tc>
                  <a:txBody>
                    <a:bodyPr/>
                    <a:lstStyle/>
                    <a:p>
                      <a:r>
                        <a:rPr sz="2025" b="1">
                          <a:solidFill>
                            <a:srgbClr val="FFFFFF"/>
                          </a:solidFill>
                          <a:latin typeface="Heiti SC"/>
                          <a:ea typeface="Heiti SC"/>
                          <a:cs typeface="Heiti SC"/>
                        </a:rPr>
                        <a:t>应用环节</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管理要求</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实施安排</a:t>
                      </a:r>
                    </a:p>
                  </a:txBody>
                  <a:tcPr marL="133350" marR="133350" marT="95250" marB="95250" anchor="ctr">
                    <a:solidFill>
                      <a:srgbClr val="19374D"/>
                    </a:solidFill>
                  </a:tcPr>
                </a:tc>
              </a:tr>
              <a:tr h="706755">
                <a:tc>
                  <a:txBody>
                    <a:bodyPr/>
                    <a:lstStyle/>
                    <a:p>
                      <a:r>
                        <a:rPr sz="2025">
                          <a:solidFill>
                            <a:srgbClr val="253C4A"/>
                          </a:solidFill>
                          <a:latin typeface="Heiti SC"/>
                          <a:ea typeface="Heiti SC"/>
                          <a:cs typeface="Heiti SC"/>
                        </a:rPr>
                        <a:t>资料与知识答复</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授权、版本和引用</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检索权限与原文依据</a:t>
                      </a:r>
                    </a:p>
                  </a:txBody>
                  <a:tcPr marL="133350" marR="133350" marT="95250" marB="95250" anchor="ctr">
                    <a:solidFill>
                      <a:srgbClr val="FFFFFF"/>
                    </a:solidFill>
                  </a:tcPr>
                </a:tc>
              </a:tr>
              <a:tr h="706755">
                <a:tc>
                  <a:txBody>
                    <a:bodyPr/>
                    <a:lstStyle/>
                    <a:p>
                      <a:r>
                        <a:rPr sz="2025">
                          <a:solidFill>
                            <a:srgbClr val="253C4A"/>
                          </a:solidFill>
                          <a:latin typeface="Heiti SC"/>
                          <a:ea typeface="Heiti SC"/>
                          <a:cs typeface="Heiti SC"/>
                        </a:rPr>
                        <a:t>SQL与研究代码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访问范围和执行控制</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最小权限、隔离运行与操作记录</a:t>
                      </a:r>
                    </a:p>
                  </a:txBody>
                  <a:tcPr marL="133350" marR="133350" marT="95250" marB="95250" anchor="ctr">
                    <a:solidFill>
                      <a:srgbClr val="FFFFFF"/>
                    </a:solidFill>
                  </a:tcPr>
                </a:tc>
              </a:tr>
              <a:tr h="706755">
                <a:tc>
                  <a:txBody>
                    <a:bodyPr/>
                    <a:lstStyle/>
                    <a:p>
                      <a:r>
                        <a:rPr sz="2025">
                          <a:solidFill>
                            <a:srgbClr val="253C4A"/>
                          </a:solidFill>
                          <a:latin typeface="Heiti SC"/>
                          <a:ea typeface="Heiti SC"/>
                          <a:cs typeface="Heiti SC"/>
                        </a:rPr>
                        <a:t>审核与风险意见</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规则适用和发布责任</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有效规则、人工复核与发布决定</a:t>
                      </a:r>
                    </a:p>
                  </a:txBody>
                  <a:tcPr marL="133350" marR="133350" marT="95250" marB="95250" anchor="ctr">
                    <a:solidFill>
                      <a:srgbClr val="FFFFFF"/>
                    </a:solidFill>
                  </a:tcPr>
                </a:tc>
              </a:tr>
              <a:tr h="706755">
                <a:tc>
                  <a:txBody>
                    <a:bodyPr/>
                    <a:lstStyle/>
                    <a:p>
                      <a:r>
                        <a:rPr sz="2025">
                          <a:solidFill>
                            <a:srgbClr val="253C4A"/>
                          </a:solidFill>
                          <a:latin typeface="Heiti SC"/>
                          <a:ea typeface="Heiti SC"/>
                          <a:cs typeface="Heiti SC"/>
                        </a:rPr>
                        <a:t>模型更新</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用途、评测和变更</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模型版本、验证结果与责任分工</a:t>
                      </a:r>
                    </a:p>
                  </a:txBody>
                  <a:tcPr marL="133350" marR="133350" marT="95250" marB="95250" anchor="ctr">
                    <a:solidFill>
                      <a:srgbClr val="FFFFFF"/>
                    </a:solidFill>
                  </a:tcPr>
                </a:tc>
              </a:tr>
            </a:tbl>
          </a:graphicData>
        </a:graphic>
      </p:graphicFrame>
      <p:sp>
        <p:nvSpPr>
          <p:cNvPr id="7" name="copy-16-个人信息保护法、数据安全法与A">
            <a:extLst xmlns:a="http://schemas.openxmlformats.org/drawingml/2006/main">
              <a:ext uri="{FF2B5EF4-FFF2-40B4-BE49-F238E27FC236}">
                <a16:creationId xmlns:a16="http://schemas.microsoft.com/office/drawing/2014/main" id="{4A97946E-11FC-4FE8-ABCF-C6929ACFC18C}"/>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个人信息保护法、数据安全法与AMAC大模型技术应用规范</a:t>
            </a:r>
          </a:p>
        </p:txBody>
      </p:sp>
      <p:sp>
        <p:nvSpPr>
          <p:cNvPr id="8" name="copy-17-管理要求落实到资料输入、工具执">
            <a:extLst xmlns:a="http://schemas.openxmlformats.org/drawingml/2006/main">
              <a:ext uri="{FF2B5EF4-FFF2-40B4-BE49-F238E27FC236}">
                <a16:creationId xmlns:a16="http://schemas.microsoft.com/office/drawing/2014/main" id="{8EE25FAD-E6A3-4F48-882C-065833C95077}"/>
              </a:ext>
            </a:extLst>
          </p:cNvPr>
          <p:cNvSpPr>
            <a:spLocks xmlns:a="http://schemas.openxmlformats.org/drawingml/2006/main" noGrp="1"/>
          </p:cNvSpPr>
          <p:nvPr/>
        </p:nvSpPr>
        <p:spPr>
          <a:xfrm xmlns:a="http://schemas.openxmlformats.org/drawingml/2006/main">
            <a:off x="628650" y="58102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83"/>
                </a:solidFill>
                <a:latin typeface="Heiti SC"/>
                <a:ea typeface="Heiti SC"/>
                <a:cs typeface="Heiti SC"/>
              </a:defRPr>
            </a:pPr>
            <a:r>
              <a:rPr sz="2175" b="1">
                <a:solidFill>
                  <a:srgbClr val="008C83"/>
                </a:solidFill>
                <a:latin typeface="Heiti SC"/>
                <a:ea typeface="Heiti SC"/>
                <a:cs typeface="Heiti SC"/>
              </a:rPr>
              <a:t>管理要求落实到资料输入、工具执行和结果使用的具体环节。</a:t>
            </a:r>
          </a:p>
        </p:txBody>
      </p:sp>
    </p:spTree>
    <p:extLst>
      <p:ext uri="{BB962C8B-B14F-4D97-AF65-F5344CB8AC3E}">
        <p14:creationId xmlns:p14="http://schemas.microsoft.com/office/powerpoint/2010/main" val="18902824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gmnx8m-数据和服务范围需要在原型阶段明确">
            <a:extLst xmlns:a="http://schemas.openxmlformats.org/drawingml/2006/main">
              <a:ext uri="{FF2B5EF4-FFF2-40B4-BE49-F238E27FC236}">
                <a16:creationId xmlns:a16="http://schemas.microsoft.com/office/drawing/2014/main" id="{1D10B7E3-5CA3-41FB-A4C2-FB4B1BDDA090}"/>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服务范围与外部处理职责</a:t>
            </a:r>
          </a:p>
        </p:txBody>
      </p:sp>
      <p:sp>
        <p:nvSpPr>
          <p:cNvPr id="2" name="text-gmnx8m-17">
            <a:extLst xmlns:a="http://schemas.openxmlformats.org/drawingml/2006/main">
              <a:ext uri="{FF2B5EF4-FFF2-40B4-BE49-F238E27FC236}">
                <a16:creationId xmlns:a16="http://schemas.microsoft.com/office/drawing/2014/main" id="{798E3B17-AE6E-47BD-97A3-F941E9A60F98}"/>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18</a:t>
            </a:r>
          </a:p>
        </p:txBody>
      </p:sp>
      <p:graphicFrame>
        <p:nvGraphicFramePr>
          <p:cNvPr id="10" name=""/>
          <p:cNvGraphicFramePr/>
          <p:nvPr/>
        </p:nvGraphicFramePr>
        <p:xfrm>
          <a:off xmlns:a="http://schemas.openxmlformats.org/drawingml/2006/main" x="609600" y="1828800"/>
          <a:ext xmlns:a="http://schemas.openxmlformats.org/drawingml/2006/main" cx="10972800" cy="3600450"/>
        </p:xfrm>
        <a:graphic xmlns:a="http://schemas.openxmlformats.org/drawingml/2006/main">
          <a:graphicData uri="http://schemas.openxmlformats.org/drawingml/2006/table">
            <a:tbl>
              <a:tblPr firstRow="1" bandRow="0"/>
              <a:tblGrid>
                <a:gridCol w="3905250"/>
                <a:gridCol w="7067550"/>
              </a:tblGrid>
              <a:tr h="720090">
                <a:tc>
                  <a:txBody>
                    <a:bodyPr/>
                    <a:lstStyle/>
                    <a:p>
                      <a:r>
                        <a:rPr sz="2025" b="1">
                          <a:solidFill>
                            <a:srgbClr val="FFFFFF"/>
                          </a:solidFill>
                          <a:latin typeface="Heiti SC"/>
                          <a:ea typeface="Heiti SC"/>
                          <a:cs typeface="Heiti SC"/>
                        </a:rPr>
                        <a:t>使用方式</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对应的实施要求</a:t>
                      </a:r>
                    </a:p>
                  </a:txBody>
                  <a:tcPr marL="133350" marR="133350" marT="95250" marB="95250" anchor="ctr">
                    <a:solidFill>
                      <a:srgbClr val="19374D"/>
                    </a:solidFill>
                  </a:tcPr>
                </a:tc>
              </a:tr>
              <a:tr h="720090">
                <a:tc>
                  <a:txBody>
                    <a:bodyPr/>
                    <a:lstStyle/>
                    <a:p>
                      <a:r>
                        <a:rPr sz="2025">
                          <a:solidFill>
                            <a:srgbClr val="253C4A"/>
                          </a:solidFill>
                          <a:latin typeface="Heiti SC"/>
                          <a:ea typeface="Heiti SC"/>
                          <a:cs typeface="Heiti SC"/>
                        </a:rPr>
                        <a:t>内部研究工具</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按内部数据处理和信息系统要求建设</a:t>
                      </a:r>
                    </a:p>
                  </a:txBody>
                  <a:tcPr marL="133350" marR="133350" marT="95250" marB="95250" anchor="ctr">
                    <a:solidFill>
                      <a:srgbClr val="FFFFFF"/>
                    </a:solidFill>
                  </a:tcPr>
                </a:tc>
              </a:tr>
              <a:tr h="720090">
                <a:tc>
                  <a:txBody>
                    <a:bodyPr/>
                    <a:lstStyle/>
                    <a:p>
                      <a:r>
                        <a:rPr sz="2025">
                          <a:solidFill>
                            <a:srgbClr val="253C4A"/>
                          </a:solidFill>
                          <a:latin typeface="Heiti SC"/>
                          <a:ea typeface="Heiti SC"/>
                          <a:cs typeface="Heiti SC"/>
                        </a:rPr>
                        <a:t>客户问答或对外发布</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确定公众服务、内容管理和发布义务</a:t>
                      </a:r>
                    </a:p>
                  </a:txBody>
                  <a:tcPr marL="133350" marR="133350" marT="95250" marB="95250" anchor="ctr">
                    <a:solidFill>
                      <a:srgbClr val="FFFFFF"/>
                    </a:solidFill>
                  </a:tcPr>
                </a:tc>
              </a:tr>
              <a:tr h="720090">
                <a:tc>
                  <a:txBody>
                    <a:bodyPr/>
                    <a:lstStyle/>
                    <a:p>
                      <a:r>
                        <a:rPr sz="2025">
                          <a:solidFill>
                            <a:srgbClr val="253C4A"/>
                          </a:solidFill>
                          <a:latin typeface="Heiti SC"/>
                          <a:ea typeface="Heiti SC"/>
                          <a:cs typeface="Heiti SC"/>
                        </a:rPr>
                        <a:t>外部OCR、嵌入或模型API</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梳理处理位置、数据类型、数量和供应商角色</a:t>
                      </a:r>
                    </a:p>
                  </a:txBody>
                  <a:tcPr marL="133350" marR="133350" marT="95250" marB="95250" anchor="ctr">
                    <a:solidFill>
                      <a:srgbClr val="FFFFFF"/>
                    </a:solidFill>
                  </a:tcPr>
                </a:tc>
              </a:tr>
              <a:tr h="720090">
                <a:tc>
                  <a:txBody>
                    <a:bodyPr/>
                    <a:lstStyle/>
                    <a:p>
                      <a:r>
                        <a:rPr sz="2025">
                          <a:solidFill>
                            <a:srgbClr val="253C4A"/>
                          </a:solidFill>
                          <a:latin typeface="Heiti SC"/>
                          <a:ea typeface="Heiti SC"/>
                          <a:cs typeface="Heiti SC"/>
                        </a:rPr>
                        <a:t>系统开发与运维</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明确机构控制、供应商职责与替换安排</a:t>
                      </a:r>
                    </a:p>
                  </a:txBody>
                  <a:tcPr marL="133350" marR="133350" marT="95250" marB="95250" anchor="ctr">
                    <a:solidFill>
                      <a:srgbClr val="FFFFFF"/>
                    </a:solidFill>
                  </a:tcPr>
                </a:tc>
              </a:tr>
            </a:tbl>
          </a:graphicData>
        </a:graphic>
      </p:graphicFrame>
      <p:sp>
        <p:nvSpPr>
          <p:cNvPr id="6" name="copy-17-生成式人工智能服务管理暂行办法">
            <a:extLst xmlns:a="http://schemas.openxmlformats.org/drawingml/2006/main">
              <a:ext uri="{FF2B5EF4-FFF2-40B4-BE49-F238E27FC236}">
                <a16:creationId xmlns:a16="http://schemas.microsoft.com/office/drawing/2014/main" id="{B0718CF5-DC9E-411F-8238-36DE9486006E}"/>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生成式人工智能服务管理暂行办法与证券基金信息技术管理办法</a:t>
            </a:r>
          </a:p>
        </p:txBody>
      </p:sp>
      <p:sp>
        <p:nvSpPr>
          <p:cNvPr id="7" name="copy-18-本地模型与外部服务分别配置，管">
            <a:extLst xmlns:a="http://schemas.openxmlformats.org/drawingml/2006/main">
              <a:ext uri="{FF2B5EF4-FFF2-40B4-BE49-F238E27FC236}">
                <a16:creationId xmlns:a16="http://schemas.microsoft.com/office/drawing/2014/main" id="{384B6EA7-E7F3-4AC6-A9E2-FA5D4E975B7D}"/>
              </a:ext>
            </a:extLst>
          </p:cNvPr>
          <p:cNvSpPr>
            <a:spLocks xmlns:a="http://schemas.openxmlformats.org/drawingml/2006/main" noGrp="1"/>
          </p:cNvSpPr>
          <p:nvPr/>
        </p:nvSpPr>
        <p:spPr>
          <a:xfrm xmlns:a="http://schemas.openxmlformats.org/drawingml/2006/main">
            <a:off x="628650" y="5781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83"/>
                </a:solidFill>
                <a:latin typeface="Heiti SC"/>
                <a:ea typeface="Heiti SC"/>
                <a:cs typeface="Heiti SC"/>
              </a:defRPr>
            </a:pPr>
            <a:r>
              <a:rPr sz="2175" b="1">
                <a:solidFill>
                  <a:srgbClr val="008C83"/>
                </a:solidFill>
                <a:latin typeface="Heiti SC"/>
                <a:ea typeface="Heiti SC"/>
                <a:cs typeface="Heiti SC"/>
              </a:rPr>
              <a:t>本地模型与外部服务分别配置，管理覆盖完整的数据处理流程。</a:t>
            </a:r>
          </a:p>
        </p:txBody>
      </p:sp>
    </p:spTree>
    <p:extLst>
      <p:ext uri="{BB962C8B-B14F-4D97-AF65-F5344CB8AC3E}">
        <p14:creationId xmlns:p14="http://schemas.microsoft.com/office/powerpoint/2010/main" val="4401801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lo24fx-后续本地验证的初步选择">
            <a:extLst xmlns:a="http://schemas.openxmlformats.org/drawingml/2006/main">
              <a:ext uri="{FF2B5EF4-FFF2-40B4-BE49-F238E27FC236}">
                <a16:creationId xmlns:a16="http://schemas.microsoft.com/office/drawing/2014/main" id="{90731AF9-B5BA-4C8A-AF5C-0D9C0C589D5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本地部署的首个量化原型</a:t>
            </a:r>
          </a:p>
        </p:txBody>
      </p:sp>
      <p:sp>
        <p:nvSpPr>
          <p:cNvPr id="2" name="text-lo24fx-18">
            <a:extLst xmlns:a="http://schemas.openxmlformats.org/drawingml/2006/main">
              <a:ext uri="{FF2B5EF4-FFF2-40B4-BE49-F238E27FC236}">
                <a16:creationId xmlns:a16="http://schemas.microsoft.com/office/drawing/2014/main" id="{F875169C-C465-4FC5-89CB-2EC3B48414D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19</a:t>
            </a:r>
          </a:p>
        </p:txBody>
      </p:sp>
      <p:sp>
        <p:nvSpPr>
          <p:cNvPr id="7" name="copy-19-公告事件提取">
            <a:extLst xmlns:a="http://schemas.openxmlformats.org/drawingml/2006/main">
              <a:ext uri="{FF2B5EF4-FFF2-40B4-BE49-F238E27FC236}">
                <a16:creationId xmlns:a16="http://schemas.microsoft.com/office/drawing/2014/main" id="{4E41AED8-9AC4-4005-B04F-302A1EB9B520}"/>
              </a:ext>
            </a:extLst>
          </p:cNvPr>
          <p:cNvSpPr>
            <a:spLocks xmlns:a="http://schemas.openxmlformats.org/drawingml/2006/main" noGrp="1"/>
          </p:cNvSpPr>
          <p:nvPr/>
        </p:nvSpPr>
        <p:spPr>
          <a:xfrm xmlns:a="http://schemas.openxmlformats.org/drawingml/2006/main">
            <a:off x="628650" y="17811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8C83"/>
                </a:solidFill>
                <a:latin typeface="Heiti SC"/>
                <a:ea typeface="Heiti SC"/>
                <a:cs typeface="Heiti SC"/>
              </a:defRPr>
            </a:pPr>
            <a:r>
              <a:rPr sz="3600" b="1">
                <a:solidFill>
                  <a:srgbClr val="008C83"/>
                </a:solidFill>
                <a:latin typeface="Heiti SC"/>
                <a:ea typeface="Heiti SC"/>
                <a:cs typeface="Heiti SC"/>
              </a:rPr>
              <a:t>公告事件提取</a:t>
            </a:r>
          </a:p>
        </p:txBody>
      </p:sp>
      <p:sp>
        <p:nvSpPr>
          <p:cNvPr id="8" name="copy-19-LLM整理事件、状态、数量与原">
            <a:extLst xmlns:a="http://schemas.openxmlformats.org/drawingml/2006/main">
              <a:ext uri="{FF2B5EF4-FFF2-40B4-BE49-F238E27FC236}">
                <a16:creationId xmlns:a16="http://schemas.microsoft.com/office/drawing/2014/main" id="{34FD14CA-AC89-450B-9A37-2DBDCEE2053E}"/>
              </a:ext>
            </a:extLst>
          </p:cNvPr>
          <p:cNvSpPr>
            <a:spLocks xmlns:a="http://schemas.openxmlformats.org/drawingml/2006/main" noGrp="1"/>
          </p:cNvSpPr>
          <p:nvPr/>
        </p:nvSpPr>
        <p:spPr>
          <a:xfrm xmlns:a="http://schemas.openxmlformats.org/drawingml/2006/main">
            <a:off x="628650" y="2733675"/>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53C4A"/>
                </a:solidFill>
                <a:latin typeface="Heiti SC"/>
                <a:ea typeface="Heiti SC"/>
                <a:cs typeface="Heiti SC"/>
              </a:defRPr>
            </a:pPr>
            <a:r>
              <a:rPr sz="2475" b="0">
                <a:solidFill>
                  <a:srgbClr val="253C4A"/>
                </a:solidFill>
                <a:latin typeface="Heiti SC"/>
                <a:ea typeface="Heiti SC"/>
                <a:cs typeface="Heiti SC"/>
              </a:rPr>
              <a:t>LLM整理事件、状态、数量与原文依据，</a:t>
            </a:r>
          </a:p>
          <a:p xmlns:a="http://schemas.openxmlformats.org/drawingml/2006/main">
            <a:pPr algn="l">
              <a:defRPr sz="2475" b="0">
                <a:solidFill>
                  <a:srgbClr val="253C4A"/>
                </a:solidFill>
                <a:latin typeface="Heiti SC"/>
                <a:ea typeface="Heiti SC"/>
                <a:cs typeface="Heiti SC"/>
              </a:defRPr>
            </a:pPr>
            <a:r>
              <a:rPr sz="2475" b="0">
                <a:solidFill>
                  <a:srgbClr val="253C4A"/>
                </a:solidFill>
                <a:latin typeface="Heiti SC"/>
                <a:ea typeface="Heiti SC"/>
                <a:cs typeface="Heiti SC"/>
              </a:rPr>
              <a:t>结构化记录接入量化研究数据集。</a:t>
            </a:r>
          </a:p>
        </p:txBody>
      </p:sp>
      <p:sp>
        <p:nvSpPr>
          <p:cNvPr id="9" name="copy-19-随后扩展到因子表达式与代码生成">
            <a:extLst xmlns:a="http://schemas.openxmlformats.org/drawingml/2006/main">
              <a:ext uri="{FF2B5EF4-FFF2-40B4-BE49-F238E27FC236}">
                <a16:creationId xmlns:a16="http://schemas.microsoft.com/office/drawing/2014/main" id="{F5E81A6B-420D-4D9E-BD33-30F844B5E01E}"/>
              </a:ext>
            </a:extLst>
          </p:cNvPr>
          <p:cNvSpPr>
            <a:spLocks xmlns:a="http://schemas.openxmlformats.org/drawingml/2006/main" noGrp="1"/>
          </p:cNvSpPr>
          <p:nvPr/>
        </p:nvSpPr>
        <p:spPr>
          <a:xfrm xmlns:a="http://schemas.openxmlformats.org/drawingml/2006/main">
            <a:off x="628650" y="427672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9374D"/>
                </a:solidFill>
                <a:latin typeface="Heiti SC"/>
                <a:ea typeface="Heiti SC"/>
                <a:cs typeface="Heiti SC"/>
              </a:defRPr>
            </a:pPr>
            <a:r>
              <a:rPr sz="2625" b="1">
                <a:solidFill>
                  <a:srgbClr val="19374D"/>
                </a:solidFill>
                <a:latin typeface="Heiti SC"/>
                <a:ea typeface="Heiti SC"/>
                <a:cs typeface="Heiti SC"/>
              </a:rPr>
              <a:t>随后扩展到因子表达式与代码生成</a:t>
            </a:r>
          </a:p>
        </p:txBody>
      </p:sp>
      <p:sp>
        <p:nvSpPr>
          <p:cNvPr id="10" name="copy-19-调用现有计算和回测工具，依据结">
            <a:extLst xmlns:a="http://schemas.openxmlformats.org/drawingml/2006/main">
              <a:ext uri="{FF2B5EF4-FFF2-40B4-BE49-F238E27FC236}">
                <a16:creationId xmlns:a16="http://schemas.microsoft.com/office/drawing/2014/main" id="{206D1886-A667-442F-ABD4-B000E5903628}"/>
              </a:ext>
            </a:extLst>
          </p:cNvPr>
          <p:cNvSpPr>
            <a:spLocks xmlns:a="http://schemas.openxmlformats.org/drawingml/2006/main" noGrp="1"/>
          </p:cNvSpPr>
          <p:nvPr/>
        </p:nvSpPr>
        <p:spPr>
          <a:xfrm xmlns:a="http://schemas.openxmlformats.org/drawingml/2006/main">
            <a:off x="628650" y="50387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调用现有计算和回测工具，依据结果修订研究假设。</a:t>
            </a:r>
          </a:p>
        </p:txBody>
      </p:sp>
    </p:spTree>
    <p:extLst>
      <p:ext uri="{BB962C8B-B14F-4D97-AF65-F5344CB8AC3E}">
        <p14:creationId xmlns:p14="http://schemas.microsoft.com/office/powerpoint/2010/main" val="5308620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rebxe0-调研范围与行业概览">
            <a:extLst xmlns:a="http://schemas.openxmlformats.org/drawingml/2006/main">
              <a:ext uri="{FF2B5EF4-FFF2-40B4-BE49-F238E27FC236}">
                <a16:creationId xmlns:a16="http://schemas.microsoft.com/office/drawing/2014/main" id="{594B2E2A-6930-4969-B6B4-046EE62C134D}"/>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下一阶段交付：模型服务与可运行原型</a:t>
            </a:r>
          </a:p>
        </p:txBody>
      </p:sp>
      <p:sp>
        <p:nvSpPr>
          <p:cNvPr id="3" name="text-rebxe0-03">
            <a:extLst xmlns:a="http://schemas.openxmlformats.org/drawingml/2006/main">
              <a:ext uri="{FF2B5EF4-FFF2-40B4-BE49-F238E27FC236}">
                <a16:creationId xmlns:a16="http://schemas.microsoft.com/office/drawing/2014/main" id="{4058D6D5-9100-4A22-B692-02EA34A55343}"/>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20</a:t>
            </a:r>
          </a:p>
        </p:txBody>
      </p:sp>
      <p:sp>
        <p:nvSpPr>
          <p:cNvPr id="9" name="copy-20-5至8个">
            <a:extLst xmlns:a="http://schemas.openxmlformats.org/drawingml/2006/main">
              <a:ext uri="{FF2B5EF4-FFF2-40B4-BE49-F238E27FC236}">
                <a16:creationId xmlns:a16="http://schemas.microsoft.com/office/drawing/2014/main" id="{8BB29894-E736-4529-AA7A-80E6A6F06D0C}"/>
              </a:ext>
            </a:extLst>
          </p:cNvPr>
          <p:cNvSpPr>
            <a:spLocks xmlns:a="http://schemas.openxmlformats.org/drawingml/2006/main" noGrp="1"/>
          </p:cNvSpPr>
          <p:nvPr/>
        </p:nvSpPr>
        <p:spPr>
          <a:xfrm xmlns:a="http://schemas.openxmlformats.org/drawingml/2006/main">
            <a:off x="638175" y="1819275"/>
            <a:ext cx="4619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008C83"/>
                </a:solidFill>
                <a:latin typeface="Heiti SC"/>
                <a:ea typeface="Heiti SC"/>
                <a:cs typeface="Heiti SC"/>
              </a:defRPr>
            </a:pPr>
            <a:r>
              <a:rPr sz="4425" b="1">
                <a:solidFill>
                  <a:srgbClr val="008C83"/>
                </a:solidFill>
                <a:latin typeface="Heiti SC"/>
                <a:ea typeface="Heiti SC"/>
                <a:cs typeface="Heiti SC"/>
              </a:rPr>
              <a:t>5至8个</a:t>
            </a:r>
          </a:p>
        </p:txBody>
      </p:sp>
      <p:sp>
        <p:nvSpPr>
          <p:cNvPr id="10" name="copy-20-开放模型比较">
            <a:extLst xmlns:a="http://schemas.openxmlformats.org/drawingml/2006/main">
              <a:ext uri="{FF2B5EF4-FFF2-40B4-BE49-F238E27FC236}">
                <a16:creationId xmlns:a16="http://schemas.microsoft.com/office/drawing/2014/main" id="{6630BF98-7851-481C-872E-E0D1B6852D93}"/>
              </a:ext>
            </a:extLst>
          </p:cNvPr>
          <p:cNvSpPr>
            <a:spLocks xmlns:a="http://schemas.openxmlformats.org/drawingml/2006/main" noGrp="1"/>
          </p:cNvSpPr>
          <p:nvPr/>
        </p:nvSpPr>
        <p:spPr>
          <a:xfrm xmlns:a="http://schemas.openxmlformats.org/drawingml/2006/main">
            <a:off x="657225" y="274320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开放模型比较</a:t>
            </a:r>
          </a:p>
        </p:txBody>
      </p:sp>
      <p:sp>
        <p:nvSpPr>
          <p:cNvPr id="11" name="copy-20-1个">
            <a:extLst xmlns:a="http://schemas.openxmlformats.org/drawingml/2006/main">
              <a:ext uri="{FF2B5EF4-FFF2-40B4-BE49-F238E27FC236}">
                <a16:creationId xmlns:a16="http://schemas.microsoft.com/office/drawing/2014/main" id="{3D3E229F-13FD-4657-BD7E-F3BDF534ACC9}"/>
              </a:ext>
            </a:extLst>
          </p:cNvPr>
          <p:cNvSpPr>
            <a:spLocks xmlns:a="http://schemas.openxmlformats.org/drawingml/2006/main" noGrp="1"/>
          </p:cNvSpPr>
          <p:nvPr/>
        </p:nvSpPr>
        <p:spPr>
          <a:xfrm xmlns:a="http://schemas.openxmlformats.org/drawingml/2006/main">
            <a:off x="6991350" y="1819275"/>
            <a:ext cx="4333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008C83"/>
                </a:solidFill>
                <a:latin typeface="Heiti SC"/>
                <a:ea typeface="Heiti SC"/>
                <a:cs typeface="Heiti SC"/>
              </a:defRPr>
            </a:pPr>
            <a:r>
              <a:rPr sz="4425" b="1">
                <a:solidFill>
                  <a:srgbClr val="008C83"/>
                </a:solidFill>
                <a:latin typeface="Heiti SC"/>
                <a:ea typeface="Heiti SC"/>
                <a:cs typeface="Heiti SC"/>
              </a:rPr>
              <a:t>1个</a:t>
            </a:r>
          </a:p>
        </p:txBody>
      </p:sp>
      <p:sp>
        <p:nvSpPr>
          <p:cNvPr id="12" name="copy-20-本地GPU模型原型">
            <a:extLst xmlns:a="http://schemas.openxmlformats.org/drawingml/2006/main">
              <a:ext uri="{FF2B5EF4-FFF2-40B4-BE49-F238E27FC236}">
                <a16:creationId xmlns:a16="http://schemas.microsoft.com/office/drawing/2014/main" id="{14511EDD-86A7-4C42-A29F-3C8F369076F5}"/>
              </a:ext>
            </a:extLst>
          </p:cNvPr>
          <p:cNvSpPr>
            <a:spLocks xmlns:a="http://schemas.openxmlformats.org/drawingml/2006/main" noGrp="1"/>
          </p:cNvSpPr>
          <p:nvPr/>
        </p:nvSpPr>
        <p:spPr>
          <a:xfrm xmlns:a="http://schemas.openxmlformats.org/drawingml/2006/main">
            <a:off x="7010400" y="274320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本地GPU模型原型</a:t>
            </a:r>
          </a:p>
        </p:txBody>
      </p:sp>
      <p:sp>
        <p:nvSpPr>
          <p:cNvPr id="13" name="copy-20-比较准确率、延迟、资源占用与人">
            <a:extLst xmlns:a="http://schemas.openxmlformats.org/drawingml/2006/main">
              <a:ext uri="{FF2B5EF4-FFF2-40B4-BE49-F238E27FC236}">
                <a16:creationId xmlns:a16="http://schemas.microsoft.com/office/drawing/2014/main" id="{0323C934-AD73-4987-8EAC-D1EB86E95CD9}"/>
              </a:ext>
            </a:extLst>
          </p:cNvPr>
          <p:cNvSpPr>
            <a:spLocks xmlns:a="http://schemas.openxmlformats.org/drawingml/2006/main" noGrp="1"/>
          </p:cNvSpPr>
          <p:nvPr/>
        </p:nvSpPr>
        <p:spPr>
          <a:xfrm xmlns:a="http://schemas.openxmlformats.org/drawingml/2006/main">
            <a:off x="638175" y="39433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9374D"/>
                </a:solidFill>
                <a:latin typeface="Heiti SC"/>
                <a:ea typeface="Heiti SC"/>
                <a:cs typeface="Heiti SC"/>
              </a:defRPr>
            </a:pPr>
            <a:r>
              <a:rPr sz="2400" b="1">
                <a:solidFill>
                  <a:srgbClr val="19374D"/>
                </a:solidFill>
                <a:latin typeface="Heiti SC"/>
                <a:ea typeface="Heiti SC"/>
                <a:cs typeface="Heiti SC"/>
              </a:rPr>
              <a:t>比较准确率、延迟、资源占用与人工修订时间</a:t>
            </a:r>
          </a:p>
        </p:txBody>
      </p:sp>
      <p:sp>
        <p:nvSpPr>
          <p:cNvPr id="14" name="copy-20-交付工具接口与评测记录，为三年">
            <a:extLst xmlns:a="http://schemas.openxmlformats.org/drawingml/2006/main">
              <a:ext uri="{FF2B5EF4-FFF2-40B4-BE49-F238E27FC236}">
                <a16:creationId xmlns:a16="http://schemas.microsoft.com/office/drawing/2014/main" id="{6CE3E3F0-ECBF-42F5-8BD4-253751FBAEFF}"/>
              </a:ext>
            </a:extLst>
          </p:cNvPr>
          <p:cNvSpPr>
            <a:spLocks xmlns:a="http://schemas.openxmlformats.org/drawingml/2006/main" noGrp="1"/>
          </p:cNvSpPr>
          <p:nvPr/>
        </p:nvSpPr>
        <p:spPr>
          <a:xfrm xmlns:a="http://schemas.openxmlformats.org/drawingml/2006/main">
            <a:off x="638175" y="49244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53C4A"/>
                </a:solidFill>
                <a:latin typeface="Heiti SC"/>
                <a:ea typeface="Heiti SC"/>
                <a:cs typeface="Heiti SC"/>
              </a:defRPr>
            </a:pPr>
            <a:r>
              <a:rPr sz="2325" b="0">
                <a:solidFill>
                  <a:srgbClr val="253C4A"/>
                </a:solidFill>
                <a:latin typeface="Heiti SC"/>
                <a:ea typeface="Heiti SC"/>
                <a:cs typeface="Heiti SC"/>
              </a:rPr>
              <a:t>交付工具接口与评测记录，为三年TCO分析提供依据。</a:t>
            </a:r>
          </a:p>
        </p:txBody>
      </p:sp>
    </p:spTree>
    <p:extLst>
      <p:ext uri="{BB962C8B-B14F-4D97-AF65-F5344CB8AC3E}">
        <p14:creationId xmlns:p14="http://schemas.microsoft.com/office/powerpoint/2010/main" val="80513087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yq8j03-附录A  公司调研汇总（1/3）">
            <a:extLst xmlns:a="http://schemas.openxmlformats.org/drawingml/2006/main">
              <a:ext uri="{FF2B5EF4-FFF2-40B4-BE49-F238E27FC236}">
                <a16:creationId xmlns:a16="http://schemas.microsoft.com/office/drawing/2014/main" id="{5965EA7C-00CF-4954-B10A-2C80F2432908}"/>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附录A  公司应用汇总（1/3）</a:t>
            </a:r>
          </a:p>
        </p:txBody>
      </p:sp>
      <p:sp>
        <p:nvSpPr>
          <p:cNvPr id="3" name="text-yq8j03-19">
            <a:extLst xmlns:a="http://schemas.openxmlformats.org/drawingml/2006/main">
              <a:ext uri="{FF2B5EF4-FFF2-40B4-BE49-F238E27FC236}">
                <a16:creationId xmlns:a16="http://schemas.microsoft.com/office/drawing/2014/main" id="{174A0CC6-BF43-4058-81CF-4BFD03CAB2B3}"/>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21</a:t>
            </a:r>
          </a:p>
        </p:txBody>
      </p:sp>
      <p:graphicFrame>
        <p:nvGraphicFramePr>
          <p:cNvPr id="10" name=""/>
          <p:cNvGraphicFramePr/>
          <p:nvPr/>
        </p:nvGraphicFramePr>
        <p:xfrm>
          <a:off xmlns:a="http://schemas.openxmlformats.org/drawingml/2006/main" x="609600" y="1333500"/>
          <a:ext xmlns:a="http://schemas.openxmlformats.org/drawingml/2006/main" cx="10972800" cy="4686300"/>
        </p:xfrm>
        <a:graphic xmlns:a="http://schemas.openxmlformats.org/drawingml/2006/main">
          <a:graphicData uri="http://schemas.openxmlformats.org/drawingml/2006/table">
            <a:tbl>
              <a:tblPr firstRow="1" bandRow="0"/>
              <a:tblGrid>
                <a:gridCol w="1476375"/>
                <a:gridCol w="1457325"/>
                <a:gridCol w="2324100"/>
                <a:gridCol w="2657475"/>
                <a:gridCol w="3057525"/>
              </a:tblGrid>
              <a:tr h="585788">
                <a:tc>
                  <a:txBody>
                    <a:bodyPr/>
                    <a:lstStyle/>
                    <a:p>
                      <a:r>
                        <a:rPr sz="1725" b="1">
                          <a:solidFill>
                            <a:srgbClr val="FFFFFF"/>
                          </a:solidFill>
                          <a:latin typeface="Heiti SC"/>
                          <a:ea typeface="Heiti SC"/>
                          <a:cs typeface="Heiti SC"/>
                        </a:rPr>
                        <a:t>公司</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非货规模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主要任务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应用产物与进展</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技术与合作信息</a:t>
                      </a:r>
                    </a:p>
                  </a:txBody>
                  <a:tcPr marL="133350" marR="133350" marT="47625" marB="47625" anchor="ctr">
                    <a:solidFill>
                      <a:srgbClr val="19374D"/>
                    </a:solidFill>
                  </a:tcPr>
                </a:tc>
              </a:tr>
              <a:tr h="585788">
                <a:tc>
                  <a:txBody>
                    <a:bodyPr/>
                    <a:lstStyle/>
                    <a:p>
                      <a:r>
                        <a:rPr sz="1725">
                          <a:solidFill>
                            <a:srgbClr val="253C4A"/>
                          </a:solidFill>
                          <a:latin typeface="Heiti SC"/>
                          <a:ea typeface="Heiti SC"/>
                          <a:cs typeface="Heiti SC"/>
                        </a:rPr>
                        <a:t>易方达</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17,029.86</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指数查询与联合研究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接口参数、数据答复</a:t>
                      </a:r>
                    </a:p>
                    <a:p>
                      <a:r>
                        <a:rPr sz="1725">
                          <a:solidFill>
                            <a:srgbClr val="253C4A"/>
                          </a:solidFill>
                          <a:latin typeface="Heiti SC"/>
                          <a:ea typeface="Heiti SC"/>
                          <a:cs typeface="Heiti SC"/>
                        </a:rPr>
                        <a:t>事件清单与行业排序</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Index-Hub查询客户端</a:t>
                      </a:r>
                    </a:p>
                    <a:p>
                      <a:r>
                        <a:rPr sz="1725">
                          <a:solidFill>
                            <a:srgbClr val="253C4A"/>
                          </a:solidFill>
                          <a:latin typeface="Heiti SC"/>
                          <a:ea typeface="Heiti SC"/>
                          <a:cs typeface="Heiti SC"/>
                        </a:rPr>
                        <a:t>高校联合MENTOR研究</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华夏</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11,987.79</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大模型安全网关</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2025年采购结果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北京世纪东凌中标</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广发</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10,355.25</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理财问答与文本因子</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理财答复</a:t>
                      </a:r>
                    </a:p>
                    <a:p>
                      <a:r>
                        <a:rPr sz="1725">
                          <a:solidFill>
                            <a:srgbClr val="253C4A"/>
                          </a:solidFill>
                          <a:latin typeface="Heiti SC"/>
                          <a:ea typeface="Heiti SC"/>
                          <a:cs typeface="Heiti SC"/>
                        </a:rPr>
                        <a:t>另类因子研究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DeepSeek、Qwen</a:t>
                      </a:r>
                    </a:p>
                    <a:p>
                      <a:r>
                        <a:rPr sz="1725">
                          <a:solidFill>
                            <a:srgbClr val="253C4A"/>
                          </a:solidFill>
                          <a:latin typeface="Heiti SC"/>
                          <a:ea typeface="Heiti SC"/>
                          <a:cs typeface="Heiti SC"/>
                        </a:rPr>
                        <a:t>2026年媒体调研</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富国</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9,889.56</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研报归纳与因子评价</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市场观点、知识答案</a:t>
                      </a:r>
                    </a:p>
                    <a:p>
                      <a:r>
                        <a:rPr sz="1725">
                          <a:solidFill>
                            <a:srgbClr val="253C4A"/>
                          </a:solidFill>
                          <a:latin typeface="Heiti SC"/>
                          <a:ea typeface="Heiti SC"/>
                          <a:cs typeface="Heiti SC"/>
                        </a:rPr>
                        <a:t>政策因子与评价意见</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本地LLM与RAG</a:t>
                      </a:r>
                    </a:p>
                    <a:p>
                      <a:r>
                        <a:rPr sz="1725">
                          <a:solidFill>
                            <a:srgbClr val="253C4A"/>
                          </a:solidFill>
                          <a:latin typeface="Heiti SC"/>
                          <a:ea typeface="Heiti SC"/>
                          <a:cs typeface="Heiti SC"/>
                        </a:rPr>
                        <a:t>Ray、ClickHouse</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南方</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7,856.35</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需求解析与查询编排</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工作流、SQL</a:t>
                      </a:r>
                    </a:p>
                    <a:p>
                      <a:r>
                        <a:rPr sz="1725">
                          <a:solidFill>
                            <a:srgbClr val="253C4A"/>
                          </a:solidFill>
                          <a:latin typeface="Heiti SC"/>
                          <a:ea typeface="Heiti SC"/>
                          <a:cs typeface="Heiti SC"/>
                        </a:rPr>
                        <a:t>业务答复</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智能体、API、Python</a:t>
                      </a:r>
                    </a:p>
                    <a:p>
                      <a:r>
                        <a:rPr sz="1725">
                          <a:solidFill>
                            <a:srgbClr val="253C4A"/>
                          </a:solidFill>
                          <a:latin typeface="Heiti SC"/>
                          <a:ea typeface="Heiti SC"/>
                          <a:cs typeface="Heiti SC"/>
                        </a:rPr>
                        <a:t>系统权限控制</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汇添富</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7,719.67</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风险邮件与条款问答</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风险信息、条款答复</a:t>
                      </a:r>
                    </a:p>
                    <a:p>
                      <a:r>
                        <a:rPr sz="1725">
                          <a:solidFill>
                            <a:srgbClr val="253C4A"/>
                          </a:solidFill>
                          <a:latin typeface="Heiti SC"/>
                          <a:ea typeface="Heiti SC"/>
                          <a:cs typeface="Heiti SC"/>
                        </a:rPr>
                        <a:t>拦截依据</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DeepSeek-R1、QianWen</a:t>
                      </a:r>
                    </a:p>
                    <a:p>
                      <a:r>
                        <a:rPr sz="1725">
                          <a:solidFill>
                            <a:srgbClr val="253C4A"/>
                          </a:solidFill>
                          <a:latin typeface="Heiti SC"/>
                          <a:ea typeface="Heiti SC"/>
                          <a:cs typeface="Heiti SC"/>
                        </a:rPr>
                        <a:t>与规则平台配合</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景顺长城</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7,465.45</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文档处理与资料检索</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文档与知识应用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本地模型、文字识别</a:t>
                      </a:r>
                    </a:p>
                    <a:p>
                      <a:r>
                        <a:rPr sz="1725">
                          <a:solidFill>
                            <a:srgbClr val="253C4A"/>
                          </a:solidFill>
                          <a:latin typeface="Heiti SC"/>
                          <a:ea typeface="Heiti SC"/>
                          <a:cs typeface="Heiti SC"/>
                        </a:rPr>
                        <a:t>向量与检索重排</a:t>
                      </a:r>
                    </a:p>
                  </a:txBody>
                  <a:tcPr marL="133350" marR="133350" marT="47625" marB="47625" anchor="ctr">
                    <a:solidFill>
                      <a:srgbClr val="FFFFFF"/>
                    </a:solidFill>
                  </a:tcPr>
                </a:tc>
              </a:tr>
            </a:tbl>
          </a:graphicData>
        </a:graphic>
      </p:graphicFrame>
      <p:sp>
        <p:nvSpPr>
          <p:cNvPr id="7" name="copy-20-规模单位：亿元。2026年二季">
            <a:extLst xmlns:a="http://schemas.openxmlformats.org/drawingml/2006/main">
              <a:ext uri="{FF2B5EF4-FFF2-40B4-BE49-F238E27FC236}">
                <a16:creationId xmlns:a16="http://schemas.microsoft.com/office/drawing/2014/main" id="{EE639C68-E05A-49ED-A495-2C6544121680}"/>
              </a:ext>
            </a:extLst>
          </p:cNvPr>
          <p:cNvSpPr>
            <a:spLocks xmlns:a="http://schemas.openxmlformats.org/drawingml/2006/main" noGrp="1"/>
          </p:cNvSpPr>
          <p:nvPr/>
        </p:nvSpPr>
        <p:spPr>
          <a:xfrm xmlns:a="http://schemas.openxmlformats.org/drawingml/2006/main">
            <a:off x="628650" y="63341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规模单位：亿元。2026年二季度末非货公募规模，剔除ETF联接基金。大成为补充案例。</a:t>
            </a:r>
          </a:p>
        </p:txBody>
      </p:sp>
    </p:spTree>
    <p:extLst>
      <p:ext uri="{BB962C8B-B14F-4D97-AF65-F5344CB8AC3E}">
        <p14:creationId xmlns:p14="http://schemas.microsoft.com/office/powerpoint/2010/main" val="16125577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pejxaa-附录A  公司调研汇总（2/3）">
            <a:extLst xmlns:a="http://schemas.openxmlformats.org/drawingml/2006/main">
              <a:ext uri="{FF2B5EF4-FFF2-40B4-BE49-F238E27FC236}">
                <a16:creationId xmlns:a16="http://schemas.microsoft.com/office/drawing/2014/main" id="{D974E579-5820-485E-909E-00CA894EB395}"/>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附录A  公司应用汇总（2/3）</a:t>
            </a:r>
          </a:p>
        </p:txBody>
      </p:sp>
      <p:sp>
        <p:nvSpPr>
          <p:cNvPr id="3" name="text-pejxaa-20">
            <a:extLst xmlns:a="http://schemas.openxmlformats.org/drawingml/2006/main">
              <a:ext uri="{FF2B5EF4-FFF2-40B4-BE49-F238E27FC236}">
                <a16:creationId xmlns:a16="http://schemas.microsoft.com/office/drawing/2014/main" id="{B37DFD2E-8FCB-4C2F-9376-47C460405AF2}"/>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22</a:t>
            </a:r>
          </a:p>
        </p:txBody>
      </p:sp>
      <p:graphicFrame>
        <p:nvGraphicFramePr>
          <p:cNvPr id="10" name=""/>
          <p:cNvGraphicFramePr/>
          <p:nvPr/>
        </p:nvGraphicFramePr>
        <p:xfrm>
          <a:off xmlns:a="http://schemas.openxmlformats.org/drawingml/2006/main" x="609600" y="1333500"/>
          <a:ext xmlns:a="http://schemas.openxmlformats.org/drawingml/2006/main" cx="10972800" cy="4686300"/>
        </p:xfrm>
        <a:graphic xmlns:a="http://schemas.openxmlformats.org/drawingml/2006/main">
          <a:graphicData uri="http://schemas.openxmlformats.org/drawingml/2006/table">
            <a:tbl>
              <a:tblPr firstRow="1" bandRow="0"/>
              <a:tblGrid>
                <a:gridCol w="1476375"/>
                <a:gridCol w="1457325"/>
                <a:gridCol w="2324100"/>
                <a:gridCol w="2657475"/>
                <a:gridCol w="3057525"/>
              </a:tblGrid>
              <a:tr h="585788">
                <a:tc>
                  <a:txBody>
                    <a:bodyPr/>
                    <a:lstStyle/>
                    <a:p>
                      <a:r>
                        <a:rPr sz="1725" b="1">
                          <a:solidFill>
                            <a:srgbClr val="FFFFFF"/>
                          </a:solidFill>
                          <a:latin typeface="Heiti SC"/>
                          <a:ea typeface="Heiti SC"/>
                          <a:cs typeface="Heiti SC"/>
                        </a:rPr>
                        <a:t>公司</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非货规模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主要任务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应用产物与进展</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技术与合作信息</a:t>
                      </a:r>
                    </a:p>
                  </a:txBody>
                  <a:tcPr marL="133350" marR="133350" marT="47625" marB="47625" anchor="ctr">
                    <a:solidFill>
                      <a:srgbClr val="19374D"/>
                    </a:solidFill>
                  </a:tcPr>
                </a:tc>
              </a:tr>
              <a:tr h="585788">
                <a:tc>
                  <a:txBody>
                    <a:bodyPr/>
                    <a:lstStyle/>
                    <a:p>
                      <a:r>
                        <a:rPr sz="1725">
                          <a:solidFill>
                            <a:srgbClr val="253C4A"/>
                          </a:solidFill>
                          <a:latin typeface="Heiti SC"/>
                          <a:ea typeface="Heiti SC"/>
                          <a:cs typeface="Heiti SC"/>
                        </a:rPr>
                        <a:t>嘉实</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6,911.96</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ESG数据与研究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ESG数据支持</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可持续投资报告</a:t>
                      </a:r>
                    </a:p>
                    <a:p>
                      <a:r>
                        <a:rPr sz="1725">
                          <a:solidFill>
                            <a:srgbClr val="253C4A"/>
                          </a:solidFill>
                          <a:latin typeface="Heiti SC"/>
                          <a:ea typeface="Heiti SC"/>
                          <a:cs typeface="Heiti SC"/>
                        </a:rPr>
                        <a:t>LLM与其他AI未细分</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博时</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6,386.18</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BSBox研究工具调用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可复用任务与工具结果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内部模型、独立环境</a:t>
                      </a:r>
                    </a:p>
                    <a:p>
                      <a:r>
                        <a:rPr sz="1725">
                          <a:solidFill>
                            <a:srgbClr val="253C4A"/>
                          </a:solidFill>
                          <a:latin typeface="Heiti SC"/>
                          <a:ea typeface="Heiti SC"/>
                          <a:cs typeface="Heiti SC"/>
                        </a:rPr>
                        <a:t>研究协作与审计</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鹏华</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6,366.21</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知识整理与材料审核</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标签、摘要、知识答案</a:t>
                      </a:r>
                    </a:p>
                    <a:p>
                      <a:r>
                        <a:rPr sz="1725">
                          <a:solidFill>
                            <a:srgbClr val="253C4A"/>
                          </a:solidFill>
                          <a:latin typeface="Heiti SC"/>
                          <a:ea typeface="Heiti SC"/>
                          <a:cs typeface="Heiti SC"/>
                        </a:rPr>
                        <a:t>修改建议</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私有模型、RAG</a:t>
                      </a:r>
                    </a:p>
                    <a:p>
                      <a:r>
                        <a:rPr sz="1725">
                          <a:solidFill>
                            <a:srgbClr val="253C4A"/>
                          </a:solidFill>
                          <a:latin typeface="Heiti SC"/>
                          <a:ea typeface="Heiti SC"/>
                          <a:cs typeface="Heiti SC"/>
                        </a:rPr>
                        <a:t>7类71项审核规则</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招商</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6,276.62</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个股分析与财报点评</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分析和信息提取结果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多个业务工作流</a:t>
                      </a:r>
                    </a:p>
                    <a:p>
                      <a:r>
                        <a:rPr sz="1725">
                          <a:solidFill>
                            <a:srgbClr val="253C4A"/>
                          </a:solidFill>
                          <a:latin typeface="Heiti SC"/>
                          <a:ea typeface="Heiti SC"/>
                          <a:cs typeface="Heiti SC"/>
                        </a:rPr>
                        <a:t>信息提取模型</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国泰</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6,238.11</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组合平台资料查询</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资料查询与知识答复</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Atlas 910B、DeepSeek</a:t>
                      </a:r>
                    </a:p>
                    <a:p>
                      <a:r>
                        <a:rPr sz="1725">
                          <a:solidFill>
                            <a:srgbClr val="253C4A"/>
                          </a:solidFill>
                          <a:latin typeface="Heiti SC"/>
                          <a:ea typeface="Heiti SC"/>
                          <a:cs typeface="Heiti SC"/>
                        </a:rPr>
                        <a:t>另有BERT文本模块</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永赢</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5,332.53</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安全GPT反钓鱼</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邮件安全识别结果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2026年公司案例</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工银瑞信</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5,006.18</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养老金运营</a:t>
                      </a:r>
                    </a:p>
                    <a:p>
                      <a:r>
                        <a:rPr sz="1725">
                          <a:solidFill>
                            <a:srgbClr val="253C4A"/>
                          </a:solidFill>
                          <a:latin typeface="Heiti SC"/>
                          <a:ea typeface="Heiti SC"/>
                          <a:cs typeface="Heiti SC"/>
                        </a:rPr>
                        <a:t>历史FundGPT服务</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运营平台与研究服务</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历史合作：恒生聚源</a:t>
                      </a:r>
                    </a:p>
                    <a:p>
                      <a:r>
                        <a:rPr sz="1725">
                          <a:solidFill>
                            <a:srgbClr val="253C4A"/>
                          </a:solidFill>
                          <a:latin typeface="Heiti SC"/>
                          <a:ea typeface="Heiti SC"/>
                          <a:cs typeface="Heiti SC"/>
                        </a:rPr>
                        <a:t>工银科技、智谱AI</a:t>
                      </a:r>
                    </a:p>
                  </a:txBody>
                  <a:tcPr marL="133350" marR="133350" marT="47625" marB="47625" anchor="ctr">
                    <a:solidFill>
                      <a:srgbClr val="FFFFFF"/>
                    </a:solidFill>
                  </a:tcPr>
                </a:tc>
              </a:tr>
            </a:tbl>
          </a:graphicData>
        </a:graphic>
      </p:graphicFrame>
      <p:sp>
        <p:nvSpPr>
          <p:cNvPr id="7" name="copy-21-规模单位：亿元。2026年二季">
            <a:extLst xmlns:a="http://schemas.openxmlformats.org/drawingml/2006/main">
              <a:ext uri="{FF2B5EF4-FFF2-40B4-BE49-F238E27FC236}">
                <a16:creationId xmlns:a16="http://schemas.microsoft.com/office/drawing/2014/main" id="{400EAB31-2698-42AD-87B9-145D0D1B1BFA}"/>
              </a:ext>
            </a:extLst>
          </p:cNvPr>
          <p:cNvSpPr>
            <a:spLocks xmlns:a="http://schemas.openxmlformats.org/drawingml/2006/main" noGrp="1"/>
          </p:cNvSpPr>
          <p:nvPr/>
        </p:nvSpPr>
        <p:spPr>
          <a:xfrm xmlns:a="http://schemas.openxmlformats.org/drawingml/2006/main">
            <a:off x="628650" y="63341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规模单位：亿元。2026年二季度末非货公募规模，剔除ETF联接基金。大成为补充案例。</a:t>
            </a:r>
          </a:p>
        </p:txBody>
      </p:sp>
    </p:spTree>
    <p:extLst>
      <p:ext uri="{BB962C8B-B14F-4D97-AF65-F5344CB8AC3E}">
        <p14:creationId xmlns:p14="http://schemas.microsoft.com/office/powerpoint/2010/main" val="87896898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h2yy0x-附录A  公司调研汇总（3/3）">
            <a:extLst xmlns:a="http://schemas.openxmlformats.org/drawingml/2006/main">
              <a:ext uri="{FF2B5EF4-FFF2-40B4-BE49-F238E27FC236}">
                <a16:creationId xmlns:a16="http://schemas.microsoft.com/office/drawing/2014/main" id="{467E6198-8FB6-4817-9D94-476253EA7BF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附录A  公司应用汇总（3/3）</a:t>
            </a:r>
          </a:p>
        </p:txBody>
      </p:sp>
      <p:sp>
        <p:nvSpPr>
          <p:cNvPr id="3" name="text-h2yy0x-21">
            <a:extLst xmlns:a="http://schemas.openxmlformats.org/drawingml/2006/main">
              <a:ext uri="{FF2B5EF4-FFF2-40B4-BE49-F238E27FC236}">
                <a16:creationId xmlns:a16="http://schemas.microsoft.com/office/drawing/2014/main" id="{11B830D4-EE2C-4176-8BC0-D2F519E289B4}"/>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23</a:t>
            </a:r>
          </a:p>
        </p:txBody>
      </p:sp>
      <p:graphicFrame>
        <p:nvGraphicFramePr>
          <p:cNvPr id="10" name=""/>
          <p:cNvGraphicFramePr/>
          <p:nvPr/>
        </p:nvGraphicFramePr>
        <p:xfrm>
          <a:off xmlns:a="http://schemas.openxmlformats.org/drawingml/2006/main" x="609600" y="1333500"/>
          <a:ext xmlns:a="http://schemas.openxmlformats.org/drawingml/2006/main" cx="10972800" cy="4686300"/>
        </p:xfrm>
        <a:graphic xmlns:a="http://schemas.openxmlformats.org/drawingml/2006/main">
          <a:graphicData uri="http://schemas.openxmlformats.org/drawingml/2006/table">
            <a:tbl>
              <a:tblPr firstRow="1" bandRow="0"/>
              <a:tblGrid>
                <a:gridCol w="1476375"/>
                <a:gridCol w="1457325"/>
                <a:gridCol w="2324100"/>
                <a:gridCol w="2657475"/>
                <a:gridCol w="3057525"/>
              </a:tblGrid>
              <a:tr h="585788">
                <a:tc>
                  <a:txBody>
                    <a:bodyPr/>
                    <a:lstStyle/>
                    <a:p>
                      <a:r>
                        <a:rPr sz="1725" b="1">
                          <a:solidFill>
                            <a:srgbClr val="FFFFFF"/>
                          </a:solidFill>
                          <a:latin typeface="Heiti SC"/>
                          <a:ea typeface="Heiti SC"/>
                          <a:cs typeface="Heiti SC"/>
                        </a:rPr>
                        <a:t>公司</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非货规模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主要任务</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应用产物与进展</a:t>
                      </a:r>
                    </a:p>
                  </a:txBody>
                  <a:tcPr marL="133350" marR="133350" marT="47625" marB="47625" anchor="ctr">
                    <a:solidFill>
                      <a:srgbClr val="19374D"/>
                    </a:solidFill>
                  </a:tcPr>
                </a:tc>
                <a:tc>
                  <a:txBody>
                    <a:bodyPr/>
                    <a:lstStyle/>
                    <a:p>
                      <a:r>
                        <a:rPr sz="1725" b="1">
                          <a:solidFill>
                            <a:srgbClr val="FFFFFF"/>
                          </a:solidFill>
                          <a:latin typeface="Heiti SC"/>
                          <a:ea typeface="Heiti SC"/>
                          <a:cs typeface="Heiti SC"/>
                        </a:rPr>
                        <a:t>技术与合作信息</a:t>
                      </a:r>
                    </a:p>
                  </a:txBody>
                  <a:tcPr marL="133350" marR="133350" marT="47625" marB="47625" anchor="ctr">
                    <a:solidFill>
                      <a:srgbClr val="19374D"/>
                    </a:solidFill>
                  </a:tcPr>
                </a:tc>
              </a:tr>
              <a:tr h="585788">
                <a:tc>
                  <a:txBody>
                    <a:bodyPr/>
                    <a:lstStyle/>
                    <a:p>
                      <a:r>
                        <a:rPr sz="1725">
                          <a:solidFill>
                            <a:srgbClr val="253C4A"/>
                          </a:solidFill>
                          <a:latin typeface="Heiti SC"/>
                          <a:ea typeface="Heiti SC"/>
                          <a:cs typeface="Heiti SC"/>
                        </a:rPr>
                        <a:t>天弘</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4,824.03</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研究任务与财务分析</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归因框架与研究答复</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FinAgent、Wind</a:t>
                      </a:r>
                    </a:p>
                    <a:p>
                      <a:r>
                        <a:rPr sz="1725">
                          <a:solidFill>
                            <a:srgbClr val="253C4A"/>
                          </a:solidFill>
                          <a:latin typeface="Heiti SC"/>
                          <a:ea typeface="Heiti SC"/>
                          <a:cs typeface="Heiti SC"/>
                        </a:rPr>
                        <a:t>同花顺等工具</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中欧</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4,687.70</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研究Skills协作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数据、建模与报告</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100余项Skills</a:t>
                      </a:r>
                    </a:p>
                    <a:p>
                      <a:r>
                        <a:rPr sz="1725">
                          <a:solidFill>
                            <a:srgbClr val="253C4A"/>
                          </a:solidFill>
                          <a:latin typeface="Heiti SC"/>
                          <a:ea typeface="Heiti SC"/>
                          <a:cs typeface="Heiti SC"/>
                        </a:rPr>
                        <a:t>2026年报道</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华安</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4,632.07</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灵思资料与知识应用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资料处理与知识应用</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2025年本地与API方案</a:t>
                      </a:r>
                    </a:p>
                    <a:p>
                      <a:r>
                        <a:rPr sz="1725">
                          <a:solidFill>
                            <a:srgbClr val="253C4A"/>
                          </a:solidFill>
                          <a:latin typeface="Heiti SC"/>
                          <a:ea typeface="Heiti SC"/>
                          <a:cs typeface="Heiti SC"/>
                        </a:rPr>
                        <a:t>Qwen、DeepSeek-R1</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华泰柏瑞</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4,459.62</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文本与量化信号结合</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结构化信息与研究支持</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全链路投研系统</a:t>
                      </a:r>
                    </a:p>
                    <a:p>
                      <a:r>
                        <a:rPr sz="1725">
                          <a:solidFill>
                            <a:srgbClr val="253C4A"/>
                          </a:solidFill>
                          <a:latin typeface="Heiti SC"/>
                          <a:ea typeface="Heiti SC"/>
                          <a:cs typeface="Heiti SC"/>
                        </a:rPr>
                        <a:t>自主回测Agent为展望</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兴证全球</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3,751.87</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固收交易信息处理</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交易文本提取结果</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QTrade、iDeal</a:t>
                      </a:r>
                    </a:p>
                    <a:p>
                      <a:r>
                        <a:rPr sz="1725">
                          <a:solidFill>
                            <a:srgbClr val="253C4A"/>
                          </a:solidFill>
                          <a:latin typeface="Heiti SC"/>
                          <a:ea typeface="Heiti SC"/>
                          <a:cs typeface="Heiti SC"/>
                        </a:rPr>
                        <a:t>具体LLM模块未明确</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平安</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3,447.69</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AI青蚨资料整理</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可追溯的研究内容</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检索与可追溯输出</a:t>
                      </a:r>
                    </a:p>
                    <a:p>
                      <a:r>
                        <a:rPr sz="1725">
                          <a:solidFill>
                            <a:srgbClr val="253C4A"/>
                          </a:solidFill>
                          <a:latin typeface="Heiti SC"/>
                          <a:ea typeface="Heiti SC"/>
                          <a:cs typeface="Heiti SC"/>
                        </a:rPr>
                        <a:t>2026年报道</a:t>
                      </a:r>
                    </a:p>
                  </a:txBody>
                  <a:tcPr marL="133350" marR="133350" marT="47625" marB="47625" anchor="ctr">
                    <a:solidFill>
                      <a:srgbClr val="FFFFFF"/>
                    </a:solidFill>
                  </a:tcPr>
                </a:tc>
              </a:tr>
              <a:tr h="585788">
                <a:tc>
                  <a:txBody>
                    <a:bodyPr/>
                    <a:lstStyle/>
                    <a:p>
                      <a:r>
                        <a:rPr sz="1725">
                          <a:solidFill>
                            <a:srgbClr val="253C4A"/>
                          </a:solidFill>
                          <a:latin typeface="Heiti SC"/>
                          <a:ea typeface="Heiti SC"/>
                          <a:cs typeface="Heiti SC"/>
                        </a:rPr>
                        <a:t>大成</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补充案例</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固收交易要素提取</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供交易系统使用的要素</a:t>
                      </a:r>
                    </a:p>
                  </a:txBody>
                  <a:tcPr marL="133350" marR="133350" marT="47625" marB="47625" anchor="ctr">
                    <a:solidFill>
                      <a:srgbClr val="FFFFFF"/>
                    </a:solidFill>
                  </a:tcPr>
                </a:tc>
                <a:tc>
                  <a:txBody>
                    <a:bodyPr/>
                    <a:lstStyle/>
                    <a:p>
                      <a:r>
                        <a:rPr sz="1725">
                          <a:solidFill>
                            <a:srgbClr val="253C4A"/>
                          </a:solidFill>
                          <a:latin typeface="Heiti SC"/>
                          <a:ea typeface="Heiti SC"/>
                          <a:cs typeface="Heiti SC"/>
                        </a:rPr>
                        <a:t>Qwen2.5与固收系统衔接</a:t>
                      </a:r>
                    </a:p>
                  </a:txBody>
                  <a:tcPr marL="133350" marR="133350" marT="47625" marB="47625" anchor="ctr">
                    <a:solidFill>
                      <a:srgbClr val="FFFFFF"/>
                    </a:solidFill>
                  </a:tcPr>
                </a:tc>
              </a:tr>
            </a:tbl>
          </a:graphicData>
        </a:graphic>
      </p:graphicFrame>
      <p:sp>
        <p:nvSpPr>
          <p:cNvPr id="7" name="copy-22-规模单位：亿元。2026年二季">
            <a:extLst xmlns:a="http://schemas.openxmlformats.org/drawingml/2006/main">
              <a:ext uri="{FF2B5EF4-FFF2-40B4-BE49-F238E27FC236}">
                <a16:creationId xmlns:a16="http://schemas.microsoft.com/office/drawing/2014/main" id="{0B4B238D-FD91-4E61-96D4-D7EEB54FAED4}"/>
              </a:ext>
            </a:extLst>
          </p:cNvPr>
          <p:cNvSpPr>
            <a:spLocks xmlns:a="http://schemas.openxmlformats.org/drawingml/2006/main" noGrp="1"/>
          </p:cNvSpPr>
          <p:nvPr/>
        </p:nvSpPr>
        <p:spPr>
          <a:xfrm xmlns:a="http://schemas.openxmlformats.org/drawingml/2006/main">
            <a:off x="628650" y="63341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规模单位：亿元。2026年二季度末非货公募规模，剔除ETF联接基金。大成为补充案例。</a:t>
            </a:r>
          </a:p>
        </p:txBody>
      </p:sp>
    </p:spTree>
    <p:extLst>
      <p:ext uri="{BB962C8B-B14F-4D97-AF65-F5344CB8AC3E}">
        <p14:creationId xmlns:p14="http://schemas.microsoft.com/office/powerpoint/2010/main" val="132873323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dqqb2h-附录B  MENTOR的行业排序">
            <a:extLst xmlns:a="http://schemas.openxmlformats.org/drawingml/2006/main">
              <a:ext uri="{FF2B5EF4-FFF2-40B4-BE49-F238E27FC236}">
                <a16:creationId xmlns:a16="http://schemas.microsoft.com/office/drawing/2014/main" id="{8115CCAF-26BD-4065-806D-0B90EAFC8B47}"/>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附录B  MENTOR行业排序结果</a:t>
            </a:r>
          </a:p>
        </p:txBody>
      </p:sp>
      <p:sp>
        <p:nvSpPr>
          <p:cNvPr id="4" name="text-dqqb2h-22">
            <a:extLst xmlns:a="http://schemas.openxmlformats.org/drawingml/2006/main">
              <a:ext uri="{FF2B5EF4-FFF2-40B4-BE49-F238E27FC236}">
                <a16:creationId xmlns:a16="http://schemas.microsoft.com/office/drawing/2014/main" id="{9E0CF3A8-9B84-40A5-864E-C6A91C1B57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24</a:t>
            </a:r>
          </a:p>
        </p:txBody>
      </p:sp>
      <p:graphicFrame>
        <p:nvGraphicFramePr>
          <p:cNvPr id="14" name=""/>
          <p:cNvGraphicFramePr/>
          <p:nvPr/>
        </p:nvGraphicFramePr>
        <p:xfrm>
          <a:off xmlns:a="http://schemas.openxmlformats.org/drawingml/2006/main" x="609600" y="2038350"/>
          <a:ext xmlns:a="http://schemas.openxmlformats.org/drawingml/2006/main" cx="10972800" cy="3209925"/>
        </p:xfrm>
        <a:graphic xmlns:a="http://schemas.openxmlformats.org/drawingml/2006/main">
          <a:graphicData uri="http://schemas.openxmlformats.org/drawingml/2006/table">
            <a:tbl>
              <a:tblPr firstRow="1" bandRow="0"/>
              <a:tblGrid>
                <a:gridCol w="4048125"/>
                <a:gridCol w="2333625"/>
                <a:gridCol w="2333625"/>
                <a:gridCol w="2257425"/>
              </a:tblGrid>
              <a:tr h="641985">
                <a:tc>
                  <a:txBody>
                    <a:bodyPr/>
                    <a:lstStyle/>
                    <a:p>
                      <a:r>
                        <a:rPr sz="1950" b="1">
                          <a:solidFill>
                            <a:srgbClr val="FFFFFF"/>
                          </a:solidFill>
                          <a:latin typeface="Heiti SC"/>
                          <a:ea typeface="Heiti SC"/>
                          <a:cs typeface="Heiti SC"/>
                        </a:rPr>
                        <a:t>方法</a:t>
                      </a:r>
                    </a:p>
                  </a:txBody>
                  <a:tcPr marL="133350" marR="133350" marT="66675" marB="66675" anchor="ctr">
                    <a:solidFill>
                      <a:srgbClr val="19374D"/>
                    </a:solidFill>
                  </a:tcPr>
                </a:tc>
                <a:tc>
                  <a:txBody>
                    <a:bodyPr/>
                    <a:lstStyle/>
                    <a:p>
                      <a:r>
                        <a:rPr sz="1950" b="1">
                          <a:solidFill>
                            <a:srgbClr val="FFFFFF"/>
                          </a:solidFill>
                          <a:latin typeface="Heiti SC"/>
                          <a:ea typeface="Heiti SC"/>
                          <a:cs typeface="Heiti SC"/>
                        </a:rPr>
                        <a:t>美股11行业</a:t>
                      </a:r>
                    </a:p>
                    <a:p>
                      <a:r>
                        <a:rPr sz="1950" b="1">
                          <a:solidFill>
                            <a:srgbClr val="FFFFFF"/>
                          </a:solidFill>
                          <a:latin typeface="Heiti SC"/>
                          <a:ea typeface="Heiti SC"/>
                          <a:cs typeface="Heiti SC"/>
                        </a:rPr>
                        <a:t>Spearman</a:t>
                      </a:r>
                    </a:p>
                  </a:txBody>
                  <a:tcPr marL="133350" marR="133350" marT="66675" marB="66675" anchor="ctr">
                    <a:solidFill>
                      <a:srgbClr val="19374D"/>
                    </a:solidFill>
                  </a:tcPr>
                </a:tc>
                <a:tc>
                  <a:txBody>
                    <a:bodyPr/>
                    <a:lstStyle/>
                    <a:p>
                      <a:r>
                        <a:rPr sz="1950" b="1">
                          <a:solidFill>
                            <a:srgbClr val="FFFFFF"/>
                          </a:solidFill>
                          <a:latin typeface="Heiti SC"/>
                          <a:ea typeface="Heiti SC"/>
                          <a:cs typeface="Heiti SC"/>
                        </a:rPr>
                        <a:t>A股9行业</a:t>
                      </a:r>
                    </a:p>
                    <a:p>
                      <a:r>
                        <a:rPr sz="1950" b="1">
                          <a:solidFill>
                            <a:srgbClr val="FFFFFF"/>
                          </a:solidFill>
                          <a:latin typeface="Heiti SC"/>
                          <a:ea typeface="Heiti SC"/>
                          <a:cs typeface="Heiti SC"/>
                        </a:rPr>
                        <a:t>Spearman</a:t>
                      </a:r>
                    </a:p>
                  </a:txBody>
                  <a:tcPr marL="133350" marR="133350" marT="66675" marB="66675" anchor="ctr">
                    <a:solidFill>
                      <a:srgbClr val="19374D"/>
                    </a:solidFill>
                  </a:tcPr>
                </a:tc>
                <a:tc>
                  <a:txBody>
                    <a:bodyPr/>
                    <a:lstStyle/>
                    <a:p>
                      <a:r>
                        <a:rPr sz="1950" b="1">
                          <a:solidFill>
                            <a:srgbClr val="FFFFFF"/>
                          </a:solidFill>
                          <a:latin typeface="Heiti SC"/>
                          <a:ea typeface="Heiti SC"/>
                          <a:cs typeface="Heiti SC"/>
                        </a:rPr>
                        <a:t>A股前3</a:t>
                      </a:r>
                    </a:p>
                    <a:p>
                      <a:r>
                        <a:rPr sz="1950" b="1">
                          <a:solidFill>
                            <a:srgbClr val="FFFFFF"/>
                          </a:solidFill>
                          <a:latin typeface="Heiti SC"/>
                          <a:ea typeface="Heiti SC"/>
                          <a:cs typeface="Heiti SC"/>
                        </a:rPr>
                        <a:t>命中率</a:t>
                      </a:r>
                    </a:p>
                  </a:txBody>
                  <a:tcPr marL="133350" marR="133350" marT="66675" marB="66675" anchor="ctr">
                    <a:solidFill>
                      <a:srgbClr val="19374D"/>
                    </a:solidFill>
                  </a:tcPr>
                </a:tc>
              </a:tr>
              <a:tr h="641985">
                <a:tc>
                  <a:txBody>
                    <a:bodyPr/>
                    <a:lstStyle/>
                    <a:p>
                      <a:r>
                        <a:rPr sz="1950">
                          <a:solidFill>
                            <a:srgbClr val="253C4A"/>
                          </a:solidFill>
                          <a:latin typeface="Heiti SC"/>
                          <a:ea typeface="Heiti SC"/>
                          <a:cs typeface="Heiti SC"/>
                        </a:rPr>
                        <a:t>动量基线</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0.159</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0.100</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0.444</a:t>
                      </a:r>
                    </a:p>
                  </a:txBody>
                  <a:tcPr marL="133350" marR="133350" marT="66675" marB="66675" anchor="ctr">
                    <a:solidFill>
                      <a:srgbClr val="FFFFFF"/>
                    </a:solidFill>
                  </a:tcPr>
                </a:tc>
              </a:tr>
              <a:tr h="641985">
                <a:tc>
                  <a:txBody>
                    <a:bodyPr/>
                    <a:lstStyle/>
                    <a:p>
                      <a:r>
                        <a:rPr sz="1950">
                          <a:solidFill>
                            <a:srgbClr val="253C4A"/>
                          </a:solidFill>
                          <a:latin typeface="Heiti SC"/>
                          <a:ea typeface="Heiti SC"/>
                          <a:cs typeface="Heiti SC"/>
                        </a:rPr>
                        <a:t>SEP + DeepSeek</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0.078</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0.118</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0.472</a:t>
                      </a:r>
                    </a:p>
                  </a:txBody>
                  <a:tcPr marL="133350" marR="133350" marT="66675" marB="66675" anchor="ctr">
                    <a:solidFill>
                      <a:srgbClr val="FFFFFF"/>
                    </a:solidFill>
                  </a:tcPr>
                </a:tc>
              </a:tr>
              <a:tr h="641985">
                <a:tc>
                  <a:txBody>
                    <a:bodyPr/>
                    <a:lstStyle/>
                    <a:p>
                      <a:r>
                        <a:rPr sz="1950">
                          <a:solidFill>
                            <a:srgbClr val="253C4A"/>
                          </a:solidFill>
                          <a:latin typeface="Heiti SC"/>
                          <a:ea typeface="Heiti SC"/>
                          <a:cs typeface="Heiti SC"/>
                        </a:rPr>
                        <a:t>MENTOR + DeepSeek</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0.220</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0.141</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0.488</a:t>
                      </a:r>
                    </a:p>
                  </a:txBody>
                  <a:tcPr marL="133350" marR="133350" marT="66675" marB="66675" anchor="ctr">
                    <a:solidFill>
                      <a:srgbClr val="FFFFFF"/>
                    </a:solidFill>
                  </a:tcPr>
                </a:tc>
              </a:tr>
              <a:tr h="641985">
                <a:tc>
                  <a:txBody>
                    <a:bodyPr/>
                    <a:lstStyle/>
                    <a:p>
                      <a:r>
                        <a:rPr sz="1950">
                          <a:solidFill>
                            <a:srgbClr val="253C4A"/>
                          </a:solidFill>
                          <a:latin typeface="Heiti SC"/>
                          <a:ea typeface="Heiti SC"/>
                          <a:cs typeface="Heiti SC"/>
                        </a:rPr>
                        <a:t>MENTOR + O1</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0.221</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0.173</a:t>
                      </a:r>
                    </a:p>
                  </a:txBody>
                  <a:tcPr marL="133350" marR="133350" marT="66675" marB="66675" anchor="ctr">
                    <a:solidFill>
                      <a:srgbClr val="FFFFFF"/>
                    </a:solidFill>
                  </a:tcPr>
                </a:tc>
                <a:tc>
                  <a:txBody>
                    <a:bodyPr/>
                    <a:lstStyle/>
                    <a:p>
                      <a:r>
                        <a:rPr sz="1950">
                          <a:solidFill>
                            <a:srgbClr val="253C4A"/>
                          </a:solidFill>
                          <a:latin typeface="Heiti SC"/>
                          <a:ea typeface="Heiti SC"/>
                          <a:cs typeface="Heiti SC"/>
                        </a:rPr>
                        <a:t>0.439</a:t>
                      </a:r>
                    </a:p>
                  </a:txBody>
                  <a:tcPr marL="133350" marR="133350" marT="66675" marB="66675" anchor="ctr">
                    <a:solidFill>
                      <a:srgbClr val="FFFFFF"/>
                    </a:solidFill>
                  </a:tcPr>
                </a:tc>
              </a:tr>
            </a:tbl>
          </a:graphicData>
        </a:graphic>
      </p:graphicFrame>
      <p:sp>
        <p:nvSpPr>
          <p:cNvPr id="9" name="copy-23-2025年联合研究，文本样本覆">
            <a:extLst xmlns:a="http://schemas.openxmlformats.org/drawingml/2006/main">
              <a:ext uri="{FF2B5EF4-FFF2-40B4-BE49-F238E27FC236}">
                <a16:creationId xmlns:a16="http://schemas.microsoft.com/office/drawing/2014/main" id="{2420DAF1-DB14-4230-8150-DC447C5FA222}"/>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2025年联合研究，文本样本覆盖2023至2024年</a:t>
            </a:r>
          </a:p>
        </p:txBody>
      </p:sp>
      <p:sp>
        <p:nvSpPr>
          <p:cNvPr id="10" name="copy-23-排序相关性采用Spearman">
            <a:extLst xmlns:a="http://schemas.openxmlformats.org/drawingml/2006/main">
              <a:ext uri="{FF2B5EF4-FFF2-40B4-BE49-F238E27FC236}">
                <a16:creationId xmlns:a16="http://schemas.microsoft.com/office/drawing/2014/main" id="{DC43081E-AEF0-4CD8-BEEF-3A2E725CB07E}"/>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排序相关性采用Spearman系数，数字为原作者报告值。</a:t>
            </a:r>
          </a:p>
        </p:txBody>
      </p:sp>
      <p:sp>
        <p:nvSpPr>
          <p:cNvPr id="11" name="copy-24-MENTOR在两市场的行业排序">
            <a:extLst xmlns:a="http://schemas.openxmlformats.org/drawingml/2006/main">
              <a:ext uri="{FF2B5EF4-FFF2-40B4-BE49-F238E27FC236}">
                <a16:creationId xmlns:a16="http://schemas.microsoft.com/office/drawing/2014/main" id="{5D21F6CB-C16D-406B-860B-40CAD6F70CDE}"/>
              </a:ext>
            </a:extLst>
          </p:cNvPr>
          <p:cNvSpPr>
            <a:spLocks xmlns:a="http://schemas.openxmlformats.org/drawingml/2006/main" noGrp="1"/>
          </p:cNvSpPr>
          <p:nvPr/>
        </p:nvSpPr>
        <p:spPr>
          <a:xfrm xmlns:a="http://schemas.openxmlformats.org/drawingml/2006/main">
            <a:off x="628650" y="56197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83"/>
                </a:solidFill>
                <a:latin typeface="Heiti SC"/>
                <a:ea typeface="Heiti SC"/>
                <a:cs typeface="Heiti SC"/>
              </a:defRPr>
            </a:pPr>
            <a:r>
              <a:rPr sz="2175" b="1">
                <a:solidFill>
                  <a:srgbClr val="008C83"/>
                </a:solidFill>
                <a:latin typeface="Heiti SC"/>
                <a:ea typeface="Heiti SC"/>
                <a:cs typeface="Heiti SC"/>
              </a:rPr>
              <a:t>MENTOR在两市场的行业排序相关性均超过表中基线。</a:t>
            </a:r>
          </a:p>
        </p:txBody>
      </p:sp>
    </p:spTree>
    <p:extLst>
      <p:ext uri="{BB962C8B-B14F-4D97-AF65-F5344CB8AC3E}">
        <p14:creationId xmlns:p14="http://schemas.microsoft.com/office/powerpoint/2010/main" val="30518344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zmvacm-QuantaAlpha的总体实验">
            <a:extLst xmlns:a="http://schemas.openxmlformats.org/drawingml/2006/main">
              <a:ext uri="{FF2B5EF4-FFF2-40B4-BE49-F238E27FC236}">
                <a16:creationId xmlns:a16="http://schemas.microsoft.com/office/drawing/2014/main" id="{F0596DD2-8AA0-43C0-AA7F-0D26F4CA9226}"/>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附录C  QuantaAlpha的同模型对照</a:t>
            </a:r>
          </a:p>
        </p:txBody>
      </p:sp>
      <p:sp>
        <p:nvSpPr>
          <p:cNvPr id="4" name="text-zmvacm-14">
            <a:extLst xmlns:a="http://schemas.openxmlformats.org/drawingml/2006/main">
              <a:ext uri="{FF2B5EF4-FFF2-40B4-BE49-F238E27FC236}">
                <a16:creationId xmlns:a16="http://schemas.microsoft.com/office/drawing/2014/main" id="{2DBAE5A5-06A8-477E-B596-90D4BCE476B4}"/>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25</a:t>
            </a:r>
          </a:p>
        </p:txBody>
      </p:sp>
      <p:graphicFrame>
        <p:nvGraphicFramePr>
          <p:cNvPr id="14" name="Chart"/>
          <p:cNvGraphicFramePr/>
          <p:nvPr/>
        </p:nvGraphicFramePr>
        <p:xfrm>
          <a:off xmlns:a="http://schemas.openxmlformats.org/drawingml/2006/main" x="495300" y="2076450"/>
          <a:ext xmlns:a="http://schemas.openxmlformats.org/drawingml/2006/main" cx="5810250" cy="3562350"/>
        </p:xfrm>
        <a:graphic xmlns:a="http://schemas.openxmlformats.org/drawingml/2006/main">
          <a:graphicData uri="http://schemas.openxmlformats.org/drawingml/2006/chart">
            <c:chart xmlns:r="http://schemas.openxmlformats.org/officeDocument/2006/relationships" xmlns:c="http://schemas.openxmlformats.org/drawingml/2006/chart" r:id="Rd33af024697249e9"/>
          </a:graphicData>
        </a:graphic>
      </p:graphicFrame>
      <p:graphicFrame>
        <p:nvGraphicFramePr>
          <p:cNvPr id="15" name=""/>
          <p:cNvGraphicFramePr/>
          <p:nvPr/>
        </p:nvGraphicFramePr>
        <p:xfrm>
          <a:off xmlns:a="http://schemas.openxmlformats.org/drawingml/2006/main" x="6791325" y="2457450"/>
          <a:ext xmlns:a="http://schemas.openxmlformats.org/drawingml/2006/main" cx="4791075" cy="2686050"/>
        </p:xfrm>
        <a:graphic xmlns:a="http://schemas.openxmlformats.org/drawingml/2006/main">
          <a:graphicData uri="http://schemas.openxmlformats.org/drawingml/2006/table">
            <a:tbl>
              <a:tblPr firstRow="1" bandRow="0"/>
              <a:tblGrid>
                <a:gridCol w="2047875"/>
                <a:gridCol w="1371600"/>
                <a:gridCol w="1371600"/>
              </a:tblGrid>
              <a:tr h="671513">
                <a:tc>
                  <a:txBody>
                    <a:bodyPr/>
                    <a:lstStyle/>
                    <a:p>
                      <a:r>
                        <a:rPr sz="1800" b="1">
                          <a:solidFill>
                            <a:srgbClr val="FFFFFF"/>
                          </a:solidFill>
                          <a:latin typeface="Heiti SC"/>
                          <a:ea typeface="Heiti SC"/>
                          <a:cs typeface="Heiti SC"/>
                        </a:rPr>
                        <a:t>框架</a:t>
                      </a:r>
                    </a:p>
                  </a:txBody>
                  <a:tcPr marL="133350" marR="133350" marT="57150" marB="57150" anchor="ctr">
                    <a:solidFill>
                      <a:srgbClr val="19374D"/>
                    </a:solidFill>
                  </a:tcPr>
                </a:tc>
                <a:tc>
                  <a:txBody>
                    <a:bodyPr/>
                    <a:lstStyle/>
                    <a:p>
                      <a:r>
                        <a:rPr sz="1800" b="1">
                          <a:solidFill>
                            <a:srgbClr val="FFFFFF"/>
                          </a:solidFill>
                          <a:latin typeface="Heiti SC"/>
                          <a:ea typeface="Heiti SC"/>
                          <a:cs typeface="Heiti SC"/>
                        </a:rPr>
                        <a:t>年化</a:t>
                      </a:r>
                    </a:p>
                    <a:p>
                      <a:r>
                        <a:rPr sz="1800" b="1">
                          <a:solidFill>
                            <a:srgbClr val="FFFFFF"/>
                          </a:solidFill>
                          <a:latin typeface="Heiti SC"/>
                          <a:ea typeface="Heiti SC"/>
                          <a:cs typeface="Heiti SC"/>
                        </a:rPr>
                        <a:t>超额收益</a:t>
                      </a:r>
                    </a:p>
                  </a:txBody>
                  <a:tcPr marL="133350" marR="133350" marT="57150" marB="57150" anchor="ctr">
                    <a:solidFill>
                      <a:srgbClr val="19374D"/>
                    </a:solidFill>
                  </a:tcPr>
                </a:tc>
                <a:tc>
                  <a:txBody>
                    <a:bodyPr/>
                    <a:lstStyle/>
                    <a:p>
                      <a:r>
                        <a:rPr sz="1725" b="1">
                          <a:solidFill>
                            <a:srgbClr val="FFFFFF"/>
                          </a:solidFill>
                          <a:latin typeface="Heiti SC"/>
                          <a:ea typeface="Heiti SC"/>
                          <a:cs typeface="Heiti SC"/>
                        </a:rPr>
                        <a:t>最大回撤</a:t>
                      </a:r>
                    </a:p>
                  </a:txBody>
                  <a:tcPr marL="133350" marR="133350" marT="57150" marB="57150" anchor="ctr">
                    <a:solidFill>
                      <a:srgbClr val="19374D"/>
                    </a:solidFill>
                  </a:tcPr>
                </a:tc>
              </a:tr>
              <a:tr h="671513">
                <a:tc>
                  <a:txBody>
                    <a:bodyPr/>
                    <a:lstStyle/>
                    <a:p>
                      <a:r>
                        <a:rPr sz="1800">
                          <a:solidFill>
                            <a:srgbClr val="253C4A"/>
                          </a:solidFill>
                          <a:latin typeface="Heiti SC"/>
                          <a:ea typeface="Heiti SC"/>
                          <a:cs typeface="Heiti SC"/>
                        </a:rPr>
                        <a:t>RD-Agent</a:t>
                      </a:r>
                    </a:p>
                  </a:txBody>
                  <a:tcPr marL="133350" marR="133350" marT="57150" marB="57150" anchor="ctr">
                    <a:solidFill>
                      <a:srgbClr val="FFFFFF"/>
                    </a:solidFill>
                  </a:tcPr>
                </a:tc>
                <a:tc>
                  <a:txBody>
                    <a:bodyPr/>
                    <a:lstStyle/>
                    <a:p>
                      <a:r>
                        <a:rPr sz="1800">
                          <a:solidFill>
                            <a:srgbClr val="253C4A"/>
                          </a:solidFill>
                          <a:latin typeface="Heiti SC"/>
                          <a:ea typeface="Heiti SC"/>
                          <a:cs typeface="Heiti SC"/>
                        </a:rPr>
                        <a:t>3.58%</a:t>
                      </a:r>
                    </a:p>
                  </a:txBody>
                  <a:tcPr marL="133350" marR="133350" marT="57150" marB="57150" anchor="ctr">
                    <a:solidFill>
                      <a:srgbClr val="FFFFFF"/>
                    </a:solidFill>
                  </a:tcPr>
                </a:tc>
                <a:tc>
                  <a:txBody>
                    <a:bodyPr/>
                    <a:lstStyle/>
                    <a:p>
                      <a:r>
                        <a:rPr sz="1725">
                          <a:solidFill>
                            <a:srgbClr val="253C4A"/>
                          </a:solidFill>
                          <a:latin typeface="Heiti SC"/>
                          <a:ea typeface="Heiti SC"/>
                          <a:cs typeface="Heiti SC"/>
                        </a:rPr>
                        <a:t>16.76%</a:t>
                      </a:r>
                    </a:p>
                  </a:txBody>
                  <a:tcPr marL="133350" marR="133350" marT="57150" marB="57150" anchor="ctr">
                    <a:solidFill>
                      <a:srgbClr val="FFFFFF"/>
                    </a:solidFill>
                  </a:tcPr>
                </a:tc>
              </a:tr>
              <a:tr h="671513">
                <a:tc>
                  <a:txBody>
                    <a:bodyPr/>
                    <a:lstStyle/>
                    <a:p>
                      <a:r>
                        <a:rPr sz="1800">
                          <a:solidFill>
                            <a:srgbClr val="253C4A"/>
                          </a:solidFill>
                          <a:latin typeface="Heiti SC"/>
                          <a:ea typeface="Heiti SC"/>
                          <a:cs typeface="Heiti SC"/>
                        </a:rPr>
                        <a:t>AlphaAgent</a:t>
                      </a:r>
                    </a:p>
                  </a:txBody>
                  <a:tcPr marL="133350" marR="133350" marT="57150" marB="57150" anchor="ctr">
                    <a:solidFill>
                      <a:srgbClr val="FFFFFF"/>
                    </a:solidFill>
                  </a:tcPr>
                </a:tc>
                <a:tc>
                  <a:txBody>
                    <a:bodyPr/>
                    <a:lstStyle/>
                    <a:p>
                      <a:r>
                        <a:rPr sz="1800">
                          <a:solidFill>
                            <a:srgbClr val="253C4A"/>
                          </a:solidFill>
                          <a:latin typeface="Heiti SC"/>
                          <a:ea typeface="Heiti SC"/>
                          <a:cs typeface="Heiti SC"/>
                        </a:rPr>
                        <a:t>1.11%</a:t>
                      </a:r>
                    </a:p>
                  </a:txBody>
                  <a:tcPr marL="133350" marR="133350" marT="57150" marB="57150" anchor="ctr">
                    <a:solidFill>
                      <a:srgbClr val="FFFFFF"/>
                    </a:solidFill>
                  </a:tcPr>
                </a:tc>
                <a:tc>
                  <a:txBody>
                    <a:bodyPr/>
                    <a:lstStyle/>
                    <a:p>
                      <a:r>
                        <a:rPr sz="1725">
                          <a:solidFill>
                            <a:srgbClr val="253C4A"/>
                          </a:solidFill>
                          <a:latin typeface="Heiti SC"/>
                          <a:ea typeface="Heiti SC"/>
                          <a:cs typeface="Heiti SC"/>
                        </a:rPr>
                        <a:t>13.89%</a:t>
                      </a:r>
                    </a:p>
                  </a:txBody>
                  <a:tcPr marL="133350" marR="133350" marT="57150" marB="57150" anchor="ctr">
                    <a:solidFill>
                      <a:srgbClr val="FFFFFF"/>
                    </a:solidFill>
                  </a:tcPr>
                </a:tc>
              </a:tr>
              <a:tr h="671513">
                <a:tc>
                  <a:txBody>
                    <a:bodyPr/>
                    <a:lstStyle/>
                    <a:p>
                      <a:r>
                        <a:rPr sz="1800">
                          <a:solidFill>
                            <a:srgbClr val="253C4A"/>
                          </a:solidFill>
                          <a:latin typeface="Heiti SC"/>
                          <a:ea typeface="Heiti SC"/>
                          <a:cs typeface="Heiti SC"/>
                        </a:rPr>
                        <a:t>QuantaAlpha</a:t>
                      </a:r>
                    </a:p>
                  </a:txBody>
                  <a:tcPr marL="133350" marR="133350" marT="57150" marB="57150" anchor="ctr">
                    <a:solidFill>
                      <a:srgbClr val="FFFFFF"/>
                    </a:solidFill>
                  </a:tcPr>
                </a:tc>
                <a:tc>
                  <a:txBody>
                    <a:bodyPr/>
                    <a:lstStyle/>
                    <a:p>
                      <a:r>
                        <a:rPr sz="1800">
                          <a:solidFill>
                            <a:srgbClr val="253C4A"/>
                          </a:solidFill>
                          <a:latin typeface="Heiti SC"/>
                          <a:ea typeface="Heiti SC"/>
                          <a:cs typeface="Heiti SC"/>
                        </a:rPr>
                        <a:t>4.68%</a:t>
                      </a:r>
                    </a:p>
                  </a:txBody>
                  <a:tcPr marL="133350" marR="133350" marT="57150" marB="57150" anchor="ctr">
                    <a:solidFill>
                      <a:srgbClr val="FFFFFF"/>
                    </a:solidFill>
                  </a:tcPr>
                </a:tc>
                <a:tc>
                  <a:txBody>
                    <a:bodyPr/>
                    <a:lstStyle/>
                    <a:p>
                      <a:r>
                        <a:rPr sz="1725">
                          <a:solidFill>
                            <a:srgbClr val="253C4A"/>
                          </a:solidFill>
                          <a:latin typeface="Heiti SC"/>
                          <a:ea typeface="Heiti SC"/>
                          <a:cs typeface="Heiti SC"/>
                        </a:rPr>
                        <a:t>11.80%</a:t>
                      </a:r>
                    </a:p>
                  </a:txBody>
                  <a:tcPr marL="133350" marR="133350" marT="57150" marB="57150" anchor="ctr">
                    <a:solidFill>
                      <a:srgbClr val="FFFFFF"/>
                    </a:solidFill>
                  </a:tcPr>
                </a:tc>
              </a:tr>
            </a:tbl>
          </a:graphicData>
        </a:graphic>
      </p:graphicFrame>
      <p:sp>
        <p:nvSpPr>
          <p:cNvPr id="10" name="copy-24-均使用GPT-5.2，约150">
            <a:extLst xmlns:a="http://schemas.openxmlformats.org/drawingml/2006/main">
              <a:ext uri="{FF2B5EF4-FFF2-40B4-BE49-F238E27FC236}">
                <a16:creationId xmlns:a16="http://schemas.microsoft.com/office/drawing/2014/main" id="{4437755C-3163-4C21-A52F-E4867D02B6C6}"/>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均使用GPT-5.2，约150个因子交给相同LightGBM模型评价</a:t>
            </a:r>
          </a:p>
        </p:txBody>
      </p:sp>
      <p:sp>
        <p:nvSpPr>
          <p:cNvPr id="11" name="copy-24-沪深300测试期：2022年初">
            <a:extLst xmlns:a="http://schemas.openxmlformats.org/drawingml/2006/main">
              <a:ext uri="{FF2B5EF4-FFF2-40B4-BE49-F238E27FC236}">
                <a16:creationId xmlns:a16="http://schemas.microsoft.com/office/drawing/2014/main" id="{C1302449-AFFB-4863-AF66-D97F08939E5B}"/>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沪深300测试期：2022年初至2025年12月26日。收益与回撤基于扣费后的超额收益。</a:t>
            </a:r>
          </a:p>
        </p:txBody>
      </p:sp>
    </p:spTree>
    <p:extLst>
      <p:ext uri="{BB962C8B-B14F-4D97-AF65-F5344CB8AC3E}">
        <p14:creationId xmlns:p14="http://schemas.microsoft.com/office/powerpoint/2010/main" val="88686547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z7ugyr-AlphaTrend的三类研究实">
            <a:extLst xmlns:a="http://schemas.openxmlformats.org/drawingml/2006/main">
              <a:ext uri="{FF2B5EF4-FFF2-40B4-BE49-F238E27FC236}">
                <a16:creationId xmlns:a16="http://schemas.microsoft.com/office/drawing/2014/main" id="{FDFCD71A-655A-41DB-818A-19FF8F93EAC9}"/>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附录D  AlphaTrend的三类研究实验</a:t>
            </a:r>
          </a:p>
        </p:txBody>
      </p:sp>
      <p:sp>
        <p:nvSpPr>
          <p:cNvPr id="4" name="text-z7ugyr-12">
            <a:extLst xmlns:a="http://schemas.openxmlformats.org/drawingml/2006/main">
              <a:ext uri="{FF2B5EF4-FFF2-40B4-BE49-F238E27FC236}">
                <a16:creationId xmlns:a16="http://schemas.microsoft.com/office/drawing/2014/main" id="{9BAD4823-9C5E-4DC5-9C30-C47C84DCC3CC}"/>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26</a:t>
            </a:r>
          </a:p>
        </p:txBody>
      </p:sp>
      <p:graphicFrame>
        <p:nvGraphicFramePr>
          <p:cNvPr id="18" name="Chart"/>
          <p:cNvGraphicFramePr/>
          <p:nvPr/>
        </p:nvGraphicFramePr>
        <p:xfrm>
          <a:off xmlns:a="http://schemas.openxmlformats.org/drawingml/2006/main" x="609600" y="20002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b0eceec540864a16"/>
          </a:graphicData>
        </a:graphic>
      </p:graphicFrame>
      <p:sp>
        <p:nvSpPr>
          <p:cNvPr id="10" name="copy-25-原作者用已知有效、预期较差和开">
            <a:extLst xmlns:a="http://schemas.openxmlformats.org/drawingml/2006/main">
              <a:ext uri="{FF2B5EF4-FFF2-40B4-BE49-F238E27FC236}">
                <a16:creationId xmlns:a16="http://schemas.microsoft.com/office/drawing/2014/main" id="{DE0F12AE-528A-4031-A769-EA67D28AE0C7}"/>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原作者用已知有效、预期较差和开放性命题检验研究流程</a:t>
            </a:r>
          </a:p>
        </p:txBody>
      </p:sp>
      <p:sp>
        <p:nvSpPr>
          <p:cNvPr id="11" name="copy-25-柱形表示原文所述约略集中或中心">
            <a:extLst xmlns:a="http://schemas.openxmlformats.org/drawingml/2006/main">
              <a:ext uri="{FF2B5EF4-FFF2-40B4-BE49-F238E27FC236}">
                <a16:creationId xmlns:a16="http://schemas.microsoft.com/office/drawing/2014/main" id="{91E7458C-A950-4617-A326-3B2196DD61EF}"/>
              </a:ext>
            </a:extLst>
          </p:cNvPr>
          <p:cNvSpPr>
            <a:spLocks xmlns:a="http://schemas.openxmlformats.org/drawingml/2006/main" noGrp="1"/>
          </p:cNvSpPr>
          <p:nvPr/>
        </p:nvSpPr>
        <p:spPr>
          <a:xfrm xmlns:a="http://schemas.openxmlformats.org/drawingml/2006/main">
            <a:off x="628650" y="61531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6975"/>
                </a:solidFill>
                <a:latin typeface="Heiti SC"/>
                <a:ea typeface="Heiti SC"/>
                <a:cs typeface="Heiti SC"/>
              </a:defRPr>
            </a:pPr>
            <a:r>
              <a:rPr sz="1500" b="0">
                <a:solidFill>
                  <a:srgbClr val="566975"/>
                </a:solidFill>
                <a:latin typeface="Heiti SC"/>
                <a:ea typeface="Heiti SC"/>
                <a:cs typeface="Heiti SC"/>
              </a:rPr>
              <a:t>柱形表示原文所述约略集中或中心位置。作者历史模拟展示，基准经过有意简化。</a:t>
            </a:r>
          </a:p>
        </p:txBody>
      </p:sp>
      <p:sp>
        <p:nvSpPr>
          <p:cNvPr id="12" name="copy-26-恢复机制">
            <a:extLst xmlns:a="http://schemas.openxmlformats.org/drawingml/2006/main">
              <a:ext uri="{FF2B5EF4-FFF2-40B4-BE49-F238E27FC236}">
                <a16:creationId xmlns:a16="http://schemas.microsoft.com/office/drawing/2014/main" id="{F1153C29-48F2-4451-BD9F-F876AAD561EB}"/>
              </a:ext>
            </a:extLst>
          </p:cNvPr>
          <p:cNvSpPr>
            <a:spLocks xmlns:a="http://schemas.openxmlformats.org/drawingml/2006/main" noGrp="1"/>
          </p:cNvSpPr>
          <p:nvPr/>
        </p:nvSpPr>
        <p:spPr>
          <a:xfrm xmlns:a="http://schemas.openxmlformats.org/drawingml/2006/main">
            <a:off x="8820150" y="2419350"/>
            <a:ext cx="2724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C83"/>
                </a:solidFill>
                <a:latin typeface="Heiti SC"/>
                <a:ea typeface="Heiti SC"/>
                <a:cs typeface="Heiti SC"/>
              </a:defRPr>
            </a:pPr>
            <a:r>
              <a:rPr sz="2325" b="1">
                <a:solidFill>
                  <a:srgbClr val="008C83"/>
                </a:solidFill>
                <a:latin typeface="Heiti SC"/>
                <a:ea typeface="Heiti SC"/>
                <a:cs typeface="Heiti SC"/>
              </a:rPr>
              <a:t>恢复机制</a:t>
            </a:r>
          </a:p>
        </p:txBody>
      </p:sp>
      <p:sp>
        <p:nvSpPr>
          <p:cNvPr id="13" name="copy-26-识别已知改进机会">
            <a:extLst xmlns:a="http://schemas.openxmlformats.org/drawingml/2006/main">
              <a:ext uri="{FF2B5EF4-FFF2-40B4-BE49-F238E27FC236}">
                <a16:creationId xmlns:a16="http://schemas.microsoft.com/office/drawing/2014/main" id="{049DFF03-61A4-4DDF-8421-443DEC2ACDC3}"/>
              </a:ext>
            </a:extLst>
          </p:cNvPr>
          <p:cNvSpPr>
            <a:spLocks xmlns:a="http://schemas.openxmlformats.org/drawingml/2006/main" noGrp="1"/>
          </p:cNvSpPr>
          <p:nvPr/>
        </p:nvSpPr>
        <p:spPr>
          <a:xfrm xmlns:a="http://schemas.openxmlformats.org/drawingml/2006/main">
            <a:off x="8820150" y="2905125"/>
            <a:ext cx="2724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C4A"/>
                </a:solidFill>
                <a:latin typeface="Heiti SC"/>
                <a:ea typeface="Heiti SC"/>
                <a:cs typeface="Heiti SC"/>
              </a:defRPr>
            </a:pPr>
            <a:r>
              <a:rPr sz="2100" b="0">
                <a:solidFill>
                  <a:srgbClr val="253C4A"/>
                </a:solidFill>
                <a:latin typeface="Heiti SC"/>
                <a:ea typeface="Heiti SC"/>
                <a:cs typeface="Heiti SC"/>
              </a:rPr>
              <a:t>识别已知改进机会</a:t>
            </a:r>
          </a:p>
        </p:txBody>
      </p:sp>
      <p:sp>
        <p:nvSpPr>
          <p:cNvPr id="14" name="copy-26-开放探索">
            <a:extLst xmlns:a="http://schemas.openxmlformats.org/drawingml/2006/main">
              <a:ext uri="{FF2B5EF4-FFF2-40B4-BE49-F238E27FC236}">
                <a16:creationId xmlns:a16="http://schemas.microsoft.com/office/drawing/2014/main" id="{4A5FA4B0-B9E9-47FF-A95E-B74047EA751B}"/>
              </a:ext>
            </a:extLst>
          </p:cNvPr>
          <p:cNvSpPr>
            <a:spLocks xmlns:a="http://schemas.openxmlformats.org/drawingml/2006/main" noGrp="1"/>
          </p:cNvSpPr>
          <p:nvPr/>
        </p:nvSpPr>
        <p:spPr>
          <a:xfrm xmlns:a="http://schemas.openxmlformats.org/drawingml/2006/main">
            <a:off x="8820150" y="4019550"/>
            <a:ext cx="2724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8C83"/>
                </a:solidFill>
                <a:latin typeface="Heiti SC"/>
                <a:ea typeface="Heiti SC"/>
                <a:cs typeface="Heiti SC"/>
              </a:defRPr>
            </a:pPr>
            <a:r>
              <a:rPr sz="2325" b="1">
                <a:solidFill>
                  <a:srgbClr val="008C83"/>
                </a:solidFill>
                <a:latin typeface="Heiti SC"/>
                <a:ea typeface="Heiti SC"/>
                <a:cs typeface="Heiti SC"/>
              </a:rPr>
              <a:t>开放探索</a:t>
            </a:r>
          </a:p>
        </p:txBody>
      </p:sp>
      <p:sp>
        <p:nvSpPr>
          <p:cNvPr id="15" name="copy-26-约0.70至1.00&#10;表现随时">
            <a:extLst xmlns:a="http://schemas.openxmlformats.org/drawingml/2006/main">
              <a:ext uri="{FF2B5EF4-FFF2-40B4-BE49-F238E27FC236}">
                <a16:creationId xmlns:a16="http://schemas.microsoft.com/office/drawing/2014/main" id="{1C5D3786-4765-4AB8-96EE-B79321BA1CF4}"/>
              </a:ext>
            </a:extLst>
          </p:cNvPr>
          <p:cNvSpPr>
            <a:spLocks xmlns:a="http://schemas.openxmlformats.org/drawingml/2006/main" noGrp="1"/>
          </p:cNvSpPr>
          <p:nvPr/>
        </p:nvSpPr>
        <p:spPr>
          <a:xfrm xmlns:a="http://schemas.openxmlformats.org/drawingml/2006/main">
            <a:off x="8820150" y="4524375"/>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约0.70至1.00</a:t>
            </a:r>
          </a:p>
          <a:p xmlns:a="http://schemas.openxmlformats.org/drawingml/2006/main">
            <a:pPr algn="l">
              <a:defRPr sz="2025" b="0">
                <a:solidFill>
                  <a:srgbClr val="253C4A"/>
                </a:solidFill>
                <a:latin typeface="Heiti SC"/>
                <a:ea typeface="Heiti SC"/>
                <a:cs typeface="Heiti SC"/>
              </a:defRPr>
            </a:pPr>
            <a:r>
              <a:rPr sz="2025" b="0">
                <a:solidFill>
                  <a:srgbClr val="253C4A"/>
                </a:solidFill>
                <a:latin typeface="Heiti SC"/>
                <a:ea typeface="Heiti SC"/>
                <a:cs typeface="Heiti SC"/>
              </a:rPr>
              <a:t>表现随时期变化</a:t>
            </a:r>
          </a:p>
        </p:txBody>
      </p:sp>
    </p:spTree>
    <p:extLst>
      <p:ext uri="{BB962C8B-B14F-4D97-AF65-F5344CB8AC3E}">
        <p14:creationId xmlns:p14="http://schemas.microsoft.com/office/powerpoint/2010/main" val="10443305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8cmcpi-附录D  量化代码的验证">
            <a:extLst xmlns:a="http://schemas.openxmlformats.org/drawingml/2006/main">
              <a:ext uri="{FF2B5EF4-FFF2-40B4-BE49-F238E27FC236}">
                <a16:creationId xmlns:a16="http://schemas.microsoft.com/office/drawing/2014/main" id="{58A8C21B-D47B-4163-ACC8-949041B13ED2}"/>
              </a:ext>
            </a:extLst>
          </p:cNvPr>
          <p:cNvSpPr>
            <a:spLocks xmlns:a="http://schemas.openxmlformats.org/drawingml/2006/main" noGrp="1"/>
          </p:cNvSpPr>
          <p:nvPr/>
        </p:nvSpPr>
        <p:spPr>
          <a:xfrm xmlns:a="http://schemas.openxmlformats.org/drawingml/2006/main">
            <a:off x="609600" y="409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9374D"/>
                </a:solidFill>
                <a:latin typeface="Heiti SC"/>
                <a:ea typeface="Heiti SC"/>
                <a:cs typeface="Heiti SC"/>
              </a:defRPr>
            </a:pPr>
            <a:r>
              <a:rPr sz="3300" b="1">
                <a:solidFill>
                  <a:srgbClr val="19374D"/>
                </a:solidFill>
                <a:latin typeface="Heiti SC"/>
                <a:ea typeface="Heiti SC"/>
                <a:cs typeface="Heiti SC"/>
              </a:rPr>
              <a:t>附录E  LLM生成量化代码的评价</a:t>
            </a:r>
          </a:p>
        </p:txBody>
      </p:sp>
      <p:sp>
        <p:nvSpPr>
          <p:cNvPr id="3" name="text-8cmcpi-24">
            <a:extLst xmlns:a="http://schemas.openxmlformats.org/drawingml/2006/main">
              <a:ext uri="{FF2B5EF4-FFF2-40B4-BE49-F238E27FC236}">
                <a16:creationId xmlns:a16="http://schemas.microsoft.com/office/drawing/2014/main" id="{064511EB-54AB-4192-ACD7-6FD4E78F32C6}"/>
              </a:ext>
            </a:extLst>
          </p:cNvPr>
          <p:cNvSpPr>
            <a:spLocks xmlns:a="http://schemas.openxmlformats.org/drawingml/2006/main" noGrp="1"/>
          </p:cNvSpPr>
          <p:nvPr/>
        </p:nvSpPr>
        <p:spPr>
          <a:xfrm xmlns:a="http://schemas.openxmlformats.org/drawingml/2006/main">
            <a:off x="11334750" y="64008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975"/>
                </a:solidFill>
                <a:latin typeface="Heiti SC"/>
                <a:ea typeface="Heiti SC"/>
                <a:cs typeface="Heiti SC"/>
              </a:defRPr>
            </a:pPr>
            <a:r>
              <a:rPr sz="1275" b="0">
                <a:solidFill>
                  <a:srgbClr val="566975"/>
                </a:solidFill>
                <a:latin typeface="Heiti SC"/>
                <a:ea typeface="Heiti SC"/>
                <a:cs typeface="Heiti SC"/>
              </a:rPr>
              <a:t>27</a:t>
            </a:r>
          </a:p>
        </p:txBody>
      </p:sp>
      <p:graphicFrame>
        <p:nvGraphicFramePr>
          <p:cNvPr id="13" name=""/>
          <p:cNvGraphicFramePr/>
          <p:nvPr/>
        </p:nvGraphicFramePr>
        <p:xfrm>
          <a:off xmlns:a="http://schemas.openxmlformats.org/drawingml/2006/main" x="609600" y="2009775"/>
          <a:ext xmlns:a="http://schemas.openxmlformats.org/drawingml/2006/main" cx="10972800" cy="3114675"/>
        </p:xfrm>
        <a:graphic xmlns:a="http://schemas.openxmlformats.org/drawingml/2006/main">
          <a:graphicData uri="http://schemas.openxmlformats.org/drawingml/2006/table">
            <a:tbl>
              <a:tblPr firstRow="1" bandRow="0"/>
              <a:tblGrid>
                <a:gridCol w="3190875"/>
                <a:gridCol w="7781925"/>
              </a:tblGrid>
              <a:tr h="622935">
                <a:tc>
                  <a:txBody>
                    <a:bodyPr/>
                    <a:lstStyle/>
                    <a:p>
                      <a:r>
                        <a:rPr sz="2025" b="1">
                          <a:solidFill>
                            <a:srgbClr val="FFFFFF"/>
                          </a:solidFill>
                          <a:latin typeface="Heiti SC"/>
                          <a:ea typeface="Heiti SC"/>
                          <a:cs typeface="Heiti SC"/>
                        </a:rPr>
                        <a:t>检查项目</a:t>
                      </a:r>
                    </a:p>
                  </a:txBody>
                  <a:tcPr marL="133350" marR="133350" marT="95250" marB="95250" anchor="ctr">
                    <a:solidFill>
                      <a:srgbClr val="19374D"/>
                    </a:solidFill>
                  </a:tcPr>
                </a:tc>
                <a:tc>
                  <a:txBody>
                    <a:bodyPr/>
                    <a:lstStyle/>
                    <a:p>
                      <a:r>
                        <a:rPr sz="2025" b="1">
                          <a:solidFill>
                            <a:srgbClr val="FFFFFF"/>
                          </a:solidFill>
                          <a:latin typeface="Heiti SC"/>
                          <a:ea typeface="Heiti SC"/>
                          <a:cs typeface="Heiti SC"/>
                        </a:rPr>
                        <a:t>评价内容</a:t>
                      </a:r>
                    </a:p>
                  </a:txBody>
                  <a:tcPr marL="133350" marR="133350" marT="95250" marB="95250" anchor="ctr">
                    <a:solidFill>
                      <a:srgbClr val="19374D"/>
                    </a:solidFill>
                  </a:tcPr>
                </a:tc>
              </a:tr>
              <a:tr h="622935">
                <a:tc>
                  <a:txBody>
                    <a:bodyPr/>
                    <a:lstStyle/>
                    <a:p>
                      <a:r>
                        <a:rPr sz="2025">
                          <a:solidFill>
                            <a:srgbClr val="253C4A"/>
                          </a:solidFill>
                          <a:latin typeface="Heiti SC"/>
                          <a:ea typeface="Heiti SC"/>
                          <a:cs typeface="Heiti SC"/>
                        </a:rPr>
                        <a:t>可执行性</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能否运行并返回要求的结果</a:t>
                      </a:r>
                    </a:p>
                  </a:txBody>
                  <a:tcPr marL="133350" marR="133350" marT="95250" marB="95250" anchor="ctr">
                    <a:solidFill>
                      <a:srgbClr val="FFFFFF"/>
                    </a:solidFill>
                  </a:tcPr>
                </a:tc>
              </a:tr>
              <a:tr h="622935">
                <a:tc>
                  <a:txBody>
                    <a:bodyPr/>
                    <a:lstStyle/>
                    <a:p>
                      <a:r>
                        <a:rPr sz="2025">
                          <a:solidFill>
                            <a:srgbClr val="253C4A"/>
                          </a:solidFill>
                          <a:latin typeface="Heiti SC"/>
                          <a:ea typeface="Heiti SC"/>
                          <a:cs typeface="Heiti SC"/>
                        </a:rPr>
                        <a:t>时间因果性</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截断未来数据后，历史输出是否保持一致</a:t>
                      </a:r>
                    </a:p>
                  </a:txBody>
                  <a:tcPr marL="133350" marR="133350" marT="95250" marB="95250" anchor="ctr">
                    <a:solidFill>
                      <a:srgbClr val="FFFFFF"/>
                    </a:solidFill>
                  </a:tcPr>
                </a:tc>
              </a:tr>
              <a:tr h="622935">
                <a:tc>
                  <a:txBody>
                    <a:bodyPr/>
                    <a:lstStyle/>
                    <a:p>
                      <a:r>
                        <a:rPr sz="2025">
                          <a:solidFill>
                            <a:srgbClr val="253C4A"/>
                          </a:solidFill>
                          <a:latin typeface="Heiti SC"/>
                          <a:ea typeface="Heiti SC"/>
                          <a:cs typeface="Heiti SC"/>
                        </a:rPr>
                        <a:t>功能正确性</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结果是否符合任务定义与专家实现</a:t>
                      </a:r>
                    </a:p>
                  </a:txBody>
                  <a:tcPr marL="133350" marR="133350" marT="95250" marB="95250" anchor="ctr">
                    <a:solidFill>
                      <a:srgbClr val="FFFFFF"/>
                    </a:solidFill>
                  </a:tcPr>
                </a:tc>
              </a:tr>
              <a:tr h="622935">
                <a:tc>
                  <a:txBody>
                    <a:bodyPr/>
                    <a:lstStyle/>
                    <a:p>
                      <a:r>
                        <a:rPr sz="2025">
                          <a:solidFill>
                            <a:srgbClr val="253C4A"/>
                          </a:solidFill>
                          <a:latin typeface="Heiti SC"/>
                          <a:ea typeface="Heiti SC"/>
                          <a:cs typeface="Heiti SC"/>
                        </a:rPr>
                        <a:t>计算结构</a:t>
                      </a:r>
                    </a:p>
                  </a:txBody>
                  <a:tcPr marL="133350" marR="133350" marT="95250" marB="95250" anchor="ctr">
                    <a:solidFill>
                      <a:srgbClr val="FFFFFF"/>
                    </a:solidFill>
                  </a:tcPr>
                </a:tc>
                <a:tc>
                  <a:txBody>
                    <a:bodyPr/>
                    <a:lstStyle/>
                    <a:p>
                      <a:r>
                        <a:rPr sz="2025">
                          <a:solidFill>
                            <a:srgbClr val="253C4A"/>
                          </a:solidFill>
                          <a:latin typeface="Heiti SC"/>
                          <a:ea typeface="Heiti SC"/>
                          <a:cs typeface="Heiti SC"/>
                        </a:rPr>
                        <a:t>是否满足批量数组计算等约束</a:t>
                      </a:r>
                    </a:p>
                  </a:txBody>
                  <a:tcPr marL="133350" marR="133350" marT="95250" marB="95250" anchor="ctr">
                    <a:solidFill>
                      <a:srgbClr val="FFFFFF"/>
                    </a:solidFill>
                  </a:tcPr>
                </a:tc>
              </a:tr>
            </a:tbl>
          </a:graphicData>
        </a:graphic>
      </p:graphicFrame>
      <p:sp>
        <p:nvSpPr>
          <p:cNvPr id="8" name="copy-26-AlphaQT-Bench，2">
            <a:extLst xmlns:a="http://schemas.openxmlformats.org/drawingml/2006/main">
              <a:ext uri="{FF2B5EF4-FFF2-40B4-BE49-F238E27FC236}">
                <a16:creationId xmlns:a16="http://schemas.microsoft.com/office/drawing/2014/main" id="{A683D8DA-8C80-4BE4-8A1F-8BCE306064F6}"/>
              </a:ext>
            </a:extLst>
          </p:cNvPr>
          <p:cNvSpPr>
            <a:spLocks xmlns:a="http://schemas.openxmlformats.org/drawingml/2006/main" noGrp="1"/>
          </p:cNvSpPr>
          <p:nvPr/>
        </p:nvSpPr>
        <p:spPr>
          <a:xfrm xmlns:a="http://schemas.openxmlformats.org/drawingml/2006/main">
            <a:off x="628650" y="1238250"/>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66975"/>
                </a:solidFill>
                <a:latin typeface="Heiti SC"/>
                <a:ea typeface="Heiti SC"/>
                <a:cs typeface="Heiti SC"/>
              </a:defRPr>
            </a:pPr>
            <a:r>
              <a:rPr sz="1950" b="0">
                <a:solidFill>
                  <a:srgbClr val="566975"/>
                </a:solidFill>
                <a:latin typeface="Heiti SC"/>
                <a:ea typeface="Heiti SC"/>
                <a:cs typeface="Heiti SC"/>
              </a:rPr>
              <a:t>AlphaQT-Bench，270项任务与12个模型</a:t>
            </a:r>
          </a:p>
        </p:txBody>
      </p:sp>
      <p:sp>
        <p:nvSpPr>
          <p:cNvPr id="9" name="copy-27-四项同时通过的平均正确率">
            <a:extLst xmlns:a="http://schemas.openxmlformats.org/drawingml/2006/main">
              <a:ext uri="{FF2B5EF4-FFF2-40B4-BE49-F238E27FC236}">
                <a16:creationId xmlns:a16="http://schemas.microsoft.com/office/drawing/2014/main" id="{2D96427A-8500-4462-9C31-9C6212AD3372}"/>
              </a:ext>
            </a:extLst>
          </p:cNvPr>
          <p:cNvSpPr>
            <a:spLocks xmlns:a="http://schemas.openxmlformats.org/drawingml/2006/main" noGrp="1"/>
          </p:cNvSpPr>
          <p:nvPr/>
        </p:nvSpPr>
        <p:spPr>
          <a:xfrm xmlns:a="http://schemas.openxmlformats.org/drawingml/2006/main">
            <a:off x="628650" y="53721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66975"/>
                </a:solidFill>
                <a:latin typeface="Heiti SC"/>
                <a:ea typeface="Heiti SC"/>
                <a:cs typeface="Heiti SC"/>
              </a:defRPr>
            </a:pPr>
            <a:r>
              <a:rPr sz="2025" b="0">
                <a:solidFill>
                  <a:srgbClr val="566975"/>
                </a:solidFill>
                <a:latin typeface="Heiti SC"/>
                <a:ea typeface="Heiti SC"/>
                <a:cs typeface="Heiti SC"/>
              </a:rPr>
              <a:t>四项同时通过的平均正确率</a:t>
            </a:r>
          </a:p>
        </p:txBody>
      </p:sp>
      <p:sp>
        <p:nvSpPr>
          <p:cNvPr id="10" name="copy-27-93.7%  Gemini-2">
            <a:extLst xmlns:a="http://schemas.openxmlformats.org/drawingml/2006/main">
              <a:ext uri="{FF2B5EF4-FFF2-40B4-BE49-F238E27FC236}">
                <a16:creationId xmlns:a16="http://schemas.microsoft.com/office/drawing/2014/main" id="{84257142-3FE2-4D0C-BFBA-3B4D9A7D05DF}"/>
              </a:ext>
            </a:extLst>
          </p:cNvPr>
          <p:cNvSpPr>
            <a:spLocks xmlns:a="http://schemas.openxmlformats.org/drawingml/2006/main" noGrp="1"/>
          </p:cNvSpPr>
          <p:nvPr/>
        </p:nvSpPr>
        <p:spPr>
          <a:xfrm xmlns:a="http://schemas.openxmlformats.org/drawingml/2006/main">
            <a:off x="628650" y="58197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8C83"/>
                </a:solidFill>
                <a:latin typeface="Heiti SC"/>
                <a:ea typeface="Heiti SC"/>
                <a:cs typeface="Heiti SC"/>
              </a:defRPr>
            </a:pPr>
            <a:r>
              <a:rPr sz="2250" b="1">
                <a:solidFill>
                  <a:srgbClr val="008C83"/>
                </a:solidFill>
                <a:latin typeface="Heiti SC"/>
                <a:ea typeface="Heiti SC"/>
                <a:cs typeface="Heiti SC"/>
              </a:rPr>
              <a:t>93.7%  Gemini-2.5-Pro     81.9%  DeepSeek-V3</a:t>
            </a:r>
          </a:p>
        </p:txBody>
      </p:sp>
    </p:spTree>
    <p:extLst>
      <p:ext uri="{BB962C8B-B14F-4D97-AF65-F5344CB8AC3E}">
        <p14:creationId xmlns:p14="http://schemas.microsoft.com/office/powerpoint/2010/main" val="178038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2026-09-10T18:19:11.2280000Z</dcterms:created>
  <dcterms:modified xsi:type="dcterms:W3CDTF">2026-09-10T18:19:11.2280000Z</dcterms:modified>
</coreProperties>
</file>